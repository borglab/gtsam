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30 seconds. This is a factual progress update. I will first show the measured timing for the current specialized CUDA SFM path on Dubrovnik 135 with dense Schur and three LM iterations. Then I will use separate feasibility measurements to motivate, but not claim success for, a more general hybrid baseline.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Start from the left: the user-facing input is a normal GTSAM graph and Values. The specialized path must scan and convert that representation to SFM arrays before CUDA can act. After the backend returns, the result must be rebuilt as Values and merged back into the original state. These boundaries are important because they are part of the measured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This is the complete public API timing. Warm-up on a small problem was excluded and this is the mean of three runs. Nearly eighty-eight percent of the total is optimize, so I now unpack that call. I am keeping construction and result queries visible because they establish the scope and prevent us from silently calling a partial number end-to-end.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60 seconds. This is the detailed optimize decomposition. Graph conversion is 114.246 milliseconds: it is CPU work creating the specialized representation. The CUDA backend is 137.542 milliseconds. On the way back, Values merge and destruction of converted data add almost 98 milliseconds. That makes conversion and object/state management major optimization targets, rather than an afterthought around the GPU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50 seconds. Inside the backend, setup is almost half of the time and download plus Values reconstruction is another twenty-nine percent. The solve loop is only 29.968 milliseconds. Its largest part is dense Schur at 23.009 milliseconds. In contrast, the raw D2H copy is only 0.615 milliseconds: much of download time is host work around the copy.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45 seconds. The comparison puts the relative scale in one place. Pure specialized H2D plus D2H is 1.936 milliseconds, under half a percent of the graph API. The dense-Schur solve loop is also smaller than graph conversion and Values merge. The careful conclusion is not that transfer never matters; it is that it is not the dominant cost in this measured specialized path.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This is a proposed baseline architecture. I am calling it Ceres-style separation because it follows the useful conceptual split between nonlinear evaluation and a selectable linear-algebra backend. I am not claiming it exactly describes every Ceres path. The purpose is to keep arbitrary GTSAM factors on CPU while putting a generic linear system on the GPU, which removes the need for the existing SFM-only graph conversion.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90 seconds. These numbers are deliberately separate from the current API profile. Each CPU operation was timed in its own loop, and the GPU reference is synthetic arithmetic from separately timed components. Excluding repeat zero gives 54.088 milliseconds for the illustrative CPU subtotal and 8.051 milliseconds for the synthetic GPU reference, or 62.139 milliseconds. A 115.1 MB generic Jacobian-transfer estimate adds 11.284 milliseconds. Neither number is an end-to-end runtime, and neither should be visually compared against the three-iteration 426.223 millisecond API total.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About one minute. The measured evidence says the CPU nonlinear pieces are sufficiently small to be worth implementing as a hybrid baseline. It does not say the hybrid is faster end-to-end. The expected immediate benefit is generality and removal of the specialized SFM conversion. The next experiment needs cached sparse structure, direct numeric fill, numeric upload, a GPU solve, and then actual CPU retraction and error checks inside a full converging LM run.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 Use this table if asked for the timer hierarchy. It retains the top-level graph API, optimize, backend, setup, solve, and transfer rows. The final note distinguishes the dense-Schur run's transfer rows from the separate specialized transfer-focused timing cited in the feasibility summary.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only. This provides the complete sensitivity view and provenance. The key observation is the slower first measured index for CPU linearization-related arithmetic. The exact generic-transfer formula is included because it is an estimate, not a measured H2D copy. The remaining caveats explain why the derived lower bounds are not end-to-end candidate timings.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sp>
        <p:nvSpPr>
          <p:cNvPr id="2" name="Shape 0"/>
          <p:cNvSpPr/>
          <p:nvPr/>
        </p:nvSpPr>
        <p:spPr>
          <a:xfrm>
            <a:off x="10012680" y="429768"/>
            <a:ext cx="1069848" cy="274320"/>
          </a:xfrm>
          <a:prstGeom prst="rect">
            <a:avLst/>
          </a:prstGeom>
          <a:solidFill>
            <a:srgbClr val="0E7C86"/>
          </a:solidFill>
          <a:ln w="12700">
            <a:solidFill>
              <a:srgbClr val="0E7C86"/>
            </a:solidFill>
            <a:prstDash val="solid"/>
          </a:ln>
        </p:spPr>
      </p:sp>
      <p:sp>
        <p:nvSpPr>
          <p:cNvPr id="3" name="Text 1"/>
          <p:cNvSpPr/>
          <p:nvPr/>
        </p:nvSpPr>
        <p:spPr>
          <a:xfrm>
            <a:off x="10085832" y="498348"/>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4" name="Shape 2"/>
          <p:cNvSpPr/>
          <p:nvPr/>
        </p:nvSpPr>
        <p:spPr>
          <a:xfrm>
            <a:off x="11018520" y="429768"/>
            <a:ext cx="1069848" cy="274320"/>
          </a:xfrm>
          <a:prstGeom prst="rect">
            <a:avLst/>
          </a:prstGeom>
          <a:solidFill>
            <a:srgbClr val="F2A23A"/>
          </a:solidFill>
          <a:ln w="12700">
            <a:solidFill>
              <a:srgbClr val="F2A23A"/>
            </a:solidFill>
            <a:prstDash val="solid"/>
          </a:ln>
        </p:spPr>
      </p:sp>
      <p:sp>
        <p:nvSpPr>
          <p:cNvPr id="5" name="Text 3"/>
          <p:cNvSpPr/>
          <p:nvPr/>
        </p:nvSpPr>
        <p:spPr>
          <a:xfrm>
            <a:off x="11091672" y="498348"/>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Proposed</a:t>
            </a:r>
            <a:endParaRPr lang="en-US" sz="950" dirty="0"/>
          </a:p>
        </p:txBody>
      </p:sp>
      <p:sp>
        <p:nvSpPr>
          <p:cNvPr id="6" name="Text 4"/>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FFFFFF"/>
                </a:solidFill>
                <a:latin typeface="Aptos Display" pitchFamily="34" charset="0"/>
                <a:ea typeface="Aptos Display" pitchFamily="34" charset="-122"/>
                <a:cs typeface="Aptos Display" pitchFamily="34" charset="-120"/>
              </a:rPr>
              <a:t>CUDA SFM LM progress</a:t>
            </a:r>
            <a:endParaRPr lang="en-US" sz="2900" dirty="0"/>
          </a:p>
        </p:txBody>
      </p:sp>
      <p:sp>
        <p:nvSpPr>
          <p:cNvPr id="7" name="Text 5"/>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D9E5EA"/>
                </a:solidFill>
              </a:rPr>
              <a:t>Timing breakdown and a general-solver baseline</a:t>
            </a:r>
            <a:endParaRPr lang="en-US" sz="1450" dirty="0"/>
          </a:p>
        </p:txBody>
      </p:sp>
      <p:sp>
        <p:nvSpPr>
          <p:cNvPr id="8" name="Text 6"/>
          <p:cNvSpPr/>
          <p:nvPr/>
        </p:nvSpPr>
        <p:spPr>
          <a:xfrm>
            <a:off x="530352" y="1261872"/>
            <a:ext cx="6583680" cy="201168"/>
          </a:xfrm>
          <a:prstGeom prst="rect">
            <a:avLst/>
          </a:prstGeom>
          <a:noFill/>
          <a:ln/>
        </p:spPr>
        <p:txBody>
          <a:bodyPr wrap="square" lIns="0" tIns="0" rIns="0" bIns="0" rtlCol="0" anchor="ctr">
            <a:normAutofit/>
          </a:bodyPr>
          <a:lstStyle/>
          <a:p>
            <a:pPr indent="0" marL="0">
              <a:buNone/>
            </a:pPr>
            <a:r>
              <a:rPr lang="en-US" sz="1500" b="1" dirty="0">
                <a:solidFill>
                  <a:srgbClr val="D9E5EA"/>
                </a:solidFill>
              </a:rPr>
              <a:t>Dataset: Dubrovnik 135 | dense Schur | 3 LM iterations</a:t>
            </a:r>
            <a:endParaRPr lang="en-US" sz="1500" dirty="0"/>
          </a:p>
        </p:txBody>
      </p:sp>
      <p:sp>
        <p:nvSpPr>
          <p:cNvPr id="9" name="Shape 7"/>
          <p:cNvSpPr/>
          <p:nvPr/>
        </p:nvSpPr>
        <p:spPr>
          <a:xfrm>
            <a:off x="658368" y="1938528"/>
            <a:ext cx="2468880" cy="978408"/>
          </a:xfrm>
          <a:prstGeom prst="rect">
            <a:avLst/>
          </a:prstGeom>
          <a:solidFill>
            <a:srgbClr val="263956"/>
          </a:solidFill>
          <a:ln w="9525">
            <a:solidFill>
              <a:srgbClr val="E7EBF0"/>
            </a:solidFill>
            <a:prstDash val="solid"/>
          </a:ln>
        </p:spPr>
      </p:sp>
      <p:sp>
        <p:nvSpPr>
          <p:cNvPr id="10" name="Shape 8"/>
          <p:cNvSpPr/>
          <p:nvPr/>
        </p:nvSpPr>
        <p:spPr>
          <a:xfrm>
            <a:off x="658368" y="1938528"/>
            <a:ext cx="64008" cy="978408"/>
          </a:xfrm>
          <a:prstGeom prst="rect">
            <a:avLst/>
          </a:prstGeom>
          <a:solidFill>
            <a:srgbClr val="0E7C86"/>
          </a:solidFill>
          <a:ln w="12700">
            <a:solidFill>
              <a:srgbClr val="0E7C86"/>
            </a:solidFill>
            <a:prstDash val="solid"/>
          </a:ln>
        </p:spPr>
      </p:sp>
      <p:sp>
        <p:nvSpPr>
          <p:cNvPr id="11" name="Text 9"/>
          <p:cNvSpPr/>
          <p:nvPr/>
        </p:nvSpPr>
        <p:spPr>
          <a:xfrm>
            <a:off x="841248" y="2057400"/>
            <a:ext cx="2157984" cy="310896"/>
          </a:xfrm>
          <a:prstGeom prst="rect">
            <a:avLst/>
          </a:prstGeom>
          <a:noFill/>
          <a:ln/>
        </p:spPr>
        <p:txBody>
          <a:bodyPr wrap="square" lIns="0" tIns="0" rIns="0" bIns="0" rtlCol="0" anchor="ctr">
            <a:normAutofit/>
          </a:bodyPr>
          <a:lstStyle/>
          <a:p>
            <a:pPr indent="0" marL="0">
              <a:buNone/>
            </a:pPr>
            <a:r>
              <a:rPr lang="en-US" sz="2500" b="1" dirty="0">
                <a:solidFill>
                  <a:srgbClr val="0E7C86"/>
                </a:solidFill>
              </a:rPr>
              <a:t>0.426 s</a:t>
            </a:r>
            <a:endParaRPr lang="en-US" sz="2500" dirty="0"/>
          </a:p>
        </p:txBody>
      </p:sp>
      <p:sp>
        <p:nvSpPr>
          <p:cNvPr id="12" name="Text 10"/>
          <p:cNvSpPr/>
          <p:nvPr/>
        </p:nvSpPr>
        <p:spPr>
          <a:xfrm>
            <a:off x="841248" y="2459736"/>
            <a:ext cx="2157984" cy="146304"/>
          </a:xfrm>
          <a:prstGeom prst="rect">
            <a:avLst/>
          </a:prstGeom>
          <a:noFill/>
          <a:ln/>
        </p:spPr>
        <p:txBody>
          <a:bodyPr wrap="square" lIns="0" tIns="0" rIns="0" bIns="0" rtlCol="0" anchor="ctr">
            <a:normAutofit/>
          </a:bodyPr>
          <a:lstStyle/>
          <a:p>
            <a:pPr indent="0" marL="0">
              <a:buNone/>
            </a:pPr>
            <a:r>
              <a:rPr lang="en-US" sz="1350" b="1" dirty="0">
                <a:solidFill>
                  <a:srgbClr val="FFFFFF"/>
                </a:solidFill>
              </a:rPr>
              <a:t>Current graph API</a:t>
            </a:r>
            <a:endParaRPr lang="en-US" sz="1350" dirty="0"/>
          </a:p>
        </p:txBody>
      </p:sp>
      <p:sp>
        <p:nvSpPr>
          <p:cNvPr id="13" name="Text 11"/>
          <p:cNvSpPr/>
          <p:nvPr/>
        </p:nvSpPr>
        <p:spPr>
          <a:xfrm>
            <a:off x="841248" y="2679192"/>
            <a:ext cx="2157984" cy="118872"/>
          </a:xfrm>
          <a:prstGeom prst="rect">
            <a:avLst/>
          </a:prstGeom>
          <a:noFill/>
          <a:ln/>
        </p:spPr>
        <p:txBody>
          <a:bodyPr wrap="square" lIns="0" tIns="0" rIns="0" bIns="0" rtlCol="0" anchor="ctr">
            <a:normAutofit/>
          </a:bodyPr>
          <a:lstStyle/>
          <a:p>
            <a:pPr indent="0" marL="0">
              <a:buNone/>
            </a:pPr>
            <a:r>
              <a:rPr lang="en-US" sz="1050" dirty="0">
                <a:solidFill>
                  <a:srgbClr val="D9E5EA"/>
                </a:solidFill>
              </a:rPr>
              <a:t>mean of 3 timed runs</a:t>
            </a:r>
            <a:endParaRPr lang="en-US" sz="1050" dirty="0"/>
          </a:p>
        </p:txBody>
      </p:sp>
      <p:sp>
        <p:nvSpPr>
          <p:cNvPr id="14" name="Shape 12"/>
          <p:cNvSpPr/>
          <p:nvPr/>
        </p:nvSpPr>
        <p:spPr>
          <a:xfrm>
            <a:off x="3401568" y="1938528"/>
            <a:ext cx="2468880" cy="978408"/>
          </a:xfrm>
          <a:prstGeom prst="rect">
            <a:avLst/>
          </a:prstGeom>
          <a:solidFill>
            <a:srgbClr val="263956"/>
          </a:solidFill>
          <a:ln w="9525">
            <a:solidFill>
              <a:srgbClr val="E7EBF0"/>
            </a:solidFill>
            <a:prstDash val="solid"/>
          </a:ln>
        </p:spPr>
      </p:sp>
      <p:sp>
        <p:nvSpPr>
          <p:cNvPr id="15" name="Shape 13"/>
          <p:cNvSpPr/>
          <p:nvPr/>
        </p:nvSpPr>
        <p:spPr>
          <a:xfrm>
            <a:off x="3401568" y="1938528"/>
            <a:ext cx="64008" cy="978408"/>
          </a:xfrm>
          <a:prstGeom prst="rect">
            <a:avLst/>
          </a:prstGeom>
          <a:solidFill>
            <a:srgbClr val="46A06F"/>
          </a:solidFill>
          <a:ln w="12700">
            <a:solidFill>
              <a:srgbClr val="46A06F"/>
            </a:solidFill>
            <a:prstDash val="solid"/>
          </a:ln>
        </p:spPr>
      </p:sp>
      <p:sp>
        <p:nvSpPr>
          <p:cNvPr id="16" name="Text 14"/>
          <p:cNvSpPr/>
          <p:nvPr/>
        </p:nvSpPr>
        <p:spPr>
          <a:xfrm>
            <a:off x="3584448" y="2057400"/>
            <a:ext cx="2157984" cy="310896"/>
          </a:xfrm>
          <a:prstGeom prst="rect">
            <a:avLst/>
          </a:prstGeom>
          <a:noFill/>
          <a:ln/>
        </p:spPr>
        <p:txBody>
          <a:bodyPr wrap="square" lIns="0" tIns="0" rIns="0" bIns="0" rtlCol="0" anchor="ctr">
            <a:normAutofit/>
          </a:bodyPr>
          <a:lstStyle/>
          <a:p>
            <a:pPr indent="0" marL="0">
              <a:buNone/>
            </a:pPr>
            <a:r>
              <a:rPr lang="en-US" sz="2500" b="1" dirty="0">
                <a:solidFill>
                  <a:srgbClr val="46A06F"/>
                </a:solidFill>
              </a:rPr>
              <a:t>0.138 s</a:t>
            </a:r>
            <a:endParaRPr lang="en-US" sz="2500" dirty="0"/>
          </a:p>
        </p:txBody>
      </p:sp>
      <p:sp>
        <p:nvSpPr>
          <p:cNvPr id="17" name="Text 15"/>
          <p:cNvSpPr/>
          <p:nvPr/>
        </p:nvSpPr>
        <p:spPr>
          <a:xfrm>
            <a:off x="3584448" y="2459736"/>
            <a:ext cx="2157984" cy="146304"/>
          </a:xfrm>
          <a:prstGeom prst="rect">
            <a:avLst/>
          </a:prstGeom>
          <a:noFill/>
          <a:ln/>
        </p:spPr>
        <p:txBody>
          <a:bodyPr wrap="square" lIns="0" tIns="0" rIns="0" bIns="0" rtlCol="0" anchor="ctr">
            <a:normAutofit/>
          </a:bodyPr>
          <a:lstStyle/>
          <a:p>
            <a:pPr indent="0" marL="0">
              <a:buNone/>
            </a:pPr>
            <a:r>
              <a:rPr lang="en-US" sz="1350" b="1" dirty="0">
                <a:solidFill>
                  <a:srgbClr val="FFFFFF"/>
                </a:solidFill>
              </a:rPr>
              <a:t>CUDA backend</a:t>
            </a:r>
            <a:endParaRPr lang="en-US" sz="1350" dirty="0"/>
          </a:p>
        </p:txBody>
      </p:sp>
      <p:sp>
        <p:nvSpPr>
          <p:cNvPr id="18" name="Text 16"/>
          <p:cNvSpPr/>
          <p:nvPr/>
        </p:nvSpPr>
        <p:spPr>
          <a:xfrm>
            <a:off x="3584448" y="2679192"/>
            <a:ext cx="2157984" cy="118872"/>
          </a:xfrm>
          <a:prstGeom prst="rect">
            <a:avLst/>
          </a:prstGeom>
          <a:noFill/>
          <a:ln/>
        </p:spPr>
        <p:txBody>
          <a:bodyPr wrap="square" lIns="0" tIns="0" rIns="0" bIns="0" rtlCol="0" anchor="ctr">
            <a:normAutofit/>
          </a:bodyPr>
          <a:lstStyle/>
          <a:p>
            <a:pPr indent="0" marL="0">
              <a:buNone/>
            </a:pPr>
            <a:r>
              <a:rPr lang="en-US" sz="1050" dirty="0">
                <a:solidFill>
                  <a:srgbClr val="D9E5EA"/>
                </a:solidFill>
              </a:rPr>
              <a:t>specialized dense-Schur path</a:t>
            </a:r>
            <a:endParaRPr lang="en-US" sz="1050" dirty="0"/>
          </a:p>
        </p:txBody>
      </p:sp>
      <p:sp>
        <p:nvSpPr>
          <p:cNvPr id="19" name="Shape 17"/>
          <p:cNvSpPr/>
          <p:nvPr/>
        </p:nvSpPr>
        <p:spPr>
          <a:xfrm>
            <a:off x="6144768" y="1938528"/>
            <a:ext cx="2697480" cy="978408"/>
          </a:xfrm>
          <a:prstGeom prst="rect">
            <a:avLst/>
          </a:prstGeom>
          <a:solidFill>
            <a:srgbClr val="263956"/>
          </a:solidFill>
          <a:ln w="9525">
            <a:solidFill>
              <a:srgbClr val="E7EBF0"/>
            </a:solidFill>
            <a:prstDash val="solid"/>
          </a:ln>
        </p:spPr>
      </p:sp>
      <p:sp>
        <p:nvSpPr>
          <p:cNvPr id="20" name="Shape 18"/>
          <p:cNvSpPr/>
          <p:nvPr/>
        </p:nvSpPr>
        <p:spPr>
          <a:xfrm>
            <a:off x="6144768" y="1938528"/>
            <a:ext cx="64008" cy="978408"/>
          </a:xfrm>
          <a:prstGeom prst="rect">
            <a:avLst/>
          </a:prstGeom>
          <a:solidFill>
            <a:srgbClr val="F2A23A"/>
          </a:solidFill>
          <a:ln w="12700">
            <a:solidFill>
              <a:srgbClr val="F2A23A"/>
            </a:solidFill>
            <a:prstDash val="solid"/>
          </a:ln>
        </p:spPr>
      </p:sp>
      <p:sp>
        <p:nvSpPr>
          <p:cNvPr id="21" name="Text 19"/>
          <p:cNvSpPr/>
          <p:nvPr/>
        </p:nvSpPr>
        <p:spPr>
          <a:xfrm>
            <a:off x="6327648" y="2057400"/>
            <a:ext cx="2386584" cy="310896"/>
          </a:xfrm>
          <a:prstGeom prst="rect">
            <a:avLst/>
          </a:prstGeom>
          <a:noFill/>
          <a:ln/>
        </p:spPr>
        <p:txBody>
          <a:bodyPr wrap="square" lIns="0" tIns="0" rIns="0" bIns="0" rtlCol="0" anchor="ctr">
            <a:normAutofit/>
          </a:bodyPr>
          <a:lstStyle/>
          <a:p>
            <a:pPr indent="0" marL="0">
              <a:buNone/>
            </a:pPr>
            <a:r>
              <a:rPr lang="en-US" sz="2500" b="1" dirty="0">
                <a:solidFill>
                  <a:srgbClr val="F2A23A"/>
                </a:solidFill>
              </a:rPr>
              <a:t>Hybrid</a:t>
            </a:r>
            <a:endParaRPr lang="en-US" sz="2500" dirty="0"/>
          </a:p>
        </p:txBody>
      </p:sp>
      <p:sp>
        <p:nvSpPr>
          <p:cNvPr id="22" name="Text 20"/>
          <p:cNvSpPr/>
          <p:nvPr/>
        </p:nvSpPr>
        <p:spPr>
          <a:xfrm>
            <a:off x="6327648" y="2459736"/>
            <a:ext cx="2386584" cy="146304"/>
          </a:xfrm>
          <a:prstGeom prst="rect">
            <a:avLst/>
          </a:prstGeom>
          <a:noFill/>
          <a:ln/>
        </p:spPr>
        <p:txBody>
          <a:bodyPr wrap="square" lIns="0" tIns="0" rIns="0" bIns="0" rtlCol="0" anchor="ctr">
            <a:normAutofit/>
          </a:bodyPr>
          <a:lstStyle/>
          <a:p>
            <a:pPr indent="0" marL="0">
              <a:buNone/>
            </a:pPr>
            <a:r>
              <a:rPr lang="en-US" sz="1350" b="1" dirty="0">
                <a:solidFill>
                  <a:srgbClr val="FFFFFF"/>
                </a:solidFill>
              </a:rPr>
              <a:t>Baseline question</a:t>
            </a:r>
            <a:endParaRPr lang="en-US" sz="1350" dirty="0"/>
          </a:p>
        </p:txBody>
      </p:sp>
      <p:sp>
        <p:nvSpPr>
          <p:cNvPr id="23" name="Text 21"/>
          <p:cNvSpPr/>
          <p:nvPr/>
        </p:nvSpPr>
        <p:spPr>
          <a:xfrm>
            <a:off x="6327648" y="2679192"/>
            <a:ext cx="2386584" cy="118872"/>
          </a:xfrm>
          <a:prstGeom prst="rect">
            <a:avLst/>
          </a:prstGeom>
          <a:noFill/>
          <a:ln/>
        </p:spPr>
        <p:txBody>
          <a:bodyPr wrap="square" lIns="0" tIns="0" rIns="0" bIns="0" rtlCol="0" anchor="ctr">
            <a:normAutofit/>
          </a:bodyPr>
          <a:lstStyle/>
          <a:p>
            <a:pPr indent="0" marL="0">
              <a:buNone/>
            </a:pPr>
            <a:r>
              <a:rPr lang="en-US" sz="1050" dirty="0">
                <a:solidFill>
                  <a:srgbClr val="D9E5EA"/>
                </a:solidFill>
              </a:rPr>
              <a:t>CPU nonlinear work + GPU solve</a:t>
            </a:r>
            <a:endParaRPr lang="en-US" sz="1050" dirty="0"/>
          </a:p>
        </p:txBody>
      </p:sp>
      <p:sp>
        <p:nvSpPr>
          <p:cNvPr id="24" name="Text 22"/>
          <p:cNvSpPr/>
          <p:nvPr/>
        </p:nvSpPr>
        <p:spPr>
          <a:xfrm>
            <a:off x="685800" y="3310128"/>
            <a:ext cx="8138160" cy="457200"/>
          </a:xfrm>
          <a:prstGeom prst="rect">
            <a:avLst/>
          </a:prstGeom>
          <a:noFill/>
          <a:ln/>
        </p:spPr>
        <p:txBody>
          <a:bodyPr wrap="square" lIns="0" tIns="0" rIns="0" bIns="0" rtlCol="0" anchor="ctr">
            <a:normAutofit/>
          </a:bodyPr>
          <a:lstStyle/>
          <a:p>
            <a:pPr indent="0" marL="0">
              <a:buNone/>
            </a:pPr>
            <a:r>
              <a:rPr lang="en-US" sz="1800" b="1" dirty="0">
                <a:solidFill>
                  <a:srgbClr val="FFFFFF"/>
                </a:solidFill>
              </a:rPr>
              <a:t>This update has two parts: where the current API path spends time, then whether a general CPU/GPU separation is plausible.</a:t>
            </a:r>
            <a:endParaRPr lang="en-US" sz="1800" dirty="0"/>
          </a:p>
        </p:txBody>
      </p:sp>
      <p:sp>
        <p:nvSpPr>
          <p:cNvPr id="25" name="Shape 23"/>
          <p:cNvSpPr/>
          <p:nvPr/>
        </p:nvSpPr>
        <p:spPr>
          <a:xfrm>
            <a:off x="9281160" y="0"/>
            <a:ext cx="2910535" cy="6858000"/>
          </a:xfrm>
          <a:prstGeom prst="rect">
            <a:avLst/>
          </a:prstGeom>
          <a:solidFill>
            <a:srgbClr val="0E7C86"/>
          </a:solidFill>
          <a:ln w="12700">
            <a:solidFill>
              <a:srgbClr val="0E7C86"/>
            </a:solidFill>
            <a:prstDash val="solid"/>
          </a:ln>
        </p:spPr>
      </p:sp>
      <p:sp>
        <p:nvSpPr>
          <p:cNvPr id="26" name="Shape 24"/>
          <p:cNvSpPr/>
          <p:nvPr/>
        </p:nvSpPr>
        <p:spPr>
          <a:xfrm>
            <a:off x="9674352" y="1325880"/>
            <a:ext cx="457200" cy="457200"/>
          </a:xfrm>
          <a:prstGeom prst="ellipse">
            <a:avLst/>
          </a:prstGeom>
          <a:solidFill>
            <a:srgbClr val="1F2A44"/>
          </a:solidFill>
          <a:ln w="12700">
            <a:solidFill>
              <a:srgbClr val="FFFFFF">
                <a:alpha val="0"/>
              </a:srgbClr>
            </a:solidFill>
            <a:prstDash val="solid"/>
          </a:ln>
        </p:spPr>
      </p:sp>
      <p:sp>
        <p:nvSpPr>
          <p:cNvPr id="27" name="Text 25"/>
          <p:cNvSpPr/>
          <p:nvPr/>
        </p:nvSpPr>
        <p:spPr>
          <a:xfrm>
            <a:off x="9674352" y="1463040"/>
            <a:ext cx="457200" cy="109728"/>
          </a:xfrm>
          <a:prstGeom prst="rect">
            <a:avLst/>
          </a:prstGeom>
          <a:noFill/>
          <a:ln/>
        </p:spPr>
        <p:txBody>
          <a:bodyPr wrap="square" lIns="0" tIns="0" rIns="0" bIns="0" rtlCol="0" anchor="ctr"/>
          <a:lstStyle/>
          <a:p>
            <a:pPr algn="ctr" indent="0" marL="0">
              <a:buNone/>
            </a:pPr>
            <a:r>
              <a:rPr lang="en-US" sz="1200" b="1" dirty="0">
                <a:solidFill>
                  <a:srgbClr val="FFFFFF"/>
                </a:solidFill>
              </a:rPr>
              <a:t>1</a:t>
            </a:r>
            <a:endParaRPr lang="en-US" sz="1200" dirty="0"/>
          </a:p>
        </p:txBody>
      </p:sp>
      <p:sp>
        <p:nvSpPr>
          <p:cNvPr id="28" name="Text 26"/>
          <p:cNvSpPr/>
          <p:nvPr/>
        </p:nvSpPr>
        <p:spPr>
          <a:xfrm>
            <a:off x="10314432" y="1353312"/>
            <a:ext cx="1481328" cy="256032"/>
          </a:xfrm>
          <a:prstGeom prst="rect">
            <a:avLst/>
          </a:prstGeom>
          <a:noFill/>
          <a:ln/>
        </p:spPr>
        <p:txBody>
          <a:bodyPr wrap="square" lIns="0" tIns="0" rIns="0" bIns="0" rtlCol="0" anchor="ctr">
            <a:normAutofit/>
          </a:bodyPr>
          <a:lstStyle/>
          <a:p>
            <a:pPr indent="0" marL="0">
              <a:buNone/>
            </a:pPr>
            <a:r>
              <a:rPr lang="en-US" sz="1500" b="1" dirty="0">
                <a:solidFill>
                  <a:srgbClr val="FFFFFF"/>
                </a:solidFill>
              </a:rPr>
              <a:t>Profile current path</a:t>
            </a:r>
            <a:endParaRPr lang="en-US" sz="1500" dirty="0"/>
          </a:p>
        </p:txBody>
      </p:sp>
      <p:sp>
        <p:nvSpPr>
          <p:cNvPr id="29" name="Text 27"/>
          <p:cNvSpPr/>
          <p:nvPr/>
        </p:nvSpPr>
        <p:spPr>
          <a:xfrm>
            <a:off x="10314432" y="1655064"/>
            <a:ext cx="1325880" cy="137160"/>
          </a:xfrm>
          <a:prstGeom prst="rect">
            <a:avLst/>
          </a:prstGeom>
          <a:noFill/>
          <a:ln/>
        </p:spPr>
        <p:txBody>
          <a:bodyPr wrap="square" lIns="0" tIns="0" rIns="0" bIns="0" rtlCol="0" anchor="ctr">
            <a:normAutofit/>
          </a:bodyPr>
          <a:lstStyle/>
          <a:p>
            <a:pPr indent="0" marL="0">
              <a:buNone/>
            </a:pPr>
            <a:r>
              <a:rPr lang="en-US" sz="1100" dirty="0">
                <a:solidFill>
                  <a:srgbClr val="D9E5EA"/>
                </a:solidFill>
              </a:rPr>
              <a:t>Measured</a:t>
            </a:r>
            <a:endParaRPr lang="en-US" sz="1100" dirty="0"/>
          </a:p>
        </p:txBody>
      </p:sp>
      <p:sp>
        <p:nvSpPr>
          <p:cNvPr id="30" name="Shape 28"/>
          <p:cNvSpPr/>
          <p:nvPr/>
        </p:nvSpPr>
        <p:spPr>
          <a:xfrm>
            <a:off x="9674352" y="2679192"/>
            <a:ext cx="457200" cy="457200"/>
          </a:xfrm>
          <a:prstGeom prst="ellipse">
            <a:avLst/>
          </a:prstGeom>
          <a:solidFill>
            <a:srgbClr val="F2A23A"/>
          </a:solidFill>
          <a:ln w="12700">
            <a:solidFill>
              <a:srgbClr val="FFFFFF">
                <a:alpha val="0"/>
              </a:srgbClr>
            </a:solidFill>
            <a:prstDash val="solid"/>
          </a:ln>
        </p:spPr>
      </p:sp>
      <p:sp>
        <p:nvSpPr>
          <p:cNvPr id="31" name="Text 29"/>
          <p:cNvSpPr/>
          <p:nvPr/>
        </p:nvSpPr>
        <p:spPr>
          <a:xfrm>
            <a:off x="9674352" y="2816352"/>
            <a:ext cx="457200" cy="109728"/>
          </a:xfrm>
          <a:prstGeom prst="rect">
            <a:avLst/>
          </a:prstGeom>
          <a:noFill/>
          <a:ln/>
        </p:spPr>
        <p:txBody>
          <a:bodyPr wrap="square" lIns="0" tIns="0" rIns="0" bIns="0" rtlCol="0" anchor="ctr"/>
          <a:lstStyle/>
          <a:p>
            <a:pPr algn="ctr" indent="0" marL="0">
              <a:buNone/>
            </a:pPr>
            <a:r>
              <a:rPr lang="en-US" sz="1200" b="1" dirty="0">
                <a:solidFill>
                  <a:srgbClr val="FFFFFF"/>
                </a:solidFill>
              </a:rPr>
              <a:t>2</a:t>
            </a:r>
            <a:endParaRPr lang="en-US" sz="1200" dirty="0"/>
          </a:p>
        </p:txBody>
      </p:sp>
      <p:sp>
        <p:nvSpPr>
          <p:cNvPr id="32" name="Text 30"/>
          <p:cNvSpPr/>
          <p:nvPr/>
        </p:nvSpPr>
        <p:spPr>
          <a:xfrm>
            <a:off x="10314432" y="2706624"/>
            <a:ext cx="1481328" cy="256032"/>
          </a:xfrm>
          <a:prstGeom prst="rect">
            <a:avLst/>
          </a:prstGeom>
          <a:noFill/>
          <a:ln/>
        </p:spPr>
        <p:txBody>
          <a:bodyPr wrap="square" lIns="0" tIns="0" rIns="0" bIns="0" rtlCol="0" anchor="ctr">
            <a:normAutofit/>
          </a:bodyPr>
          <a:lstStyle/>
          <a:p>
            <a:pPr indent="0" marL="0">
              <a:buNone/>
            </a:pPr>
            <a:r>
              <a:rPr lang="en-US" sz="1500" b="1" dirty="0">
                <a:solidFill>
                  <a:srgbClr val="FFFFFF"/>
                </a:solidFill>
              </a:rPr>
              <a:t>Separate general baseline</a:t>
            </a:r>
            <a:endParaRPr lang="en-US" sz="1500" dirty="0"/>
          </a:p>
        </p:txBody>
      </p:sp>
      <p:sp>
        <p:nvSpPr>
          <p:cNvPr id="33" name="Text 31"/>
          <p:cNvSpPr/>
          <p:nvPr/>
        </p:nvSpPr>
        <p:spPr>
          <a:xfrm>
            <a:off x="10314432" y="3008376"/>
            <a:ext cx="1325880" cy="137160"/>
          </a:xfrm>
          <a:prstGeom prst="rect">
            <a:avLst/>
          </a:prstGeom>
          <a:noFill/>
          <a:ln/>
        </p:spPr>
        <p:txBody>
          <a:bodyPr wrap="square" lIns="0" tIns="0" rIns="0" bIns="0" rtlCol="0" anchor="ctr">
            <a:normAutofit/>
          </a:bodyPr>
          <a:lstStyle/>
          <a:p>
            <a:pPr indent="0" marL="0">
              <a:buNone/>
            </a:pPr>
            <a:r>
              <a:rPr lang="en-US" sz="1100" dirty="0">
                <a:solidFill>
                  <a:srgbClr val="D9E5EA"/>
                </a:solidFill>
              </a:rPr>
              <a:t>Proposed</a:t>
            </a:r>
            <a:endParaRPr lang="en-US" sz="1100" dirty="0"/>
          </a:p>
        </p:txBody>
      </p:sp>
      <p:sp>
        <p:nvSpPr>
          <p:cNvPr id="34" name="Shape 32"/>
          <p:cNvSpPr/>
          <p:nvPr/>
        </p:nvSpPr>
        <p:spPr>
          <a:xfrm>
            <a:off x="9674352" y="4032504"/>
            <a:ext cx="457200" cy="457200"/>
          </a:xfrm>
          <a:prstGeom prst="ellipse">
            <a:avLst/>
          </a:prstGeom>
          <a:solidFill>
            <a:srgbClr val="1F2A44"/>
          </a:solidFill>
          <a:ln w="12700">
            <a:solidFill>
              <a:srgbClr val="FFFFFF">
                <a:alpha val="0"/>
              </a:srgbClr>
            </a:solidFill>
            <a:prstDash val="solid"/>
          </a:ln>
        </p:spPr>
      </p:sp>
      <p:sp>
        <p:nvSpPr>
          <p:cNvPr id="35" name="Text 33"/>
          <p:cNvSpPr/>
          <p:nvPr/>
        </p:nvSpPr>
        <p:spPr>
          <a:xfrm>
            <a:off x="9674352" y="4169664"/>
            <a:ext cx="457200" cy="109728"/>
          </a:xfrm>
          <a:prstGeom prst="rect">
            <a:avLst/>
          </a:prstGeom>
          <a:noFill/>
          <a:ln/>
        </p:spPr>
        <p:txBody>
          <a:bodyPr wrap="square" lIns="0" tIns="0" rIns="0" bIns="0" rtlCol="0" anchor="ctr"/>
          <a:lstStyle/>
          <a:p>
            <a:pPr algn="ctr" indent="0" marL="0">
              <a:buNone/>
            </a:pPr>
            <a:r>
              <a:rPr lang="en-US" sz="1200" b="1" dirty="0">
                <a:solidFill>
                  <a:srgbClr val="FFFFFF"/>
                </a:solidFill>
              </a:rPr>
              <a:t>3</a:t>
            </a:r>
            <a:endParaRPr lang="en-US" sz="1200" dirty="0"/>
          </a:p>
        </p:txBody>
      </p:sp>
      <p:sp>
        <p:nvSpPr>
          <p:cNvPr id="36" name="Text 34"/>
          <p:cNvSpPr/>
          <p:nvPr/>
        </p:nvSpPr>
        <p:spPr>
          <a:xfrm>
            <a:off x="10314432" y="4059936"/>
            <a:ext cx="1481328" cy="256032"/>
          </a:xfrm>
          <a:prstGeom prst="rect">
            <a:avLst/>
          </a:prstGeom>
          <a:noFill/>
          <a:ln/>
        </p:spPr>
        <p:txBody>
          <a:bodyPr wrap="square" lIns="0" tIns="0" rIns="0" bIns="0" rtlCol="0" anchor="ctr">
            <a:normAutofit/>
          </a:bodyPr>
          <a:lstStyle/>
          <a:p>
            <a:pPr indent="0" marL="0">
              <a:buNone/>
            </a:pPr>
            <a:r>
              <a:rPr lang="en-US" sz="1500" b="1" dirty="0">
                <a:solidFill>
                  <a:srgbClr val="FFFFFF"/>
                </a:solidFill>
              </a:rPr>
              <a:t>Measure full LM convergence</a:t>
            </a:r>
            <a:endParaRPr lang="en-US" sz="1500" dirty="0"/>
          </a:p>
        </p:txBody>
      </p:sp>
      <p:sp>
        <p:nvSpPr>
          <p:cNvPr id="37" name="Text 35"/>
          <p:cNvSpPr/>
          <p:nvPr/>
        </p:nvSpPr>
        <p:spPr>
          <a:xfrm>
            <a:off x="10314432" y="4361688"/>
            <a:ext cx="1325880" cy="137160"/>
          </a:xfrm>
          <a:prstGeom prst="rect">
            <a:avLst/>
          </a:prstGeom>
          <a:noFill/>
          <a:ln/>
        </p:spPr>
        <p:txBody>
          <a:bodyPr wrap="square" lIns="0" tIns="0" rIns="0" bIns="0" rtlCol="0" anchor="ctr">
            <a:normAutofit/>
          </a:bodyPr>
          <a:lstStyle/>
          <a:p>
            <a:pPr indent="0" marL="0">
              <a:buNone/>
            </a:pPr>
            <a:r>
              <a:rPr lang="en-US" sz="1100" dirty="0">
                <a:solidFill>
                  <a:srgbClr val="D9E5EA"/>
                </a:solidFill>
              </a:rPr>
              <a:t>Next</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Current implementation</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The public graph API adapts generic GTSAM objects into a specialized CUDA SFM backend.</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548640" y="1417320"/>
            <a:ext cx="2081174" cy="1965960"/>
          </a:xfrm>
          <a:prstGeom prst="rect">
            <a:avLst/>
          </a:prstGeom>
          <a:solidFill>
            <a:srgbClr val="F1F4F8"/>
          </a:solidFill>
          <a:ln w="9525">
            <a:solidFill>
              <a:srgbClr val="1F2A44"/>
            </a:solidFill>
            <a:prstDash val="solid"/>
          </a:ln>
        </p:spPr>
      </p:sp>
      <p:sp>
        <p:nvSpPr>
          <p:cNvPr id="8" name="Shape 6"/>
          <p:cNvSpPr/>
          <p:nvPr/>
        </p:nvSpPr>
        <p:spPr>
          <a:xfrm>
            <a:off x="548640" y="1417320"/>
            <a:ext cx="2081174" cy="91440"/>
          </a:xfrm>
          <a:prstGeom prst="rect">
            <a:avLst/>
          </a:prstGeom>
          <a:solidFill>
            <a:srgbClr val="1F2A44"/>
          </a:solidFill>
          <a:ln w="12700">
            <a:solidFill>
              <a:srgbClr val="1F2A44"/>
            </a:solidFill>
            <a:prstDash val="solid"/>
          </a:ln>
        </p:spPr>
      </p:sp>
      <p:sp>
        <p:nvSpPr>
          <p:cNvPr id="9" name="Text 7"/>
          <p:cNvSpPr/>
          <p:nvPr/>
        </p:nvSpPr>
        <p:spPr>
          <a:xfrm>
            <a:off x="658368"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NonlinearFactorGraph + Values</a:t>
            </a:r>
            <a:endParaRPr lang="en-US" sz="1500" dirty="0"/>
          </a:p>
        </p:txBody>
      </p:sp>
      <p:sp>
        <p:nvSpPr>
          <p:cNvPr id="10" name="Text 8"/>
          <p:cNvSpPr/>
          <p:nvPr/>
        </p:nvSpPr>
        <p:spPr>
          <a:xfrm>
            <a:off x="658368"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Generic graph, current variable state, and factor ownership.</a:t>
            </a:r>
            <a:endParaRPr lang="en-US" sz="1250" dirty="0"/>
          </a:p>
        </p:txBody>
      </p:sp>
      <p:sp>
        <p:nvSpPr>
          <p:cNvPr id="11" name="Shape 9"/>
          <p:cNvSpPr/>
          <p:nvPr/>
        </p:nvSpPr>
        <p:spPr>
          <a:xfrm>
            <a:off x="2661818" y="2263140"/>
            <a:ext cx="118872" cy="274320"/>
          </a:xfrm>
          <a:prstGeom prst="chevron">
            <a:avLst/>
          </a:prstGeom>
          <a:solidFill>
            <a:srgbClr val="9AA8B6"/>
          </a:solidFill>
          <a:ln w="12700">
            <a:solidFill>
              <a:srgbClr val="9AA8B6"/>
            </a:solidFill>
            <a:prstDash val="solid"/>
          </a:ln>
        </p:spPr>
      </p:sp>
      <p:sp>
        <p:nvSpPr>
          <p:cNvPr id="12" name="Shape 10"/>
          <p:cNvSpPr/>
          <p:nvPr/>
        </p:nvSpPr>
        <p:spPr>
          <a:xfrm>
            <a:off x="2794406" y="1417320"/>
            <a:ext cx="2081174" cy="1965960"/>
          </a:xfrm>
          <a:prstGeom prst="rect">
            <a:avLst/>
          </a:prstGeom>
          <a:solidFill>
            <a:srgbClr val="FFFFFF"/>
          </a:solidFill>
          <a:ln w="9525">
            <a:solidFill>
              <a:srgbClr val="E7EBF0"/>
            </a:solidFill>
            <a:prstDash val="solid"/>
          </a:ln>
        </p:spPr>
      </p:sp>
      <p:sp>
        <p:nvSpPr>
          <p:cNvPr id="13" name="Shape 11"/>
          <p:cNvSpPr/>
          <p:nvPr/>
        </p:nvSpPr>
        <p:spPr>
          <a:xfrm>
            <a:off x="2794406" y="1417320"/>
            <a:ext cx="2081174" cy="91440"/>
          </a:xfrm>
          <a:prstGeom prst="rect">
            <a:avLst/>
          </a:prstGeom>
          <a:solidFill>
            <a:srgbClr val="0E7C86"/>
          </a:solidFill>
          <a:ln w="12700">
            <a:solidFill>
              <a:srgbClr val="0E7C86"/>
            </a:solidFill>
            <a:prstDash val="solid"/>
          </a:ln>
        </p:spPr>
      </p:sp>
      <p:sp>
        <p:nvSpPr>
          <p:cNvPr id="14" name="Text 12"/>
          <p:cNvSpPr/>
          <p:nvPr/>
        </p:nvSpPr>
        <p:spPr>
          <a:xfrm>
            <a:off x="2904134"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Specialized graph conversion</a:t>
            </a:r>
            <a:endParaRPr lang="en-US" sz="1500" dirty="0"/>
          </a:p>
        </p:txBody>
      </p:sp>
      <p:sp>
        <p:nvSpPr>
          <p:cNvPr id="15" name="Text 13"/>
          <p:cNvSpPr/>
          <p:nvPr/>
        </p:nvSpPr>
        <p:spPr>
          <a:xfrm>
            <a:off x="2904134"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Extract SFM factors, keys, measurements, cameras, and points into host arrays.</a:t>
            </a:r>
            <a:endParaRPr lang="en-US" sz="1250" dirty="0"/>
          </a:p>
        </p:txBody>
      </p:sp>
      <p:sp>
        <p:nvSpPr>
          <p:cNvPr id="16" name="Shape 14"/>
          <p:cNvSpPr/>
          <p:nvPr/>
        </p:nvSpPr>
        <p:spPr>
          <a:xfrm>
            <a:off x="4907585" y="2263140"/>
            <a:ext cx="118872" cy="274320"/>
          </a:xfrm>
          <a:prstGeom prst="chevron">
            <a:avLst/>
          </a:prstGeom>
          <a:solidFill>
            <a:srgbClr val="9AA8B6"/>
          </a:solidFill>
          <a:ln w="12700">
            <a:solidFill>
              <a:srgbClr val="9AA8B6"/>
            </a:solidFill>
            <a:prstDash val="solid"/>
          </a:ln>
        </p:spPr>
      </p:sp>
      <p:sp>
        <p:nvSpPr>
          <p:cNvPr id="17" name="Shape 15"/>
          <p:cNvSpPr/>
          <p:nvPr/>
        </p:nvSpPr>
        <p:spPr>
          <a:xfrm>
            <a:off x="5040173" y="1417320"/>
            <a:ext cx="2081174" cy="1965960"/>
          </a:xfrm>
          <a:prstGeom prst="rect">
            <a:avLst/>
          </a:prstGeom>
          <a:solidFill>
            <a:srgbClr val="EAF7EF"/>
          </a:solidFill>
          <a:ln w="9525">
            <a:solidFill>
              <a:srgbClr val="E7EBF0"/>
            </a:solidFill>
            <a:prstDash val="solid"/>
          </a:ln>
        </p:spPr>
      </p:sp>
      <p:sp>
        <p:nvSpPr>
          <p:cNvPr id="18" name="Shape 16"/>
          <p:cNvSpPr/>
          <p:nvPr/>
        </p:nvSpPr>
        <p:spPr>
          <a:xfrm>
            <a:off x="5040173" y="1417320"/>
            <a:ext cx="2081174" cy="91440"/>
          </a:xfrm>
          <a:prstGeom prst="rect">
            <a:avLst/>
          </a:prstGeom>
          <a:solidFill>
            <a:srgbClr val="46A06F"/>
          </a:solidFill>
          <a:ln w="12700">
            <a:solidFill>
              <a:srgbClr val="46A06F"/>
            </a:solidFill>
            <a:prstDash val="solid"/>
          </a:ln>
        </p:spPr>
      </p:sp>
      <p:sp>
        <p:nvSpPr>
          <p:cNvPr id="19" name="Text 17"/>
          <p:cNvSpPr/>
          <p:nvPr/>
        </p:nvSpPr>
        <p:spPr>
          <a:xfrm>
            <a:off x="5149901"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CUDA SFM arrays / backend</a:t>
            </a:r>
            <a:endParaRPr lang="en-US" sz="1500" dirty="0"/>
          </a:p>
        </p:txBody>
      </p:sp>
      <p:sp>
        <p:nvSpPr>
          <p:cNvPr id="20" name="Text 18"/>
          <p:cNvSpPr/>
          <p:nvPr/>
        </p:nvSpPr>
        <p:spPr>
          <a:xfrm>
            <a:off x="5149901"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Pack, upload, run LM with dense Schur, and retain packed result arrays.</a:t>
            </a:r>
            <a:endParaRPr lang="en-US" sz="1250" dirty="0"/>
          </a:p>
        </p:txBody>
      </p:sp>
      <p:sp>
        <p:nvSpPr>
          <p:cNvPr id="21" name="Shape 19"/>
          <p:cNvSpPr/>
          <p:nvPr/>
        </p:nvSpPr>
        <p:spPr>
          <a:xfrm>
            <a:off x="7153351" y="2263140"/>
            <a:ext cx="118872" cy="274320"/>
          </a:xfrm>
          <a:prstGeom prst="chevron">
            <a:avLst/>
          </a:prstGeom>
          <a:solidFill>
            <a:srgbClr val="9AA8B6"/>
          </a:solidFill>
          <a:ln w="12700">
            <a:solidFill>
              <a:srgbClr val="9AA8B6"/>
            </a:solidFill>
            <a:prstDash val="solid"/>
          </a:ln>
        </p:spPr>
      </p:sp>
      <p:sp>
        <p:nvSpPr>
          <p:cNvPr id="22" name="Shape 20"/>
          <p:cNvSpPr/>
          <p:nvPr/>
        </p:nvSpPr>
        <p:spPr>
          <a:xfrm>
            <a:off x="7285939" y="1417320"/>
            <a:ext cx="2081174" cy="1965960"/>
          </a:xfrm>
          <a:prstGeom prst="rect">
            <a:avLst/>
          </a:prstGeom>
          <a:solidFill>
            <a:srgbClr val="FEF4E3"/>
          </a:solidFill>
          <a:ln w="9525">
            <a:solidFill>
              <a:srgbClr val="E7EBF0"/>
            </a:solidFill>
            <a:prstDash val="solid"/>
          </a:ln>
        </p:spPr>
      </p:sp>
      <p:sp>
        <p:nvSpPr>
          <p:cNvPr id="23" name="Shape 21"/>
          <p:cNvSpPr/>
          <p:nvPr/>
        </p:nvSpPr>
        <p:spPr>
          <a:xfrm>
            <a:off x="7285939" y="1417320"/>
            <a:ext cx="2081174" cy="91440"/>
          </a:xfrm>
          <a:prstGeom prst="rect">
            <a:avLst/>
          </a:prstGeom>
          <a:solidFill>
            <a:srgbClr val="F2A23A"/>
          </a:solidFill>
          <a:ln w="12700">
            <a:solidFill>
              <a:srgbClr val="F2A23A"/>
            </a:solidFill>
            <a:prstDash val="solid"/>
          </a:ln>
        </p:spPr>
      </p:sp>
      <p:sp>
        <p:nvSpPr>
          <p:cNvPr id="24" name="Text 22"/>
          <p:cNvSpPr/>
          <p:nvPr/>
        </p:nvSpPr>
        <p:spPr>
          <a:xfrm>
            <a:off x="7395667"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Downloaded Values</a:t>
            </a:r>
            <a:endParaRPr lang="en-US" sz="1500" dirty="0"/>
          </a:p>
        </p:txBody>
      </p:sp>
      <p:sp>
        <p:nvSpPr>
          <p:cNvPr id="25" name="Text 23"/>
          <p:cNvSpPr/>
          <p:nvPr/>
        </p:nvSpPr>
        <p:spPr>
          <a:xfrm>
            <a:off x="7395667"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Rebuild optimized camera and point Values from host-side result arrays.</a:t>
            </a:r>
            <a:endParaRPr lang="en-US" sz="1250" dirty="0"/>
          </a:p>
        </p:txBody>
      </p:sp>
      <p:sp>
        <p:nvSpPr>
          <p:cNvPr id="26" name="Shape 24"/>
          <p:cNvSpPr/>
          <p:nvPr/>
        </p:nvSpPr>
        <p:spPr>
          <a:xfrm>
            <a:off x="9399118" y="2263140"/>
            <a:ext cx="118872" cy="274320"/>
          </a:xfrm>
          <a:prstGeom prst="chevron">
            <a:avLst/>
          </a:prstGeom>
          <a:solidFill>
            <a:srgbClr val="9AA8B6"/>
          </a:solidFill>
          <a:ln w="12700">
            <a:solidFill>
              <a:srgbClr val="9AA8B6"/>
            </a:solidFill>
            <a:prstDash val="solid"/>
          </a:ln>
        </p:spPr>
      </p:sp>
      <p:sp>
        <p:nvSpPr>
          <p:cNvPr id="27" name="Shape 25"/>
          <p:cNvSpPr/>
          <p:nvPr/>
        </p:nvSpPr>
        <p:spPr>
          <a:xfrm>
            <a:off x="9531706" y="1417320"/>
            <a:ext cx="2081174" cy="1965960"/>
          </a:xfrm>
          <a:prstGeom prst="rect">
            <a:avLst/>
          </a:prstGeom>
          <a:solidFill>
            <a:srgbClr val="FBEDEB"/>
          </a:solidFill>
          <a:ln w="9525">
            <a:solidFill>
              <a:srgbClr val="E7EBF0"/>
            </a:solidFill>
            <a:prstDash val="solid"/>
          </a:ln>
        </p:spPr>
      </p:sp>
      <p:sp>
        <p:nvSpPr>
          <p:cNvPr id="28" name="Shape 26"/>
          <p:cNvSpPr/>
          <p:nvPr/>
        </p:nvSpPr>
        <p:spPr>
          <a:xfrm>
            <a:off x="9531706" y="1417320"/>
            <a:ext cx="2081174" cy="91440"/>
          </a:xfrm>
          <a:prstGeom prst="rect">
            <a:avLst/>
          </a:prstGeom>
          <a:solidFill>
            <a:srgbClr val="D95D54"/>
          </a:solidFill>
          <a:ln w="12700">
            <a:solidFill>
              <a:srgbClr val="D95D54"/>
            </a:solidFill>
            <a:prstDash val="solid"/>
          </a:ln>
        </p:spPr>
      </p:sp>
      <p:sp>
        <p:nvSpPr>
          <p:cNvPr id="29" name="Text 27"/>
          <p:cNvSpPr/>
          <p:nvPr/>
        </p:nvSpPr>
        <p:spPr>
          <a:xfrm>
            <a:off x="9641434" y="1609344"/>
            <a:ext cx="1861718"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CPU merge</a:t>
            </a:r>
            <a:endParaRPr lang="en-US" sz="1500" dirty="0"/>
          </a:p>
        </p:txBody>
      </p:sp>
      <p:sp>
        <p:nvSpPr>
          <p:cNvPr id="30" name="Text 28"/>
          <p:cNvSpPr/>
          <p:nvPr/>
        </p:nvSpPr>
        <p:spPr>
          <a:xfrm>
            <a:off x="9641434" y="2075688"/>
            <a:ext cx="1861718" cy="1188720"/>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Merge SFM results into the original Values and update optimizer state.</a:t>
            </a:r>
            <a:endParaRPr lang="en-US" sz="1250" dirty="0"/>
          </a:p>
        </p:txBody>
      </p:sp>
      <p:sp>
        <p:nvSpPr>
          <p:cNvPr id="31" name="Text 29"/>
          <p:cNvSpPr/>
          <p:nvPr/>
        </p:nvSpPr>
        <p:spPr>
          <a:xfrm>
            <a:off x="658368" y="3886200"/>
            <a:ext cx="2926080" cy="210312"/>
          </a:xfrm>
          <a:prstGeom prst="rect">
            <a:avLst/>
          </a:prstGeom>
          <a:noFill/>
          <a:ln/>
        </p:spPr>
        <p:txBody>
          <a:bodyPr wrap="square" lIns="0" tIns="0" rIns="0" bIns="0" rtlCol="0" anchor="ctr"/>
          <a:lstStyle/>
          <a:p>
            <a:pPr indent="0" marL="0">
              <a:buNone/>
            </a:pPr>
            <a:r>
              <a:rPr lang="en-US" sz="1700" b="1" dirty="0">
                <a:solidFill>
                  <a:srgbClr val="18212F"/>
                </a:solidFill>
              </a:rPr>
              <a:t>Boundary responsibilities</a:t>
            </a:r>
            <a:endParaRPr lang="en-US" sz="1700" dirty="0"/>
          </a:p>
        </p:txBody>
      </p:sp>
      <p:sp>
        <p:nvSpPr>
          <p:cNvPr id="32" name="Shape 30"/>
          <p:cNvSpPr/>
          <p:nvPr/>
        </p:nvSpPr>
        <p:spPr>
          <a:xfrm>
            <a:off x="658368" y="4224528"/>
            <a:ext cx="1965960" cy="429768"/>
          </a:xfrm>
          <a:prstGeom prst="rect">
            <a:avLst/>
          </a:prstGeom>
          <a:solidFill>
            <a:srgbClr val="1F2A44"/>
          </a:solidFill>
          <a:ln w="5715">
            <a:solidFill>
              <a:srgbClr val="F7F8FA"/>
            </a:solidFill>
            <a:prstDash val="solid"/>
          </a:ln>
        </p:spPr>
      </p:sp>
      <p:sp>
        <p:nvSpPr>
          <p:cNvPr id="33" name="Text 31"/>
          <p:cNvSpPr/>
          <p:nvPr/>
        </p:nvSpPr>
        <p:spPr>
          <a:xfrm>
            <a:off x="722376" y="4311396"/>
            <a:ext cx="1837944" cy="292608"/>
          </a:xfrm>
          <a:prstGeom prst="rect">
            <a:avLst/>
          </a:prstGeom>
          <a:noFill/>
          <a:ln/>
        </p:spPr>
        <p:txBody>
          <a:bodyPr wrap="square" lIns="0" tIns="0" rIns="0" bIns="0" rtlCol="0" anchor="ctr">
            <a:normAutofit/>
          </a:bodyPr>
          <a:lstStyle/>
          <a:p>
            <a:pPr algn="l" indent="0" marL="0">
              <a:buNone/>
            </a:pPr>
            <a:r>
              <a:rPr lang="en-US" sz="1220" b="1" dirty="0">
                <a:solidFill>
                  <a:srgbClr val="FFFFFF"/>
                </a:solidFill>
              </a:rPr>
              <a:t>Boundary</a:t>
            </a:r>
            <a:endParaRPr lang="en-US" sz="1220" dirty="0"/>
          </a:p>
        </p:txBody>
      </p:sp>
      <p:sp>
        <p:nvSpPr>
          <p:cNvPr id="34" name="Shape 32"/>
          <p:cNvSpPr/>
          <p:nvPr/>
        </p:nvSpPr>
        <p:spPr>
          <a:xfrm>
            <a:off x="2624328" y="4224528"/>
            <a:ext cx="3520440" cy="429768"/>
          </a:xfrm>
          <a:prstGeom prst="rect">
            <a:avLst/>
          </a:prstGeom>
          <a:solidFill>
            <a:srgbClr val="1F2A44"/>
          </a:solidFill>
          <a:ln w="5715">
            <a:solidFill>
              <a:srgbClr val="F7F8FA"/>
            </a:solidFill>
            <a:prstDash val="solid"/>
          </a:ln>
        </p:spPr>
      </p:sp>
      <p:sp>
        <p:nvSpPr>
          <p:cNvPr id="35" name="Text 33"/>
          <p:cNvSpPr/>
          <p:nvPr/>
        </p:nvSpPr>
        <p:spPr>
          <a:xfrm>
            <a:off x="2688336" y="4311396"/>
            <a:ext cx="3392424" cy="292608"/>
          </a:xfrm>
          <a:prstGeom prst="rect">
            <a:avLst/>
          </a:prstGeom>
          <a:noFill/>
          <a:ln/>
        </p:spPr>
        <p:txBody>
          <a:bodyPr wrap="square" lIns="0" tIns="0" rIns="0" bIns="0" rtlCol="0" anchor="ctr">
            <a:normAutofit/>
          </a:bodyPr>
          <a:lstStyle/>
          <a:p>
            <a:pPr algn="l" indent="0" marL="0">
              <a:buNone/>
            </a:pPr>
            <a:r>
              <a:rPr lang="en-US" sz="1220" b="1" dirty="0">
                <a:solidFill>
                  <a:srgbClr val="FFFFFF"/>
                </a:solidFill>
              </a:rPr>
              <a:t>What it does</a:t>
            </a:r>
            <a:endParaRPr lang="en-US" sz="1220" dirty="0"/>
          </a:p>
        </p:txBody>
      </p:sp>
      <p:sp>
        <p:nvSpPr>
          <p:cNvPr id="36" name="Shape 34"/>
          <p:cNvSpPr/>
          <p:nvPr/>
        </p:nvSpPr>
        <p:spPr>
          <a:xfrm>
            <a:off x="6144768" y="4224528"/>
            <a:ext cx="5394960" cy="429768"/>
          </a:xfrm>
          <a:prstGeom prst="rect">
            <a:avLst/>
          </a:prstGeom>
          <a:solidFill>
            <a:srgbClr val="1F2A44"/>
          </a:solidFill>
          <a:ln w="5715">
            <a:solidFill>
              <a:srgbClr val="F7F8FA"/>
            </a:solidFill>
            <a:prstDash val="solid"/>
          </a:ln>
        </p:spPr>
      </p:sp>
      <p:sp>
        <p:nvSpPr>
          <p:cNvPr id="37" name="Text 35"/>
          <p:cNvSpPr/>
          <p:nvPr/>
        </p:nvSpPr>
        <p:spPr>
          <a:xfrm>
            <a:off x="6208776" y="4311396"/>
            <a:ext cx="5266944" cy="292608"/>
          </a:xfrm>
          <a:prstGeom prst="rect">
            <a:avLst/>
          </a:prstGeom>
          <a:noFill/>
          <a:ln/>
        </p:spPr>
        <p:txBody>
          <a:bodyPr wrap="square" lIns="0" tIns="0" rIns="0" bIns="0" rtlCol="0" anchor="ctr">
            <a:normAutofit/>
          </a:bodyPr>
          <a:lstStyle/>
          <a:p>
            <a:pPr algn="l" indent="0" marL="0">
              <a:buNone/>
            </a:pPr>
            <a:r>
              <a:rPr lang="en-US" sz="1220" b="1" dirty="0">
                <a:solidFill>
                  <a:srgbClr val="FFFFFF"/>
                </a:solidFill>
              </a:rPr>
              <a:t>Why it matters</a:t>
            </a:r>
            <a:endParaRPr lang="en-US" sz="1220" dirty="0"/>
          </a:p>
        </p:txBody>
      </p:sp>
      <p:sp>
        <p:nvSpPr>
          <p:cNvPr id="38" name="Shape 36"/>
          <p:cNvSpPr/>
          <p:nvPr/>
        </p:nvSpPr>
        <p:spPr>
          <a:xfrm>
            <a:off x="658368" y="4654296"/>
            <a:ext cx="1965960" cy="429768"/>
          </a:xfrm>
          <a:prstGeom prst="rect">
            <a:avLst/>
          </a:prstGeom>
          <a:solidFill>
            <a:srgbClr val="FFFFFF"/>
          </a:solidFill>
          <a:ln w="5715">
            <a:solidFill>
              <a:srgbClr val="F7F8FA"/>
            </a:solidFill>
            <a:prstDash val="solid"/>
          </a:ln>
        </p:spPr>
      </p:sp>
      <p:sp>
        <p:nvSpPr>
          <p:cNvPr id="39" name="Text 37"/>
          <p:cNvSpPr/>
          <p:nvPr/>
        </p:nvSpPr>
        <p:spPr>
          <a:xfrm>
            <a:off x="722376" y="4741164"/>
            <a:ext cx="1837944" cy="292608"/>
          </a:xfrm>
          <a:prstGeom prst="rect">
            <a:avLst/>
          </a:prstGeom>
          <a:noFill/>
          <a:ln/>
        </p:spPr>
        <p:txBody>
          <a:bodyPr wrap="square" lIns="0" tIns="0" rIns="0" bIns="0" rtlCol="0" anchor="ctr">
            <a:normAutofit/>
          </a:bodyPr>
          <a:lstStyle/>
          <a:p>
            <a:pPr algn="l" indent="0" marL="0">
              <a:buNone/>
            </a:pPr>
            <a:r>
              <a:rPr lang="en-US" sz="1220" b="1" dirty="0">
                <a:solidFill>
                  <a:srgbClr val="18212F"/>
                </a:solidFill>
              </a:rPr>
              <a:t>Generic to SFM</a:t>
            </a:r>
            <a:endParaRPr lang="en-US" sz="1220" dirty="0"/>
          </a:p>
        </p:txBody>
      </p:sp>
      <p:sp>
        <p:nvSpPr>
          <p:cNvPr id="40" name="Shape 38"/>
          <p:cNvSpPr/>
          <p:nvPr/>
        </p:nvSpPr>
        <p:spPr>
          <a:xfrm>
            <a:off x="2624328" y="4654296"/>
            <a:ext cx="3520440" cy="429768"/>
          </a:xfrm>
          <a:prstGeom prst="rect">
            <a:avLst/>
          </a:prstGeom>
          <a:solidFill>
            <a:srgbClr val="FFFFFF"/>
          </a:solidFill>
          <a:ln w="5715">
            <a:solidFill>
              <a:srgbClr val="F7F8FA"/>
            </a:solidFill>
            <a:prstDash val="solid"/>
          </a:ln>
        </p:spPr>
      </p:sp>
      <p:sp>
        <p:nvSpPr>
          <p:cNvPr id="41" name="Text 39"/>
          <p:cNvSpPr/>
          <p:nvPr/>
        </p:nvSpPr>
        <p:spPr>
          <a:xfrm>
            <a:off x="2688336" y="4741164"/>
            <a:ext cx="339242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CPU representation conversion</a:t>
            </a:r>
            <a:endParaRPr lang="en-US" sz="1220" dirty="0"/>
          </a:p>
        </p:txBody>
      </p:sp>
      <p:sp>
        <p:nvSpPr>
          <p:cNvPr id="42" name="Shape 40"/>
          <p:cNvSpPr/>
          <p:nvPr/>
        </p:nvSpPr>
        <p:spPr>
          <a:xfrm>
            <a:off x="6144768" y="4654296"/>
            <a:ext cx="5394960" cy="429768"/>
          </a:xfrm>
          <a:prstGeom prst="rect">
            <a:avLst/>
          </a:prstGeom>
          <a:solidFill>
            <a:srgbClr val="FFFFFF"/>
          </a:solidFill>
          <a:ln w="5715">
            <a:solidFill>
              <a:srgbClr val="F7F8FA"/>
            </a:solidFill>
            <a:prstDash val="solid"/>
          </a:ln>
        </p:spPr>
      </p:sp>
      <p:sp>
        <p:nvSpPr>
          <p:cNvPr id="43" name="Text 41"/>
          <p:cNvSpPr/>
          <p:nvPr/>
        </p:nvSpPr>
        <p:spPr>
          <a:xfrm>
            <a:off x="6208776" y="4741164"/>
            <a:ext cx="526694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The CUDA backend does not consume arbitrary GTSAM factors.</a:t>
            </a:r>
            <a:endParaRPr lang="en-US" sz="1220" dirty="0"/>
          </a:p>
        </p:txBody>
      </p:sp>
      <p:sp>
        <p:nvSpPr>
          <p:cNvPr id="44" name="Shape 42"/>
          <p:cNvSpPr/>
          <p:nvPr/>
        </p:nvSpPr>
        <p:spPr>
          <a:xfrm>
            <a:off x="658368" y="5084064"/>
            <a:ext cx="1965960" cy="429768"/>
          </a:xfrm>
          <a:prstGeom prst="rect">
            <a:avLst/>
          </a:prstGeom>
          <a:solidFill>
            <a:srgbClr val="F0F4F7"/>
          </a:solidFill>
          <a:ln w="5715">
            <a:solidFill>
              <a:srgbClr val="F7F8FA"/>
            </a:solidFill>
            <a:prstDash val="solid"/>
          </a:ln>
        </p:spPr>
      </p:sp>
      <p:sp>
        <p:nvSpPr>
          <p:cNvPr id="45" name="Text 43"/>
          <p:cNvSpPr/>
          <p:nvPr/>
        </p:nvSpPr>
        <p:spPr>
          <a:xfrm>
            <a:off x="722376" y="5170932"/>
            <a:ext cx="1837944" cy="292608"/>
          </a:xfrm>
          <a:prstGeom prst="rect">
            <a:avLst/>
          </a:prstGeom>
          <a:noFill/>
          <a:ln/>
        </p:spPr>
        <p:txBody>
          <a:bodyPr wrap="square" lIns="0" tIns="0" rIns="0" bIns="0" rtlCol="0" anchor="ctr">
            <a:normAutofit/>
          </a:bodyPr>
          <a:lstStyle/>
          <a:p>
            <a:pPr algn="l" indent="0" marL="0">
              <a:buNone/>
            </a:pPr>
            <a:r>
              <a:rPr lang="en-US" sz="1220" b="1" dirty="0">
                <a:solidFill>
                  <a:srgbClr val="18212F"/>
                </a:solidFill>
              </a:rPr>
              <a:t>SFM to device</a:t>
            </a:r>
            <a:endParaRPr lang="en-US" sz="1220" dirty="0"/>
          </a:p>
        </p:txBody>
      </p:sp>
      <p:sp>
        <p:nvSpPr>
          <p:cNvPr id="46" name="Shape 44"/>
          <p:cNvSpPr/>
          <p:nvPr/>
        </p:nvSpPr>
        <p:spPr>
          <a:xfrm>
            <a:off x="2624328" y="5084064"/>
            <a:ext cx="3520440" cy="429768"/>
          </a:xfrm>
          <a:prstGeom prst="rect">
            <a:avLst/>
          </a:prstGeom>
          <a:solidFill>
            <a:srgbClr val="F0F4F7"/>
          </a:solidFill>
          <a:ln w="5715">
            <a:solidFill>
              <a:srgbClr val="F7F8FA"/>
            </a:solidFill>
            <a:prstDash val="solid"/>
          </a:ln>
        </p:spPr>
      </p:sp>
      <p:sp>
        <p:nvSpPr>
          <p:cNvPr id="47" name="Text 45"/>
          <p:cNvSpPr/>
          <p:nvPr/>
        </p:nvSpPr>
        <p:spPr>
          <a:xfrm>
            <a:off x="2688336" y="5170932"/>
            <a:ext cx="339242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Array packing and backend setup</a:t>
            </a:r>
            <a:endParaRPr lang="en-US" sz="1220" dirty="0"/>
          </a:p>
        </p:txBody>
      </p:sp>
      <p:sp>
        <p:nvSpPr>
          <p:cNvPr id="48" name="Shape 46"/>
          <p:cNvSpPr/>
          <p:nvPr/>
        </p:nvSpPr>
        <p:spPr>
          <a:xfrm>
            <a:off x="6144768" y="5084064"/>
            <a:ext cx="5394960" cy="429768"/>
          </a:xfrm>
          <a:prstGeom prst="rect">
            <a:avLst/>
          </a:prstGeom>
          <a:solidFill>
            <a:srgbClr val="F0F4F7"/>
          </a:solidFill>
          <a:ln w="5715">
            <a:solidFill>
              <a:srgbClr val="F7F8FA"/>
            </a:solidFill>
            <a:prstDash val="solid"/>
          </a:ln>
        </p:spPr>
      </p:sp>
      <p:sp>
        <p:nvSpPr>
          <p:cNvPr id="49" name="Text 47"/>
          <p:cNvSpPr/>
          <p:nvPr/>
        </p:nvSpPr>
        <p:spPr>
          <a:xfrm>
            <a:off x="6208776" y="5170932"/>
            <a:ext cx="526694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Includes host builds as well as GPU work.</a:t>
            </a:r>
            <a:endParaRPr lang="en-US" sz="1220" dirty="0"/>
          </a:p>
        </p:txBody>
      </p:sp>
      <p:sp>
        <p:nvSpPr>
          <p:cNvPr id="50" name="Shape 48"/>
          <p:cNvSpPr/>
          <p:nvPr/>
        </p:nvSpPr>
        <p:spPr>
          <a:xfrm>
            <a:off x="658368" y="5513832"/>
            <a:ext cx="1965960" cy="429768"/>
          </a:xfrm>
          <a:prstGeom prst="rect">
            <a:avLst/>
          </a:prstGeom>
          <a:solidFill>
            <a:srgbClr val="FFFFFF"/>
          </a:solidFill>
          <a:ln w="5715">
            <a:solidFill>
              <a:srgbClr val="F7F8FA"/>
            </a:solidFill>
            <a:prstDash val="solid"/>
          </a:ln>
        </p:spPr>
      </p:sp>
      <p:sp>
        <p:nvSpPr>
          <p:cNvPr id="51" name="Text 49"/>
          <p:cNvSpPr/>
          <p:nvPr/>
        </p:nvSpPr>
        <p:spPr>
          <a:xfrm>
            <a:off x="722376" y="5600700"/>
            <a:ext cx="1837944" cy="292608"/>
          </a:xfrm>
          <a:prstGeom prst="rect">
            <a:avLst/>
          </a:prstGeom>
          <a:noFill/>
          <a:ln/>
        </p:spPr>
        <p:txBody>
          <a:bodyPr wrap="square" lIns="0" tIns="0" rIns="0" bIns="0" rtlCol="0" anchor="ctr">
            <a:normAutofit/>
          </a:bodyPr>
          <a:lstStyle/>
          <a:p>
            <a:pPr algn="l" indent="0" marL="0">
              <a:buNone/>
            </a:pPr>
            <a:r>
              <a:rPr lang="en-US" sz="1220" b="1" dirty="0">
                <a:solidFill>
                  <a:srgbClr val="18212F"/>
                </a:solidFill>
              </a:rPr>
              <a:t>Result to Values</a:t>
            </a:r>
            <a:endParaRPr lang="en-US" sz="1220" dirty="0"/>
          </a:p>
        </p:txBody>
      </p:sp>
      <p:sp>
        <p:nvSpPr>
          <p:cNvPr id="52" name="Shape 50"/>
          <p:cNvSpPr/>
          <p:nvPr/>
        </p:nvSpPr>
        <p:spPr>
          <a:xfrm>
            <a:off x="2624328" y="5513832"/>
            <a:ext cx="3520440" cy="429768"/>
          </a:xfrm>
          <a:prstGeom prst="rect">
            <a:avLst/>
          </a:prstGeom>
          <a:solidFill>
            <a:srgbClr val="FFFFFF"/>
          </a:solidFill>
          <a:ln w="5715">
            <a:solidFill>
              <a:srgbClr val="F7F8FA"/>
            </a:solidFill>
            <a:prstDash val="solid"/>
          </a:ln>
        </p:spPr>
      </p:sp>
      <p:sp>
        <p:nvSpPr>
          <p:cNvPr id="53" name="Text 51"/>
          <p:cNvSpPr/>
          <p:nvPr/>
        </p:nvSpPr>
        <p:spPr>
          <a:xfrm>
            <a:off x="2688336" y="5600700"/>
            <a:ext cx="339242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CPU reconstruction and merge</a:t>
            </a:r>
            <a:endParaRPr lang="en-US" sz="1220" dirty="0"/>
          </a:p>
        </p:txBody>
      </p:sp>
      <p:sp>
        <p:nvSpPr>
          <p:cNvPr id="54" name="Shape 52"/>
          <p:cNvSpPr/>
          <p:nvPr/>
        </p:nvSpPr>
        <p:spPr>
          <a:xfrm>
            <a:off x="6144768" y="5513832"/>
            <a:ext cx="5394960" cy="429768"/>
          </a:xfrm>
          <a:prstGeom prst="rect">
            <a:avLst/>
          </a:prstGeom>
          <a:solidFill>
            <a:srgbClr val="FFFFFF"/>
          </a:solidFill>
          <a:ln w="5715">
            <a:solidFill>
              <a:srgbClr val="F7F8FA"/>
            </a:solidFill>
            <a:prstDash val="solid"/>
          </a:ln>
        </p:spPr>
      </p:sp>
      <p:sp>
        <p:nvSpPr>
          <p:cNvPr id="55" name="Text 53"/>
          <p:cNvSpPr/>
          <p:nvPr/>
        </p:nvSpPr>
        <p:spPr>
          <a:xfrm>
            <a:off x="6208776" y="5600700"/>
            <a:ext cx="5266944" cy="292608"/>
          </a:xfrm>
          <a:prstGeom prst="rect">
            <a:avLst/>
          </a:prstGeom>
          <a:noFill/>
          <a:ln/>
        </p:spPr>
        <p:txBody>
          <a:bodyPr wrap="square" lIns="0" tIns="0" rIns="0" bIns="0" rtlCol="0" anchor="ctr">
            <a:normAutofit/>
          </a:bodyPr>
          <a:lstStyle/>
          <a:p>
            <a:pPr algn="l" indent="0" marL="0">
              <a:buNone/>
            </a:pPr>
            <a:r>
              <a:rPr lang="en-US" sz="1220" dirty="0">
                <a:solidFill>
                  <a:srgbClr val="18212F"/>
                </a:solidFill>
              </a:rPr>
              <a:t>Object/state handling is included in end-to-end time.</a:t>
            </a:r>
            <a:endParaRPr lang="en-US" sz="1220" dirty="0"/>
          </a:p>
        </p:txBody>
      </p:sp>
      <p:sp>
        <p:nvSpPr>
          <p:cNvPr id="56" name="Text 54"/>
          <p:cNvSpPr/>
          <p:nvPr/>
        </p:nvSpPr>
        <p:spPr>
          <a:xfrm>
            <a:off x="658368" y="6053328"/>
            <a:ext cx="8138160" cy="237744"/>
          </a:xfrm>
          <a:prstGeom prst="rect">
            <a:avLst/>
          </a:prstGeom>
          <a:noFill/>
          <a:ln/>
        </p:spPr>
        <p:txBody>
          <a:bodyPr wrap="square" lIns="0" tIns="0" rIns="0" bIns="0" rtlCol="0" anchor="ctr">
            <a:normAutofit/>
          </a:bodyPr>
          <a:lstStyle/>
          <a:p>
            <a:pPr indent="0" marL="0">
              <a:buNone/>
            </a:pPr>
            <a:r>
              <a:rPr lang="en-US" sz="1600" b="1" dirty="0">
                <a:solidFill>
                  <a:srgbClr val="0E7C86"/>
                </a:solidFill>
              </a:rPr>
              <a:t>Framing: this profile measures an integration path, not only GPU kernel time.</a:t>
            </a:r>
            <a:endParaRPr lang="en-US" sz="1600" dirty="0"/>
          </a:p>
        </p:txBody>
      </p:sp>
      <p:sp>
        <p:nvSpPr>
          <p:cNvPr id="57" name="Text 55"/>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Whole graph API: 0.426 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scope: warm-up excluded, mean of 3 runs.</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658368" y="1207008"/>
            <a:ext cx="2743200" cy="978408"/>
          </a:xfrm>
          <a:prstGeom prst="rect">
            <a:avLst/>
          </a:prstGeom>
          <a:solidFill>
            <a:srgbClr val="FFFFFF"/>
          </a:solidFill>
          <a:ln w="9525">
            <a:solidFill>
              <a:srgbClr val="E7EBF0"/>
            </a:solidFill>
            <a:prstDash val="solid"/>
          </a:ln>
        </p:spPr>
      </p:sp>
      <p:sp>
        <p:nvSpPr>
          <p:cNvPr id="8" name="Shape 6"/>
          <p:cNvSpPr/>
          <p:nvPr/>
        </p:nvSpPr>
        <p:spPr>
          <a:xfrm>
            <a:off x="658368" y="1207008"/>
            <a:ext cx="64008" cy="978408"/>
          </a:xfrm>
          <a:prstGeom prst="rect">
            <a:avLst/>
          </a:prstGeom>
          <a:solidFill>
            <a:srgbClr val="1F2A44"/>
          </a:solidFill>
          <a:ln w="12700">
            <a:solidFill>
              <a:srgbClr val="1F2A44"/>
            </a:solidFill>
            <a:prstDash val="solid"/>
          </a:ln>
        </p:spPr>
      </p:sp>
      <p:sp>
        <p:nvSpPr>
          <p:cNvPr id="9" name="Text 7"/>
          <p:cNvSpPr/>
          <p:nvPr/>
        </p:nvSpPr>
        <p:spPr>
          <a:xfrm>
            <a:off x="841248" y="1325880"/>
            <a:ext cx="2432304" cy="310896"/>
          </a:xfrm>
          <a:prstGeom prst="rect">
            <a:avLst/>
          </a:prstGeom>
          <a:noFill/>
          <a:ln/>
        </p:spPr>
        <p:txBody>
          <a:bodyPr wrap="square" lIns="0" tIns="0" rIns="0" bIns="0" rtlCol="0" anchor="ctr">
            <a:normAutofit/>
          </a:bodyPr>
          <a:lstStyle/>
          <a:p>
            <a:pPr indent="0" marL="0">
              <a:buNone/>
            </a:pPr>
            <a:r>
              <a:rPr lang="en-US" sz="2500" b="1" dirty="0">
                <a:solidFill>
                  <a:srgbClr val="1F2A44"/>
                </a:solidFill>
              </a:rPr>
              <a:t>426.223 ms</a:t>
            </a:r>
            <a:endParaRPr lang="en-US" sz="2500" dirty="0"/>
          </a:p>
        </p:txBody>
      </p:sp>
      <p:sp>
        <p:nvSpPr>
          <p:cNvPr id="10" name="Text 8"/>
          <p:cNvSpPr/>
          <p:nvPr/>
        </p:nvSpPr>
        <p:spPr>
          <a:xfrm>
            <a:off x="841248" y="1728216"/>
            <a:ext cx="243230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Graph API total</a:t>
            </a:r>
            <a:endParaRPr lang="en-US" sz="1350" dirty="0"/>
          </a:p>
        </p:txBody>
      </p:sp>
      <p:sp>
        <p:nvSpPr>
          <p:cNvPr id="11" name="Text 9"/>
          <p:cNvSpPr/>
          <p:nvPr/>
        </p:nvSpPr>
        <p:spPr>
          <a:xfrm>
            <a:off x="841248" y="1947672"/>
            <a:ext cx="243230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optimizer + optimize + result/error</a:t>
            </a:r>
            <a:endParaRPr lang="en-US" sz="1050" dirty="0"/>
          </a:p>
        </p:txBody>
      </p:sp>
      <p:sp>
        <p:nvSpPr>
          <p:cNvPr id="12" name="Text 10"/>
          <p:cNvSpPr/>
          <p:nvPr/>
        </p:nvSpPr>
        <p:spPr>
          <a:xfrm>
            <a:off x="3749040" y="1408176"/>
            <a:ext cx="7040880" cy="292608"/>
          </a:xfrm>
          <a:prstGeom prst="rect">
            <a:avLst/>
          </a:prstGeom>
          <a:noFill/>
          <a:ln/>
        </p:spPr>
        <p:txBody>
          <a:bodyPr wrap="square" lIns="0" tIns="0" rIns="0" bIns="0" rtlCol="0" anchor="ctr">
            <a:normAutofit/>
          </a:bodyPr>
          <a:lstStyle/>
          <a:p>
            <a:pPr indent="0" marL="0">
              <a:buNone/>
            </a:pPr>
            <a:r>
              <a:rPr lang="en-US" sz="1700" b="1" dirty="0">
                <a:solidFill>
                  <a:srgbClr val="18212F"/>
                </a:solidFill>
              </a:rPr>
              <a:t>The API denominator includes construction and final result/error queries, not just optimize().</a:t>
            </a:r>
            <a:endParaRPr lang="en-US" sz="1700" dirty="0"/>
          </a:p>
        </p:txBody>
      </p:sp>
      <p:sp>
        <p:nvSpPr>
          <p:cNvPr id="13" name="Shape 11"/>
          <p:cNvSpPr/>
          <p:nvPr/>
        </p:nvSpPr>
        <p:spPr>
          <a:xfrm>
            <a:off x="658368" y="2240280"/>
            <a:ext cx="924253" cy="566928"/>
          </a:xfrm>
          <a:prstGeom prst="rect">
            <a:avLst/>
          </a:prstGeom>
          <a:solidFill>
            <a:srgbClr val="3E74B8"/>
          </a:solidFill>
          <a:ln w="8890">
            <a:solidFill>
              <a:srgbClr val="FFFFFF"/>
            </a:solidFill>
            <a:prstDash val="solid"/>
          </a:ln>
        </p:spPr>
      </p:sp>
      <p:sp>
        <p:nvSpPr>
          <p:cNvPr id="14" name="Text 12"/>
          <p:cNvSpPr/>
          <p:nvPr/>
        </p:nvSpPr>
        <p:spPr>
          <a:xfrm>
            <a:off x="713232" y="2432304"/>
            <a:ext cx="814525"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8.5%</a:t>
            </a:r>
            <a:endParaRPr lang="en-US" sz="1100" dirty="0"/>
          </a:p>
        </p:txBody>
      </p:sp>
      <p:sp>
        <p:nvSpPr>
          <p:cNvPr id="15" name="Shape 13"/>
          <p:cNvSpPr/>
          <p:nvPr/>
        </p:nvSpPr>
        <p:spPr>
          <a:xfrm>
            <a:off x="1582621" y="2240280"/>
            <a:ext cx="9604082" cy="566928"/>
          </a:xfrm>
          <a:prstGeom prst="rect">
            <a:avLst/>
          </a:prstGeom>
          <a:solidFill>
            <a:srgbClr val="0E7C86"/>
          </a:solidFill>
          <a:ln w="8890">
            <a:solidFill>
              <a:srgbClr val="FFFFFF"/>
            </a:solidFill>
            <a:prstDash val="solid"/>
          </a:ln>
        </p:spPr>
      </p:sp>
      <p:sp>
        <p:nvSpPr>
          <p:cNvPr id="16" name="Text 14"/>
          <p:cNvSpPr/>
          <p:nvPr/>
        </p:nvSpPr>
        <p:spPr>
          <a:xfrm>
            <a:off x="1637485" y="2432304"/>
            <a:ext cx="9494354"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88.3%</a:t>
            </a:r>
            <a:endParaRPr lang="en-US" sz="1100" dirty="0"/>
          </a:p>
        </p:txBody>
      </p:sp>
      <p:sp>
        <p:nvSpPr>
          <p:cNvPr id="17" name="Shape 15"/>
          <p:cNvSpPr/>
          <p:nvPr/>
        </p:nvSpPr>
        <p:spPr>
          <a:xfrm>
            <a:off x="11186703" y="2240280"/>
            <a:ext cx="353025" cy="566928"/>
          </a:xfrm>
          <a:prstGeom prst="rect">
            <a:avLst/>
          </a:prstGeom>
          <a:solidFill>
            <a:srgbClr val="F2A23A"/>
          </a:solidFill>
          <a:ln w="8890">
            <a:solidFill>
              <a:srgbClr val="FFFFFF"/>
            </a:solidFill>
            <a:prstDash val="solid"/>
          </a:ln>
        </p:spPr>
      </p:sp>
      <p:sp>
        <p:nvSpPr>
          <p:cNvPr id="18" name="Shape 16"/>
          <p:cNvSpPr/>
          <p:nvPr/>
        </p:nvSpPr>
        <p:spPr>
          <a:xfrm>
            <a:off x="658368" y="3049524"/>
            <a:ext cx="128016" cy="128016"/>
          </a:xfrm>
          <a:prstGeom prst="rect">
            <a:avLst/>
          </a:prstGeom>
          <a:solidFill>
            <a:srgbClr val="3E74B8"/>
          </a:solidFill>
          <a:ln w="12700">
            <a:solidFill>
              <a:srgbClr val="3E74B8"/>
            </a:solidFill>
            <a:prstDash val="solid"/>
          </a:ln>
        </p:spPr>
      </p:sp>
      <p:sp>
        <p:nvSpPr>
          <p:cNvPr id="19" name="Text 17"/>
          <p:cNvSpPr/>
          <p:nvPr/>
        </p:nvSpPr>
        <p:spPr>
          <a:xfrm>
            <a:off x="859536" y="2999232"/>
            <a:ext cx="568756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Optimizer construction 36.203 ms (8.49%)</a:t>
            </a:r>
            <a:endParaRPr lang="en-US" sz="1150" dirty="0"/>
          </a:p>
        </p:txBody>
      </p:sp>
      <p:sp>
        <p:nvSpPr>
          <p:cNvPr id="20" name="Shape 18"/>
          <p:cNvSpPr/>
          <p:nvPr/>
        </p:nvSpPr>
        <p:spPr>
          <a:xfrm>
            <a:off x="658368" y="3360420"/>
            <a:ext cx="128016" cy="128016"/>
          </a:xfrm>
          <a:prstGeom prst="rect">
            <a:avLst/>
          </a:prstGeom>
          <a:solidFill>
            <a:srgbClr val="0E7C86"/>
          </a:solidFill>
          <a:ln w="12700">
            <a:solidFill>
              <a:srgbClr val="0E7C86"/>
            </a:solidFill>
            <a:prstDash val="solid"/>
          </a:ln>
        </p:spPr>
      </p:sp>
      <p:sp>
        <p:nvSpPr>
          <p:cNvPr id="21" name="Text 19"/>
          <p:cNvSpPr/>
          <p:nvPr/>
        </p:nvSpPr>
        <p:spPr>
          <a:xfrm>
            <a:off x="859536" y="3310128"/>
            <a:ext cx="568756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optimize() 376.192 ms (88.26%)</a:t>
            </a:r>
            <a:endParaRPr lang="en-US" sz="1150" dirty="0"/>
          </a:p>
        </p:txBody>
      </p:sp>
      <p:sp>
        <p:nvSpPr>
          <p:cNvPr id="22" name="Shape 20"/>
          <p:cNvSpPr/>
          <p:nvPr/>
        </p:nvSpPr>
        <p:spPr>
          <a:xfrm>
            <a:off x="658368" y="3671316"/>
            <a:ext cx="128016" cy="128016"/>
          </a:xfrm>
          <a:prstGeom prst="rect">
            <a:avLst/>
          </a:prstGeom>
          <a:solidFill>
            <a:srgbClr val="F2A23A"/>
          </a:solidFill>
          <a:ln w="12700">
            <a:solidFill>
              <a:srgbClr val="F2A23A"/>
            </a:solidFill>
            <a:prstDash val="solid"/>
          </a:ln>
        </p:spPr>
      </p:sp>
      <p:sp>
        <p:nvSpPr>
          <p:cNvPr id="23" name="Text 21"/>
          <p:cNvSpPr/>
          <p:nvPr/>
        </p:nvSpPr>
        <p:spPr>
          <a:xfrm>
            <a:off x="859536" y="3621024"/>
            <a:ext cx="568756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Result/error queries 13.828 ms (3.24%)</a:t>
            </a:r>
            <a:endParaRPr lang="en-US" sz="1150" dirty="0"/>
          </a:p>
        </p:txBody>
      </p:sp>
      <p:sp>
        <p:nvSpPr>
          <p:cNvPr id="24" name="Shape 22"/>
          <p:cNvSpPr/>
          <p:nvPr/>
        </p:nvSpPr>
        <p:spPr>
          <a:xfrm>
            <a:off x="658368" y="4023360"/>
            <a:ext cx="4206240" cy="457200"/>
          </a:xfrm>
          <a:prstGeom prst="rect">
            <a:avLst/>
          </a:prstGeom>
          <a:solidFill>
            <a:srgbClr val="1F2A44"/>
          </a:solidFill>
          <a:ln w="5715">
            <a:solidFill>
              <a:srgbClr val="F7F8FA"/>
            </a:solidFill>
            <a:prstDash val="solid"/>
          </a:ln>
        </p:spPr>
      </p:sp>
      <p:sp>
        <p:nvSpPr>
          <p:cNvPr id="25" name="Text 23"/>
          <p:cNvSpPr/>
          <p:nvPr/>
        </p:nvSpPr>
        <p:spPr>
          <a:xfrm>
            <a:off x="722376" y="41102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FFFFFF"/>
                </a:solidFill>
              </a:rPr>
              <a:t>Component</a:t>
            </a:r>
            <a:endParaRPr lang="en-US" sz="1400" dirty="0"/>
          </a:p>
        </p:txBody>
      </p:sp>
      <p:sp>
        <p:nvSpPr>
          <p:cNvPr id="26" name="Shape 24"/>
          <p:cNvSpPr/>
          <p:nvPr/>
        </p:nvSpPr>
        <p:spPr>
          <a:xfrm>
            <a:off x="4864608" y="4023360"/>
            <a:ext cx="1828800" cy="457200"/>
          </a:xfrm>
          <a:prstGeom prst="rect">
            <a:avLst/>
          </a:prstGeom>
          <a:solidFill>
            <a:srgbClr val="1F2A44"/>
          </a:solidFill>
          <a:ln w="5715">
            <a:solidFill>
              <a:srgbClr val="F7F8FA"/>
            </a:solidFill>
            <a:prstDash val="solid"/>
          </a:ln>
        </p:spPr>
      </p:sp>
      <p:sp>
        <p:nvSpPr>
          <p:cNvPr id="27" name="Text 25"/>
          <p:cNvSpPr/>
          <p:nvPr/>
        </p:nvSpPr>
        <p:spPr>
          <a:xfrm>
            <a:off x="4928616" y="4110228"/>
            <a:ext cx="1700784" cy="320040"/>
          </a:xfrm>
          <a:prstGeom prst="rect">
            <a:avLst/>
          </a:prstGeom>
          <a:noFill/>
          <a:ln/>
        </p:spPr>
        <p:txBody>
          <a:bodyPr wrap="square" lIns="0" tIns="0" rIns="0" bIns="0" rtlCol="0" anchor="ctr">
            <a:normAutofit/>
          </a:bodyPr>
          <a:lstStyle/>
          <a:p>
            <a:pPr algn="r" indent="0" marL="0">
              <a:buNone/>
            </a:pPr>
            <a:r>
              <a:rPr lang="en-US" sz="1400" b="1" dirty="0">
                <a:solidFill>
                  <a:srgbClr val="FFFFFF"/>
                </a:solidFill>
              </a:rPr>
              <a:t>Time</a:t>
            </a:r>
            <a:endParaRPr lang="en-US" sz="1400" dirty="0"/>
          </a:p>
        </p:txBody>
      </p:sp>
      <p:sp>
        <p:nvSpPr>
          <p:cNvPr id="28" name="Shape 26"/>
          <p:cNvSpPr/>
          <p:nvPr/>
        </p:nvSpPr>
        <p:spPr>
          <a:xfrm>
            <a:off x="6693408" y="4023360"/>
            <a:ext cx="1828800" cy="457200"/>
          </a:xfrm>
          <a:prstGeom prst="rect">
            <a:avLst/>
          </a:prstGeom>
          <a:solidFill>
            <a:srgbClr val="1F2A44"/>
          </a:solidFill>
          <a:ln w="5715">
            <a:solidFill>
              <a:srgbClr val="F7F8FA"/>
            </a:solidFill>
            <a:prstDash val="solid"/>
          </a:ln>
        </p:spPr>
      </p:sp>
      <p:sp>
        <p:nvSpPr>
          <p:cNvPr id="29" name="Text 27"/>
          <p:cNvSpPr/>
          <p:nvPr/>
        </p:nvSpPr>
        <p:spPr>
          <a:xfrm>
            <a:off x="6757416" y="4110228"/>
            <a:ext cx="1700784" cy="320040"/>
          </a:xfrm>
          <a:prstGeom prst="rect">
            <a:avLst/>
          </a:prstGeom>
          <a:noFill/>
          <a:ln/>
        </p:spPr>
        <p:txBody>
          <a:bodyPr wrap="square" lIns="0" tIns="0" rIns="0" bIns="0" rtlCol="0" anchor="ctr">
            <a:normAutofit/>
          </a:bodyPr>
          <a:lstStyle/>
          <a:p>
            <a:pPr algn="r" indent="0" marL="0">
              <a:buNone/>
            </a:pPr>
            <a:r>
              <a:rPr lang="en-US" sz="1400" b="1" dirty="0">
                <a:solidFill>
                  <a:srgbClr val="FFFFFF"/>
                </a:solidFill>
              </a:rPr>
              <a:t>% of graph API</a:t>
            </a:r>
            <a:endParaRPr lang="en-US" sz="1400" dirty="0"/>
          </a:p>
        </p:txBody>
      </p:sp>
      <p:sp>
        <p:nvSpPr>
          <p:cNvPr id="30" name="Shape 28"/>
          <p:cNvSpPr/>
          <p:nvPr/>
        </p:nvSpPr>
        <p:spPr>
          <a:xfrm>
            <a:off x="658368" y="4480560"/>
            <a:ext cx="4206240" cy="457200"/>
          </a:xfrm>
          <a:prstGeom prst="rect">
            <a:avLst/>
          </a:prstGeom>
          <a:solidFill>
            <a:srgbClr val="FFFFFF"/>
          </a:solidFill>
          <a:ln w="5715">
            <a:solidFill>
              <a:srgbClr val="F7F8FA"/>
            </a:solidFill>
            <a:prstDash val="solid"/>
          </a:ln>
        </p:spPr>
      </p:sp>
      <p:sp>
        <p:nvSpPr>
          <p:cNvPr id="31" name="Text 29"/>
          <p:cNvSpPr/>
          <p:nvPr/>
        </p:nvSpPr>
        <p:spPr>
          <a:xfrm>
            <a:off x="722376" y="45674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18212F"/>
                </a:solidFill>
              </a:rPr>
              <a:t>Optimizer construction</a:t>
            </a:r>
            <a:endParaRPr lang="en-US" sz="1400" dirty="0"/>
          </a:p>
        </p:txBody>
      </p:sp>
      <p:sp>
        <p:nvSpPr>
          <p:cNvPr id="32" name="Shape 30"/>
          <p:cNvSpPr/>
          <p:nvPr/>
        </p:nvSpPr>
        <p:spPr>
          <a:xfrm>
            <a:off x="4864608" y="4480560"/>
            <a:ext cx="1828800" cy="457200"/>
          </a:xfrm>
          <a:prstGeom prst="rect">
            <a:avLst/>
          </a:prstGeom>
          <a:solidFill>
            <a:srgbClr val="FFFFFF"/>
          </a:solidFill>
          <a:ln w="5715">
            <a:solidFill>
              <a:srgbClr val="F7F8FA"/>
            </a:solidFill>
            <a:prstDash val="solid"/>
          </a:ln>
        </p:spPr>
      </p:sp>
      <p:sp>
        <p:nvSpPr>
          <p:cNvPr id="33" name="Text 31"/>
          <p:cNvSpPr/>
          <p:nvPr/>
        </p:nvSpPr>
        <p:spPr>
          <a:xfrm>
            <a:off x="4928616" y="45674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36.203 ms</a:t>
            </a:r>
            <a:endParaRPr lang="en-US" sz="1400" dirty="0"/>
          </a:p>
        </p:txBody>
      </p:sp>
      <p:sp>
        <p:nvSpPr>
          <p:cNvPr id="34" name="Shape 32"/>
          <p:cNvSpPr/>
          <p:nvPr/>
        </p:nvSpPr>
        <p:spPr>
          <a:xfrm>
            <a:off x="6693408" y="4480560"/>
            <a:ext cx="1828800" cy="457200"/>
          </a:xfrm>
          <a:prstGeom prst="rect">
            <a:avLst/>
          </a:prstGeom>
          <a:solidFill>
            <a:srgbClr val="FFFFFF"/>
          </a:solidFill>
          <a:ln w="5715">
            <a:solidFill>
              <a:srgbClr val="F7F8FA"/>
            </a:solidFill>
            <a:prstDash val="solid"/>
          </a:ln>
        </p:spPr>
      </p:sp>
      <p:sp>
        <p:nvSpPr>
          <p:cNvPr id="35" name="Text 33"/>
          <p:cNvSpPr/>
          <p:nvPr/>
        </p:nvSpPr>
        <p:spPr>
          <a:xfrm>
            <a:off x="6757416" y="45674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8.49%</a:t>
            </a:r>
            <a:endParaRPr lang="en-US" sz="1400" dirty="0"/>
          </a:p>
        </p:txBody>
      </p:sp>
      <p:sp>
        <p:nvSpPr>
          <p:cNvPr id="36" name="Shape 34"/>
          <p:cNvSpPr/>
          <p:nvPr/>
        </p:nvSpPr>
        <p:spPr>
          <a:xfrm>
            <a:off x="658368" y="4937760"/>
            <a:ext cx="4206240" cy="457200"/>
          </a:xfrm>
          <a:prstGeom prst="rect">
            <a:avLst/>
          </a:prstGeom>
          <a:solidFill>
            <a:srgbClr val="F0F4F7"/>
          </a:solidFill>
          <a:ln w="5715">
            <a:solidFill>
              <a:srgbClr val="F7F8FA"/>
            </a:solidFill>
            <a:prstDash val="solid"/>
          </a:ln>
        </p:spPr>
      </p:sp>
      <p:sp>
        <p:nvSpPr>
          <p:cNvPr id="37" name="Text 35"/>
          <p:cNvSpPr/>
          <p:nvPr/>
        </p:nvSpPr>
        <p:spPr>
          <a:xfrm>
            <a:off x="722376" y="50246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18212F"/>
                </a:solidFill>
              </a:rPr>
              <a:t>optimize()</a:t>
            </a:r>
            <a:endParaRPr lang="en-US" sz="1400" dirty="0"/>
          </a:p>
        </p:txBody>
      </p:sp>
      <p:sp>
        <p:nvSpPr>
          <p:cNvPr id="38" name="Shape 36"/>
          <p:cNvSpPr/>
          <p:nvPr/>
        </p:nvSpPr>
        <p:spPr>
          <a:xfrm>
            <a:off x="4864608" y="4937760"/>
            <a:ext cx="1828800" cy="457200"/>
          </a:xfrm>
          <a:prstGeom prst="rect">
            <a:avLst/>
          </a:prstGeom>
          <a:solidFill>
            <a:srgbClr val="F0F4F7"/>
          </a:solidFill>
          <a:ln w="5715">
            <a:solidFill>
              <a:srgbClr val="F7F8FA"/>
            </a:solidFill>
            <a:prstDash val="solid"/>
          </a:ln>
        </p:spPr>
      </p:sp>
      <p:sp>
        <p:nvSpPr>
          <p:cNvPr id="39" name="Text 37"/>
          <p:cNvSpPr/>
          <p:nvPr/>
        </p:nvSpPr>
        <p:spPr>
          <a:xfrm>
            <a:off x="4928616" y="50246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376.192 ms</a:t>
            </a:r>
            <a:endParaRPr lang="en-US" sz="1400" dirty="0"/>
          </a:p>
        </p:txBody>
      </p:sp>
      <p:sp>
        <p:nvSpPr>
          <p:cNvPr id="40" name="Shape 38"/>
          <p:cNvSpPr/>
          <p:nvPr/>
        </p:nvSpPr>
        <p:spPr>
          <a:xfrm>
            <a:off x="6693408" y="4937760"/>
            <a:ext cx="1828800" cy="457200"/>
          </a:xfrm>
          <a:prstGeom prst="rect">
            <a:avLst/>
          </a:prstGeom>
          <a:solidFill>
            <a:srgbClr val="F0F4F7"/>
          </a:solidFill>
          <a:ln w="5715">
            <a:solidFill>
              <a:srgbClr val="F7F8FA"/>
            </a:solidFill>
            <a:prstDash val="solid"/>
          </a:ln>
        </p:spPr>
      </p:sp>
      <p:sp>
        <p:nvSpPr>
          <p:cNvPr id="41" name="Text 39"/>
          <p:cNvSpPr/>
          <p:nvPr/>
        </p:nvSpPr>
        <p:spPr>
          <a:xfrm>
            <a:off x="6757416" y="50246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88.26%</a:t>
            </a:r>
            <a:endParaRPr lang="en-US" sz="1400" dirty="0"/>
          </a:p>
        </p:txBody>
      </p:sp>
      <p:sp>
        <p:nvSpPr>
          <p:cNvPr id="42" name="Shape 40"/>
          <p:cNvSpPr/>
          <p:nvPr/>
        </p:nvSpPr>
        <p:spPr>
          <a:xfrm>
            <a:off x="658368" y="5394960"/>
            <a:ext cx="4206240" cy="457200"/>
          </a:xfrm>
          <a:prstGeom prst="rect">
            <a:avLst/>
          </a:prstGeom>
          <a:solidFill>
            <a:srgbClr val="FFFFFF"/>
          </a:solidFill>
          <a:ln w="5715">
            <a:solidFill>
              <a:srgbClr val="F7F8FA"/>
            </a:solidFill>
            <a:prstDash val="solid"/>
          </a:ln>
        </p:spPr>
      </p:sp>
      <p:sp>
        <p:nvSpPr>
          <p:cNvPr id="43" name="Text 41"/>
          <p:cNvSpPr/>
          <p:nvPr/>
        </p:nvSpPr>
        <p:spPr>
          <a:xfrm>
            <a:off x="722376" y="5481828"/>
            <a:ext cx="4078224" cy="320040"/>
          </a:xfrm>
          <a:prstGeom prst="rect">
            <a:avLst/>
          </a:prstGeom>
          <a:noFill/>
          <a:ln/>
        </p:spPr>
        <p:txBody>
          <a:bodyPr wrap="square" lIns="0" tIns="0" rIns="0" bIns="0" rtlCol="0" anchor="ctr">
            <a:normAutofit/>
          </a:bodyPr>
          <a:lstStyle/>
          <a:p>
            <a:pPr algn="l" indent="0" marL="0">
              <a:buNone/>
            </a:pPr>
            <a:r>
              <a:rPr lang="en-US" sz="1400" b="1" dirty="0">
                <a:solidFill>
                  <a:srgbClr val="18212F"/>
                </a:solidFill>
              </a:rPr>
              <a:t>Result/error queries</a:t>
            </a:r>
            <a:endParaRPr lang="en-US" sz="1400" dirty="0"/>
          </a:p>
        </p:txBody>
      </p:sp>
      <p:sp>
        <p:nvSpPr>
          <p:cNvPr id="44" name="Shape 42"/>
          <p:cNvSpPr/>
          <p:nvPr/>
        </p:nvSpPr>
        <p:spPr>
          <a:xfrm>
            <a:off x="4864608" y="5394960"/>
            <a:ext cx="1828800" cy="457200"/>
          </a:xfrm>
          <a:prstGeom prst="rect">
            <a:avLst/>
          </a:prstGeom>
          <a:solidFill>
            <a:srgbClr val="FFFFFF"/>
          </a:solidFill>
          <a:ln w="5715">
            <a:solidFill>
              <a:srgbClr val="F7F8FA"/>
            </a:solidFill>
            <a:prstDash val="solid"/>
          </a:ln>
        </p:spPr>
      </p:sp>
      <p:sp>
        <p:nvSpPr>
          <p:cNvPr id="45" name="Text 43"/>
          <p:cNvSpPr/>
          <p:nvPr/>
        </p:nvSpPr>
        <p:spPr>
          <a:xfrm>
            <a:off x="4928616" y="54818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13.828 ms</a:t>
            </a:r>
            <a:endParaRPr lang="en-US" sz="1400" dirty="0"/>
          </a:p>
        </p:txBody>
      </p:sp>
      <p:sp>
        <p:nvSpPr>
          <p:cNvPr id="46" name="Shape 44"/>
          <p:cNvSpPr/>
          <p:nvPr/>
        </p:nvSpPr>
        <p:spPr>
          <a:xfrm>
            <a:off x="6693408" y="5394960"/>
            <a:ext cx="1828800" cy="457200"/>
          </a:xfrm>
          <a:prstGeom prst="rect">
            <a:avLst/>
          </a:prstGeom>
          <a:solidFill>
            <a:srgbClr val="FFFFFF"/>
          </a:solidFill>
          <a:ln w="5715">
            <a:solidFill>
              <a:srgbClr val="F7F8FA"/>
            </a:solidFill>
            <a:prstDash val="solid"/>
          </a:ln>
        </p:spPr>
      </p:sp>
      <p:sp>
        <p:nvSpPr>
          <p:cNvPr id="47" name="Text 45"/>
          <p:cNvSpPr/>
          <p:nvPr/>
        </p:nvSpPr>
        <p:spPr>
          <a:xfrm>
            <a:off x="6757416" y="5481828"/>
            <a:ext cx="1700784" cy="320040"/>
          </a:xfrm>
          <a:prstGeom prst="rect">
            <a:avLst/>
          </a:prstGeom>
          <a:noFill/>
          <a:ln/>
        </p:spPr>
        <p:txBody>
          <a:bodyPr wrap="square" lIns="0" tIns="0" rIns="0" bIns="0" rtlCol="0" anchor="ctr">
            <a:normAutofit/>
          </a:bodyPr>
          <a:lstStyle/>
          <a:p>
            <a:pPr algn="r" indent="0" marL="0">
              <a:buNone/>
            </a:pPr>
            <a:r>
              <a:rPr lang="en-US" sz="1400" dirty="0">
                <a:solidFill>
                  <a:srgbClr val="18212F"/>
                </a:solidFill>
              </a:rPr>
              <a:t>3.24%</a:t>
            </a:r>
            <a:endParaRPr lang="en-US" sz="1400" dirty="0"/>
          </a:p>
        </p:txBody>
      </p:sp>
      <p:sp>
        <p:nvSpPr>
          <p:cNvPr id="48" name="Shape 46"/>
          <p:cNvSpPr/>
          <p:nvPr/>
        </p:nvSpPr>
        <p:spPr>
          <a:xfrm>
            <a:off x="8915400" y="4023360"/>
            <a:ext cx="2514600" cy="1371600"/>
          </a:xfrm>
          <a:prstGeom prst="rect">
            <a:avLst/>
          </a:prstGeom>
          <a:solidFill>
            <a:srgbClr val="EAF6F7"/>
          </a:solidFill>
          <a:ln w="9525">
            <a:solidFill>
              <a:srgbClr val="E7EBF0"/>
            </a:solidFill>
            <a:prstDash val="solid"/>
          </a:ln>
        </p:spPr>
      </p:sp>
      <p:sp>
        <p:nvSpPr>
          <p:cNvPr id="49" name="Shape 47"/>
          <p:cNvSpPr/>
          <p:nvPr/>
        </p:nvSpPr>
        <p:spPr>
          <a:xfrm>
            <a:off x="8915400" y="4023360"/>
            <a:ext cx="64008" cy="1371600"/>
          </a:xfrm>
          <a:prstGeom prst="rect">
            <a:avLst/>
          </a:prstGeom>
          <a:solidFill>
            <a:srgbClr val="0E7C86"/>
          </a:solidFill>
          <a:ln w="12700">
            <a:solidFill>
              <a:srgbClr val="0E7C86"/>
            </a:solidFill>
            <a:prstDash val="solid"/>
          </a:ln>
        </p:spPr>
      </p:sp>
      <p:sp>
        <p:nvSpPr>
          <p:cNvPr id="50" name="Text 48"/>
          <p:cNvSpPr/>
          <p:nvPr/>
        </p:nvSpPr>
        <p:spPr>
          <a:xfrm>
            <a:off x="9144000" y="4261104"/>
            <a:ext cx="2057400" cy="182880"/>
          </a:xfrm>
          <a:prstGeom prst="rect">
            <a:avLst/>
          </a:prstGeom>
          <a:noFill/>
          <a:ln/>
        </p:spPr>
        <p:txBody>
          <a:bodyPr wrap="square" lIns="0" tIns="0" rIns="0" bIns="0" rtlCol="0" anchor="ctr"/>
          <a:lstStyle/>
          <a:p>
            <a:pPr indent="0" marL="0">
              <a:buNone/>
            </a:pPr>
            <a:r>
              <a:rPr lang="en-US" sz="1500" b="1" dirty="0">
                <a:solidFill>
                  <a:srgbClr val="0E7C86"/>
                </a:solidFill>
              </a:rPr>
              <a:t>Scope reminder</a:t>
            </a:r>
            <a:endParaRPr lang="en-US" sz="1500" dirty="0"/>
          </a:p>
        </p:txBody>
      </p:sp>
      <p:sp>
        <p:nvSpPr>
          <p:cNvPr id="51" name="Text 49"/>
          <p:cNvSpPr/>
          <p:nvPr/>
        </p:nvSpPr>
        <p:spPr>
          <a:xfrm>
            <a:off x="9144000" y="4599432"/>
            <a:ext cx="2011680" cy="457200"/>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The following slides unpack the 376.192 ms optimize() call.</a:t>
            </a:r>
            <a:endParaRPr lang="en-US" sz="1500" dirty="0"/>
          </a:p>
        </p:txBody>
      </p:sp>
      <p:sp>
        <p:nvSpPr>
          <p:cNvPr id="52" name="Text 50"/>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3</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Inside optimize(): 0.376 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components. Stacked bar: % of optimize(); table: % of Graph API.</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658368" y="1481328"/>
            <a:ext cx="3304567" cy="530352"/>
          </a:xfrm>
          <a:prstGeom prst="rect">
            <a:avLst/>
          </a:prstGeom>
          <a:solidFill>
            <a:srgbClr val="0E7C86"/>
          </a:solidFill>
          <a:ln w="8890">
            <a:solidFill>
              <a:srgbClr val="FFFFFF"/>
            </a:solidFill>
            <a:prstDash val="solid"/>
          </a:ln>
        </p:spPr>
      </p:sp>
      <p:sp>
        <p:nvSpPr>
          <p:cNvPr id="8" name="Text 6"/>
          <p:cNvSpPr/>
          <p:nvPr/>
        </p:nvSpPr>
        <p:spPr>
          <a:xfrm>
            <a:off x="713232" y="1655064"/>
            <a:ext cx="3194839"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30%</a:t>
            </a:r>
            <a:endParaRPr lang="en-US" sz="1100" dirty="0"/>
          </a:p>
        </p:txBody>
      </p:sp>
      <p:sp>
        <p:nvSpPr>
          <p:cNvPr id="9" name="Shape 7"/>
          <p:cNvSpPr/>
          <p:nvPr/>
        </p:nvSpPr>
        <p:spPr>
          <a:xfrm>
            <a:off x="3962935" y="1481328"/>
            <a:ext cx="3978405" cy="530352"/>
          </a:xfrm>
          <a:prstGeom prst="rect">
            <a:avLst/>
          </a:prstGeom>
          <a:solidFill>
            <a:srgbClr val="46A06F"/>
          </a:solidFill>
          <a:ln w="8890">
            <a:solidFill>
              <a:srgbClr val="FFFFFF"/>
            </a:solidFill>
            <a:prstDash val="solid"/>
          </a:ln>
        </p:spPr>
      </p:sp>
      <p:sp>
        <p:nvSpPr>
          <p:cNvPr id="10" name="Text 8"/>
          <p:cNvSpPr/>
          <p:nvPr/>
        </p:nvSpPr>
        <p:spPr>
          <a:xfrm>
            <a:off x="4017799" y="1655064"/>
            <a:ext cx="3868677"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37%</a:t>
            </a:r>
            <a:endParaRPr lang="en-US" sz="1100" dirty="0"/>
          </a:p>
        </p:txBody>
      </p:sp>
      <p:sp>
        <p:nvSpPr>
          <p:cNvPr id="11" name="Shape 9"/>
          <p:cNvSpPr/>
          <p:nvPr/>
        </p:nvSpPr>
        <p:spPr>
          <a:xfrm>
            <a:off x="7941340" y="1481328"/>
            <a:ext cx="771864" cy="530352"/>
          </a:xfrm>
          <a:prstGeom prst="rect">
            <a:avLst/>
          </a:prstGeom>
          <a:solidFill>
            <a:srgbClr val="3E74B8"/>
          </a:solidFill>
          <a:ln w="8890">
            <a:solidFill>
              <a:srgbClr val="FFFFFF"/>
            </a:solidFill>
            <a:prstDash val="solid"/>
          </a:ln>
        </p:spPr>
      </p:sp>
      <p:sp>
        <p:nvSpPr>
          <p:cNvPr id="12" name="Shape 10"/>
          <p:cNvSpPr/>
          <p:nvPr/>
        </p:nvSpPr>
        <p:spPr>
          <a:xfrm>
            <a:off x="8713204" y="1481328"/>
            <a:ext cx="1951397" cy="530352"/>
          </a:xfrm>
          <a:prstGeom prst="rect">
            <a:avLst/>
          </a:prstGeom>
          <a:solidFill>
            <a:srgbClr val="F2A23A"/>
          </a:solidFill>
          <a:ln w="8890">
            <a:solidFill>
              <a:srgbClr val="FFFFFF"/>
            </a:solidFill>
            <a:prstDash val="solid"/>
          </a:ln>
        </p:spPr>
      </p:sp>
      <p:sp>
        <p:nvSpPr>
          <p:cNvPr id="13" name="Text 11"/>
          <p:cNvSpPr/>
          <p:nvPr/>
        </p:nvSpPr>
        <p:spPr>
          <a:xfrm>
            <a:off x="8768068" y="1655064"/>
            <a:ext cx="1841669"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18%</a:t>
            </a:r>
            <a:endParaRPr lang="en-US" sz="1100" dirty="0"/>
          </a:p>
        </p:txBody>
      </p:sp>
      <p:sp>
        <p:nvSpPr>
          <p:cNvPr id="14" name="Shape 12"/>
          <p:cNvSpPr/>
          <p:nvPr/>
        </p:nvSpPr>
        <p:spPr>
          <a:xfrm>
            <a:off x="10664602" y="1481328"/>
            <a:ext cx="874895" cy="530352"/>
          </a:xfrm>
          <a:prstGeom prst="rect">
            <a:avLst/>
          </a:prstGeom>
          <a:solidFill>
            <a:srgbClr val="D95D54"/>
          </a:solidFill>
          <a:ln w="8890">
            <a:solidFill>
              <a:srgbClr val="FFFFFF"/>
            </a:solidFill>
            <a:prstDash val="solid"/>
          </a:ln>
        </p:spPr>
      </p:sp>
      <p:sp>
        <p:nvSpPr>
          <p:cNvPr id="15" name="Shape 13"/>
          <p:cNvSpPr/>
          <p:nvPr/>
        </p:nvSpPr>
        <p:spPr>
          <a:xfrm>
            <a:off x="11539497" y="1481328"/>
            <a:ext cx="18288" cy="530352"/>
          </a:xfrm>
          <a:prstGeom prst="rect">
            <a:avLst/>
          </a:prstGeom>
          <a:solidFill>
            <a:srgbClr val="5A6472"/>
          </a:solidFill>
          <a:ln w="8890">
            <a:solidFill>
              <a:srgbClr val="FFFFFF"/>
            </a:solidFill>
            <a:prstDash val="solid"/>
          </a:ln>
        </p:spPr>
      </p:sp>
      <p:sp>
        <p:nvSpPr>
          <p:cNvPr id="16" name="Shape 14"/>
          <p:cNvSpPr/>
          <p:nvPr/>
        </p:nvSpPr>
        <p:spPr>
          <a:xfrm>
            <a:off x="658368" y="2290572"/>
            <a:ext cx="128016" cy="128016"/>
          </a:xfrm>
          <a:prstGeom prst="rect">
            <a:avLst/>
          </a:prstGeom>
          <a:solidFill>
            <a:srgbClr val="0E7C86"/>
          </a:solidFill>
          <a:ln w="12700">
            <a:solidFill>
              <a:srgbClr val="0E7C86"/>
            </a:solidFill>
            <a:prstDash val="solid"/>
          </a:ln>
        </p:spPr>
      </p:sp>
      <p:sp>
        <p:nvSpPr>
          <p:cNvPr id="17" name="Text 15"/>
          <p:cNvSpPr/>
          <p:nvPr/>
        </p:nvSpPr>
        <p:spPr>
          <a:xfrm>
            <a:off x="859536" y="2240280"/>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Graph conversion 114.246 ms</a:t>
            </a:r>
            <a:endParaRPr lang="en-US" sz="1150" dirty="0"/>
          </a:p>
        </p:txBody>
      </p:sp>
      <p:sp>
        <p:nvSpPr>
          <p:cNvPr id="18" name="Shape 16"/>
          <p:cNvSpPr/>
          <p:nvPr/>
        </p:nvSpPr>
        <p:spPr>
          <a:xfrm>
            <a:off x="5824728" y="2290572"/>
            <a:ext cx="128016" cy="128016"/>
          </a:xfrm>
          <a:prstGeom prst="rect">
            <a:avLst/>
          </a:prstGeom>
          <a:solidFill>
            <a:srgbClr val="46A06F"/>
          </a:solidFill>
          <a:ln w="12700">
            <a:solidFill>
              <a:srgbClr val="46A06F"/>
            </a:solidFill>
            <a:prstDash val="solid"/>
          </a:ln>
        </p:spPr>
      </p:sp>
      <p:sp>
        <p:nvSpPr>
          <p:cNvPr id="19" name="Text 17"/>
          <p:cNvSpPr/>
          <p:nvPr/>
        </p:nvSpPr>
        <p:spPr>
          <a:xfrm>
            <a:off x="6025896" y="2240280"/>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CUDA backend 137.542 ms</a:t>
            </a:r>
            <a:endParaRPr lang="en-US" sz="1150" dirty="0"/>
          </a:p>
        </p:txBody>
      </p:sp>
      <p:sp>
        <p:nvSpPr>
          <p:cNvPr id="20" name="Shape 18"/>
          <p:cNvSpPr/>
          <p:nvPr/>
        </p:nvSpPr>
        <p:spPr>
          <a:xfrm>
            <a:off x="658368" y="2601468"/>
            <a:ext cx="128016" cy="128016"/>
          </a:xfrm>
          <a:prstGeom prst="rect">
            <a:avLst/>
          </a:prstGeom>
          <a:solidFill>
            <a:srgbClr val="3E74B8"/>
          </a:solidFill>
          <a:ln w="12700">
            <a:solidFill>
              <a:srgbClr val="3E74B8"/>
            </a:solidFill>
            <a:prstDash val="solid"/>
          </a:ln>
        </p:spPr>
      </p:sp>
      <p:sp>
        <p:nvSpPr>
          <p:cNvPr id="21" name="Text 19"/>
          <p:cNvSpPr/>
          <p:nvPr/>
        </p:nvSpPr>
        <p:spPr>
          <a:xfrm>
            <a:off x="859536" y="2551176"/>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Backend return / assignment 26.685 ms</a:t>
            </a:r>
            <a:endParaRPr lang="en-US" sz="1150" dirty="0"/>
          </a:p>
        </p:txBody>
      </p:sp>
      <p:sp>
        <p:nvSpPr>
          <p:cNvPr id="22" name="Shape 20"/>
          <p:cNvSpPr/>
          <p:nvPr/>
        </p:nvSpPr>
        <p:spPr>
          <a:xfrm>
            <a:off x="5824728" y="2601468"/>
            <a:ext cx="128016" cy="128016"/>
          </a:xfrm>
          <a:prstGeom prst="rect">
            <a:avLst/>
          </a:prstGeom>
          <a:solidFill>
            <a:srgbClr val="F2A23A"/>
          </a:solidFill>
          <a:ln w="12700">
            <a:solidFill>
              <a:srgbClr val="F2A23A"/>
            </a:solidFill>
            <a:prstDash val="solid"/>
          </a:ln>
        </p:spPr>
      </p:sp>
      <p:sp>
        <p:nvSpPr>
          <p:cNvPr id="23" name="Text 21"/>
          <p:cNvSpPr/>
          <p:nvPr/>
        </p:nvSpPr>
        <p:spPr>
          <a:xfrm>
            <a:off x="6025896" y="2551176"/>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Values merge / state update 67.464 ms</a:t>
            </a:r>
            <a:endParaRPr lang="en-US" sz="1150" dirty="0"/>
          </a:p>
        </p:txBody>
      </p:sp>
      <p:sp>
        <p:nvSpPr>
          <p:cNvPr id="24" name="Shape 22"/>
          <p:cNvSpPr/>
          <p:nvPr/>
        </p:nvSpPr>
        <p:spPr>
          <a:xfrm>
            <a:off x="658368" y="2912364"/>
            <a:ext cx="128016" cy="128016"/>
          </a:xfrm>
          <a:prstGeom prst="rect">
            <a:avLst/>
          </a:prstGeom>
          <a:solidFill>
            <a:srgbClr val="D95D54"/>
          </a:solidFill>
          <a:ln w="12700">
            <a:solidFill>
              <a:srgbClr val="D95D54"/>
            </a:solidFill>
            <a:prstDash val="solid"/>
          </a:ln>
        </p:spPr>
      </p:sp>
      <p:sp>
        <p:nvSpPr>
          <p:cNvPr id="25" name="Text 23"/>
          <p:cNvSpPr/>
          <p:nvPr/>
        </p:nvSpPr>
        <p:spPr>
          <a:xfrm>
            <a:off x="859536" y="2862072"/>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Converted-data destruction 30.247 ms</a:t>
            </a:r>
            <a:endParaRPr lang="en-US" sz="1150" dirty="0"/>
          </a:p>
        </p:txBody>
      </p:sp>
      <p:sp>
        <p:nvSpPr>
          <p:cNvPr id="26" name="Shape 24"/>
          <p:cNvSpPr/>
          <p:nvPr/>
        </p:nvSpPr>
        <p:spPr>
          <a:xfrm>
            <a:off x="5824728" y="2912364"/>
            <a:ext cx="128016" cy="128016"/>
          </a:xfrm>
          <a:prstGeom prst="rect">
            <a:avLst/>
          </a:prstGeom>
          <a:solidFill>
            <a:srgbClr val="5A6472"/>
          </a:solidFill>
          <a:ln w="12700">
            <a:solidFill>
              <a:srgbClr val="5A6472"/>
            </a:solidFill>
            <a:prstDash val="solid"/>
          </a:ln>
        </p:spPr>
      </p:sp>
      <p:sp>
        <p:nvSpPr>
          <p:cNvPr id="27" name="Text 25"/>
          <p:cNvSpPr/>
          <p:nvPr/>
        </p:nvSpPr>
        <p:spPr>
          <a:xfrm>
            <a:off x="6025896" y="2862072"/>
            <a:ext cx="4910328" cy="192024"/>
          </a:xfrm>
          <a:prstGeom prst="rect">
            <a:avLst/>
          </a:prstGeom>
          <a:noFill/>
          <a:ln/>
        </p:spPr>
        <p:txBody>
          <a:bodyPr wrap="square" lIns="0" tIns="0" rIns="0" bIns="0" rtlCol="0" anchor="ctr">
            <a:normAutofit/>
          </a:bodyPr>
          <a:lstStyle/>
          <a:p>
            <a:pPr indent="0" marL="0">
              <a:buNone/>
            </a:pPr>
            <a:r>
              <a:rPr lang="en-US" sz="1150" dirty="0">
                <a:solidFill>
                  <a:srgbClr val="18212F"/>
                </a:solidFill>
              </a:rPr>
              <a:t>Residual 0.008 ms</a:t>
            </a:r>
            <a:endParaRPr lang="en-US" sz="1150" dirty="0"/>
          </a:p>
        </p:txBody>
      </p:sp>
      <p:sp>
        <p:nvSpPr>
          <p:cNvPr id="28" name="Shape 26"/>
          <p:cNvSpPr/>
          <p:nvPr/>
        </p:nvSpPr>
        <p:spPr>
          <a:xfrm>
            <a:off x="658368" y="3127248"/>
            <a:ext cx="4160520" cy="356616"/>
          </a:xfrm>
          <a:prstGeom prst="rect">
            <a:avLst/>
          </a:prstGeom>
          <a:solidFill>
            <a:srgbClr val="1F2A44"/>
          </a:solidFill>
          <a:ln w="5715">
            <a:solidFill>
              <a:srgbClr val="F7F8FA"/>
            </a:solidFill>
            <a:prstDash val="solid"/>
          </a:ln>
        </p:spPr>
      </p:sp>
      <p:sp>
        <p:nvSpPr>
          <p:cNvPr id="29" name="Text 27"/>
          <p:cNvSpPr/>
          <p:nvPr/>
        </p:nvSpPr>
        <p:spPr>
          <a:xfrm>
            <a:off x="722376" y="3214116"/>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FFFFFF"/>
                </a:solidFill>
              </a:rPr>
              <a:t>Measured component</a:t>
            </a:r>
            <a:endParaRPr lang="en-US" sz="1240" dirty="0"/>
          </a:p>
        </p:txBody>
      </p:sp>
      <p:sp>
        <p:nvSpPr>
          <p:cNvPr id="30" name="Shape 28"/>
          <p:cNvSpPr/>
          <p:nvPr/>
        </p:nvSpPr>
        <p:spPr>
          <a:xfrm>
            <a:off x="4818888" y="3127248"/>
            <a:ext cx="1828800" cy="356616"/>
          </a:xfrm>
          <a:prstGeom prst="rect">
            <a:avLst/>
          </a:prstGeom>
          <a:solidFill>
            <a:srgbClr val="1F2A44"/>
          </a:solidFill>
          <a:ln w="5715">
            <a:solidFill>
              <a:srgbClr val="F7F8FA"/>
            </a:solidFill>
            <a:prstDash val="solid"/>
          </a:ln>
        </p:spPr>
      </p:sp>
      <p:sp>
        <p:nvSpPr>
          <p:cNvPr id="31" name="Text 29"/>
          <p:cNvSpPr/>
          <p:nvPr/>
        </p:nvSpPr>
        <p:spPr>
          <a:xfrm>
            <a:off x="4882896" y="3214116"/>
            <a:ext cx="1700784" cy="219456"/>
          </a:xfrm>
          <a:prstGeom prst="rect">
            <a:avLst/>
          </a:prstGeom>
          <a:noFill/>
          <a:ln/>
        </p:spPr>
        <p:txBody>
          <a:bodyPr wrap="square" lIns="0" tIns="0" rIns="0" bIns="0" rtlCol="0" anchor="ctr">
            <a:normAutofit/>
          </a:bodyPr>
          <a:lstStyle/>
          <a:p>
            <a:pPr algn="r" indent="0" marL="0">
              <a:buNone/>
            </a:pPr>
            <a:r>
              <a:rPr lang="en-US" sz="1240" b="1" dirty="0">
                <a:solidFill>
                  <a:srgbClr val="FFFFFF"/>
                </a:solidFill>
              </a:rPr>
              <a:t>Time</a:t>
            </a:r>
            <a:endParaRPr lang="en-US" sz="1240" dirty="0"/>
          </a:p>
        </p:txBody>
      </p:sp>
      <p:sp>
        <p:nvSpPr>
          <p:cNvPr id="32" name="Shape 30"/>
          <p:cNvSpPr/>
          <p:nvPr/>
        </p:nvSpPr>
        <p:spPr>
          <a:xfrm>
            <a:off x="6647688" y="3127248"/>
            <a:ext cx="1828800" cy="356616"/>
          </a:xfrm>
          <a:prstGeom prst="rect">
            <a:avLst/>
          </a:prstGeom>
          <a:solidFill>
            <a:srgbClr val="1F2A44"/>
          </a:solidFill>
          <a:ln w="5715">
            <a:solidFill>
              <a:srgbClr val="F7F8FA"/>
            </a:solidFill>
            <a:prstDash val="solid"/>
          </a:ln>
        </p:spPr>
      </p:sp>
      <p:sp>
        <p:nvSpPr>
          <p:cNvPr id="33" name="Text 31"/>
          <p:cNvSpPr/>
          <p:nvPr/>
        </p:nvSpPr>
        <p:spPr>
          <a:xfrm>
            <a:off x="6711696" y="3214116"/>
            <a:ext cx="1700784" cy="219456"/>
          </a:xfrm>
          <a:prstGeom prst="rect">
            <a:avLst/>
          </a:prstGeom>
          <a:noFill/>
          <a:ln/>
        </p:spPr>
        <p:txBody>
          <a:bodyPr wrap="square" lIns="0" tIns="0" rIns="0" bIns="0" rtlCol="0" anchor="ctr">
            <a:normAutofit/>
          </a:bodyPr>
          <a:lstStyle/>
          <a:p>
            <a:pPr algn="r" indent="0" marL="0">
              <a:buNone/>
            </a:pPr>
            <a:r>
              <a:rPr lang="en-US" sz="1240" b="1" dirty="0">
                <a:solidFill>
                  <a:srgbClr val="FFFFFF"/>
                </a:solidFill>
              </a:rPr>
              <a:t>% of whole API</a:t>
            </a:r>
            <a:endParaRPr lang="en-US" sz="1240" dirty="0"/>
          </a:p>
        </p:txBody>
      </p:sp>
      <p:sp>
        <p:nvSpPr>
          <p:cNvPr id="34" name="Shape 32"/>
          <p:cNvSpPr/>
          <p:nvPr/>
        </p:nvSpPr>
        <p:spPr>
          <a:xfrm>
            <a:off x="658368" y="3483864"/>
            <a:ext cx="4160520" cy="356616"/>
          </a:xfrm>
          <a:prstGeom prst="rect">
            <a:avLst/>
          </a:prstGeom>
          <a:solidFill>
            <a:srgbClr val="FFFFFF"/>
          </a:solidFill>
          <a:ln w="5715">
            <a:solidFill>
              <a:srgbClr val="F7F8FA"/>
            </a:solidFill>
            <a:prstDash val="solid"/>
          </a:ln>
        </p:spPr>
      </p:sp>
      <p:sp>
        <p:nvSpPr>
          <p:cNvPr id="35" name="Text 33"/>
          <p:cNvSpPr/>
          <p:nvPr/>
        </p:nvSpPr>
        <p:spPr>
          <a:xfrm>
            <a:off x="722376" y="3570732"/>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Graph conversion</a:t>
            </a:r>
            <a:endParaRPr lang="en-US" sz="1240" dirty="0"/>
          </a:p>
        </p:txBody>
      </p:sp>
      <p:sp>
        <p:nvSpPr>
          <p:cNvPr id="36" name="Shape 34"/>
          <p:cNvSpPr/>
          <p:nvPr/>
        </p:nvSpPr>
        <p:spPr>
          <a:xfrm>
            <a:off x="4818888" y="3483864"/>
            <a:ext cx="1828800" cy="356616"/>
          </a:xfrm>
          <a:prstGeom prst="rect">
            <a:avLst/>
          </a:prstGeom>
          <a:solidFill>
            <a:srgbClr val="FFFFFF"/>
          </a:solidFill>
          <a:ln w="5715">
            <a:solidFill>
              <a:srgbClr val="F7F8FA"/>
            </a:solidFill>
            <a:prstDash val="solid"/>
          </a:ln>
        </p:spPr>
      </p:sp>
      <p:sp>
        <p:nvSpPr>
          <p:cNvPr id="37" name="Text 35"/>
          <p:cNvSpPr/>
          <p:nvPr/>
        </p:nvSpPr>
        <p:spPr>
          <a:xfrm>
            <a:off x="4882896" y="357073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114.246 ms</a:t>
            </a:r>
            <a:endParaRPr lang="en-US" sz="1240" dirty="0"/>
          </a:p>
        </p:txBody>
      </p:sp>
      <p:sp>
        <p:nvSpPr>
          <p:cNvPr id="38" name="Shape 36"/>
          <p:cNvSpPr/>
          <p:nvPr/>
        </p:nvSpPr>
        <p:spPr>
          <a:xfrm>
            <a:off x="6647688" y="3483864"/>
            <a:ext cx="1828800" cy="356616"/>
          </a:xfrm>
          <a:prstGeom prst="rect">
            <a:avLst/>
          </a:prstGeom>
          <a:solidFill>
            <a:srgbClr val="FFFFFF"/>
          </a:solidFill>
          <a:ln w="5715">
            <a:solidFill>
              <a:srgbClr val="F7F8FA"/>
            </a:solidFill>
            <a:prstDash val="solid"/>
          </a:ln>
        </p:spPr>
      </p:sp>
      <p:sp>
        <p:nvSpPr>
          <p:cNvPr id="39" name="Text 37"/>
          <p:cNvSpPr/>
          <p:nvPr/>
        </p:nvSpPr>
        <p:spPr>
          <a:xfrm>
            <a:off x="6711696" y="357073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26.80%</a:t>
            </a:r>
            <a:endParaRPr lang="en-US" sz="1240" dirty="0"/>
          </a:p>
        </p:txBody>
      </p:sp>
      <p:sp>
        <p:nvSpPr>
          <p:cNvPr id="40" name="Shape 38"/>
          <p:cNvSpPr/>
          <p:nvPr/>
        </p:nvSpPr>
        <p:spPr>
          <a:xfrm>
            <a:off x="658368" y="3840480"/>
            <a:ext cx="4160520" cy="356616"/>
          </a:xfrm>
          <a:prstGeom prst="rect">
            <a:avLst/>
          </a:prstGeom>
          <a:solidFill>
            <a:srgbClr val="F0F4F7"/>
          </a:solidFill>
          <a:ln w="5715">
            <a:solidFill>
              <a:srgbClr val="F7F8FA"/>
            </a:solidFill>
            <a:prstDash val="solid"/>
          </a:ln>
        </p:spPr>
      </p:sp>
      <p:sp>
        <p:nvSpPr>
          <p:cNvPr id="41" name="Text 39"/>
          <p:cNvSpPr/>
          <p:nvPr/>
        </p:nvSpPr>
        <p:spPr>
          <a:xfrm>
            <a:off x="722376" y="3927348"/>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CUDA backend</a:t>
            </a:r>
            <a:endParaRPr lang="en-US" sz="1240" dirty="0"/>
          </a:p>
        </p:txBody>
      </p:sp>
      <p:sp>
        <p:nvSpPr>
          <p:cNvPr id="42" name="Shape 40"/>
          <p:cNvSpPr/>
          <p:nvPr/>
        </p:nvSpPr>
        <p:spPr>
          <a:xfrm>
            <a:off x="4818888" y="3840480"/>
            <a:ext cx="1828800" cy="356616"/>
          </a:xfrm>
          <a:prstGeom prst="rect">
            <a:avLst/>
          </a:prstGeom>
          <a:solidFill>
            <a:srgbClr val="F0F4F7"/>
          </a:solidFill>
          <a:ln w="5715">
            <a:solidFill>
              <a:srgbClr val="F7F8FA"/>
            </a:solidFill>
            <a:prstDash val="solid"/>
          </a:ln>
        </p:spPr>
      </p:sp>
      <p:sp>
        <p:nvSpPr>
          <p:cNvPr id="43" name="Text 41"/>
          <p:cNvSpPr/>
          <p:nvPr/>
        </p:nvSpPr>
        <p:spPr>
          <a:xfrm>
            <a:off x="4882896" y="3927348"/>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137.542 ms</a:t>
            </a:r>
            <a:endParaRPr lang="en-US" sz="1240" dirty="0"/>
          </a:p>
        </p:txBody>
      </p:sp>
      <p:sp>
        <p:nvSpPr>
          <p:cNvPr id="44" name="Shape 42"/>
          <p:cNvSpPr/>
          <p:nvPr/>
        </p:nvSpPr>
        <p:spPr>
          <a:xfrm>
            <a:off x="6647688" y="3840480"/>
            <a:ext cx="1828800" cy="356616"/>
          </a:xfrm>
          <a:prstGeom prst="rect">
            <a:avLst/>
          </a:prstGeom>
          <a:solidFill>
            <a:srgbClr val="F0F4F7"/>
          </a:solidFill>
          <a:ln w="5715">
            <a:solidFill>
              <a:srgbClr val="F7F8FA"/>
            </a:solidFill>
            <a:prstDash val="solid"/>
          </a:ln>
        </p:spPr>
      </p:sp>
      <p:sp>
        <p:nvSpPr>
          <p:cNvPr id="45" name="Text 43"/>
          <p:cNvSpPr/>
          <p:nvPr/>
        </p:nvSpPr>
        <p:spPr>
          <a:xfrm>
            <a:off x="6711696" y="3927348"/>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32.27%</a:t>
            </a:r>
            <a:endParaRPr lang="en-US" sz="1240" dirty="0"/>
          </a:p>
        </p:txBody>
      </p:sp>
      <p:sp>
        <p:nvSpPr>
          <p:cNvPr id="46" name="Shape 44"/>
          <p:cNvSpPr/>
          <p:nvPr/>
        </p:nvSpPr>
        <p:spPr>
          <a:xfrm>
            <a:off x="658368" y="4197096"/>
            <a:ext cx="4160520" cy="356616"/>
          </a:xfrm>
          <a:prstGeom prst="rect">
            <a:avLst/>
          </a:prstGeom>
          <a:solidFill>
            <a:srgbClr val="FFFFFF"/>
          </a:solidFill>
          <a:ln w="5715">
            <a:solidFill>
              <a:srgbClr val="F7F8FA"/>
            </a:solidFill>
            <a:prstDash val="solid"/>
          </a:ln>
        </p:spPr>
      </p:sp>
      <p:sp>
        <p:nvSpPr>
          <p:cNvPr id="47" name="Text 45"/>
          <p:cNvSpPr/>
          <p:nvPr/>
        </p:nvSpPr>
        <p:spPr>
          <a:xfrm>
            <a:off x="722376" y="4283964"/>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Backend return / assignment</a:t>
            </a:r>
            <a:endParaRPr lang="en-US" sz="1240" dirty="0"/>
          </a:p>
        </p:txBody>
      </p:sp>
      <p:sp>
        <p:nvSpPr>
          <p:cNvPr id="48" name="Shape 46"/>
          <p:cNvSpPr/>
          <p:nvPr/>
        </p:nvSpPr>
        <p:spPr>
          <a:xfrm>
            <a:off x="4818888" y="4197096"/>
            <a:ext cx="1828800" cy="356616"/>
          </a:xfrm>
          <a:prstGeom prst="rect">
            <a:avLst/>
          </a:prstGeom>
          <a:solidFill>
            <a:srgbClr val="FFFFFF"/>
          </a:solidFill>
          <a:ln w="5715">
            <a:solidFill>
              <a:srgbClr val="F7F8FA"/>
            </a:solidFill>
            <a:prstDash val="solid"/>
          </a:ln>
        </p:spPr>
      </p:sp>
      <p:sp>
        <p:nvSpPr>
          <p:cNvPr id="49" name="Text 47"/>
          <p:cNvSpPr/>
          <p:nvPr/>
        </p:nvSpPr>
        <p:spPr>
          <a:xfrm>
            <a:off x="4882896" y="4283964"/>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26.685 ms</a:t>
            </a:r>
            <a:endParaRPr lang="en-US" sz="1240" dirty="0"/>
          </a:p>
        </p:txBody>
      </p:sp>
      <p:sp>
        <p:nvSpPr>
          <p:cNvPr id="50" name="Shape 48"/>
          <p:cNvSpPr/>
          <p:nvPr/>
        </p:nvSpPr>
        <p:spPr>
          <a:xfrm>
            <a:off x="6647688" y="4197096"/>
            <a:ext cx="1828800" cy="356616"/>
          </a:xfrm>
          <a:prstGeom prst="rect">
            <a:avLst/>
          </a:prstGeom>
          <a:solidFill>
            <a:srgbClr val="FFFFFF"/>
          </a:solidFill>
          <a:ln w="5715">
            <a:solidFill>
              <a:srgbClr val="F7F8FA"/>
            </a:solidFill>
            <a:prstDash val="solid"/>
          </a:ln>
        </p:spPr>
      </p:sp>
      <p:sp>
        <p:nvSpPr>
          <p:cNvPr id="51" name="Text 49"/>
          <p:cNvSpPr/>
          <p:nvPr/>
        </p:nvSpPr>
        <p:spPr>
          <a:xfrm>
            <a:off x="6711696" y="4283964"/>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6.26%</a:t>
            </a:r>
            <a:endParaRPr lang="en-US" sz="1240" dirty="0"/>
          </a:p>
        </p:txBody>
      </p:sp>
      <p:sp>
        <p:nvSpPr>
          <p:cNvPr id="52" name="Shape 50"/>
          <p:cNvSpPr/>
          <p:nvPr/>
        </p:nvSpPr>
        <p:spPr>
          <a:xfrm>
            <a:off x="658368" y="4553712"/>
            <a:ext cx="4160520" cy="356616"/>
          </a:xfrm>
          <a:prstGeom prst="rect">
            <a:avLst/>
          </a:prstGeom>
          <a:solidFill>
            <a:srgbClr val="F0F4F7"/>
          </a:solidFill>
          <a:ln w="5715">
            <a:solidFill>
              <a:srgbClr val="F7F8FA"/>
            </a:solidFill>
            <a:prstDash val="solid"/>
          </a:ln>
        </p:spPr>
      </p:sp>
      <p:sp>
        <p:nvSpPr>
          <p:cNvPr id="53" name="Text 51"/>
          <p:cNvSpPr/>
          <p:nvPr/>
        </p:nvSpPr>
        <p:spPr>
          <a:xfrm>
            <a:off x="722376" y="4640580"/>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Values merge / state update</a:t>
            </a:r>
            <a:endParaRPr lang="en-US" sz="1240" dirty="0"/>
          </a:p>
        </p:txBody>
      </p:sp>
      <p:sp>
        <p:nvSpPr>
          <p:cNvPr id="54" name="Shape 52"/>
          <p:cNvSpPr/>
          <p:nvPr/>
        </p:nvSpPr>
        <p:spPr>
          <a:xfrm>
            <a:off x="4818888" y="4553712"/>
            <a:ext cx="1828800" cy="356616"/>
          </a:xfrm>
          <a:prstGeom prst="rect">
            <a:avLst/>
          </a:prstGeom>
          <a:solidFill>
            <a:srgbClr val="F0F4F7"/>
          </a:solidFill>
          <a:ln w="5715">
            <a:solidFill>
              <a:srgbClr val="F7F8FA"/>
            </a:solidFill>
            <a:prstDash val="solid"/>
          </a:ln>
        </p:spPr>
      </p:sp>
      <p:sp>
        <p:nvSpPr>
          <p:cNvPr id="55" name="Text 53"/>
          <p:cNvSpPr/>
          <p:nvPr/>
        </p:nvSpPr>
        <p:spPr>
          <a:xfrm>
            <a:off x="4882896" y="4640580"/>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67.464 ms</a:t>
            </a:r>
            <a:endParaRPr lang="en-US" sz="1240" dirty="0"/>
          </a:p>
        </p:txBody>
      </p:sp>
      <p:sp>
        <p:nvSpPr>
          <p:cNvPr id="56" name="Shape 54"/>
          <p:cNvSpPr/>
          <p:nvPr/>
        </p:nvSpPr>
        <p:spPr>
          <a:xfrm>
            <a:off x="6647688" y="4553712"/>
            <a:ext cx="1828800" cy="356616"/>
          </a:xfrm>
          <a:prstGeom prst="rect">
            <a:avLst/>
          </a:prstGeom>
          <a:solidFill>
            <a:srgbClr val="F0F4F7"/>
          </a:solidFill>
          <a:ln w="5715">
            <a:solidFill>
              <a:srgbClr val="F7F8FA"/>
            </a:solidFill>
            <a:prstDash val="solid"/>
          </a:ln>
        </p:spPr>
      </p:sp>
      <p:sp>
        <p:nvSpPr>
          <p:cNvPr id="57" name="Text 55"/>
          <p:cNvSpPr/>
          <p:nvPr/>
        </p:nvSpPr>
        <p:spPr>
          <a:xfrm>
            <a:off x="6711696" y="4640580"/>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15.83%</a:t>
            </a:r>
            <a:endParaRPr lang="en-US" sz="1240" dirty="0"/>
          </a:p>
        </p:txBody>
      </p:sp>
      <p:sp>
        <p:nvSpPr>
          <p:cNvPr id="58" name="Shape 56"/>
          <p:cNvSpPr/>
          <p:nvPr/>
        </p:nvSpPr>
        <p:spPr>
          <a:xfrm>
            <a:off x="658368" y="4910328"/>
            <a:ext cx="4160520" cy="356616"/>
          </a:xfrm>
          <a:prstGeom prst="rect">
            <a:avLst/>
          </a:prstGeom>
          <a:solidFill>
            <a:srgbClr val="FFFFFF"/>
          </a:solidFill>
          <a:ln w="5715">
            <a:solidFill>
              <a:srgbClr val="F7F8FA"/>
            </a:solidFill>
            <a:prstDash val="solid"/>
          </a:ln>
        </p:spPr>
      </p:sp>
      <p:sp>
        <p:nvSpPr>
          <p:cNvPr id="59" name="Text 57"/>
          <p:cNvSpPr/>
          <p:nvPr/>
        </p:nvSpPr>
        <p:spPr>
          <a:xfrm>
            <a:off x="722376" y="4997196"/>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Converted-data destruction</a:t>
            </a:r>
            <a:endParaRPr lang="en-US" sz="1240" dirty="0"/>
          </a:p>
        </p:txBody>
      </p:sp>
      <p:sp>
        <p:nvSpPr>
          <p:cNvPr id="60" name="Shape 58"/>
          <p:cNvSpPr/>
          <p:nvPr/>
        </p:nvSpPr>
        <p:spPr>
          <a:xfrm>
            <a:off x="4818888" y="4910328"/>
            <a:ext cx="1828800" cy="356616"/>
          </a:xfrm>
          <a:prstGeom prst="rect">
            <a:avLst/>
          </a:prstGeom>
          <a:solidFill>
            <a:srgbClr val="FFFFFF"/>
          </a:solidFill>
          <a:ln w="5715">
            <a:solidFill>
              <a:srgbClr val="F7F8FA"/>
            </a:solidFill>
            <a:prstDash val="solid"/>
          </a:ln>
        </p:spPr>
      </p:sp>
      <p:sp>
        <p:nvSpPr>
          <p:cNvPr id="61" name="Text 59"/>
          <p:cNvSpPr/>
          <p:nvPr/>
        </p:nvSpPr>
        <p:spPr>
          <a:xfrm>
            <a:off x="4882896" y="4997196"/>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30.247 ms</a:t>
            </a:r>
            <a:endParaRPr lang="en-US" sz="1240" dirty="0"/>
          </a:p>
        </p:txBody>
      </p:sp>
      <p:sp>
        <p:nvSpPr>
          <p:cNvPr id="62" name="Shape 60"/>
          <p:cNvSpPr/>
          <p:nvPr/>
        </p:nvSpPr>
        <p:spPr>
          <a:xfrm>
            <a:off x="6647688" y="4910328"/>
            <a:ext cx="1828800" cy="356616"/>
          </a:xfrm>
          <a:prstGeom prst="rect">
            <a:avLst/>
          </a:prstGeom>
          <a:solidFill>
            <a:srgbClr val="FFFFFF"/>
          </a:solidFill>
          <a:ln w="5715">
            <a:solidFill>
              <a:srgbClr val="F7F8FA"/>
            </a:solidFill>
            <a:prstDash val="solid"/>
          </a:ln>
        </p:spPr>
      </p:sp>
      <p:sp>
        <p:nvSpPr>
          <p:cNvPr id="63" name="Text 61"/>
          <p:cNvSpPr/>
          <p:nvPr/>
        </p:nvSpPr>
        <p:spPr>
          <a:xfrm>
            <a:off x="6711696" y="4997196"/>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7.10%</a:t>
            </a:r>
            <a:endParaRPr lang="en-US" sz="1240" dirty="0"/>
          </a:p>
        </p:txBody>
      </p:sp>
      <p:sp>
        <p:nvSpPr>
          <p:cNvPr id="64" name="Shape 62"/>
          <p:cNvSpPr/>
          <p:nvPr/>
        </p:nvSpPr>
        <p:spPr>
          <a:xfrm>
            <a:off x="658368" y="5266944"/>
            <a:ext cx="4160520" cy="356616"/>
          </a:xfrm>
          <a:prstGeom prst="rect">
            <a:avLst/>
          </a:prstGeom>
          <a:solidFill>
            <a:srgbClr val="F0F4F7"/>
          </a:solidFill>
          <a:ln w="5715">
            <a:solidFill>
              <a:srgbClr val="F7F8FA"/>
            </a:solidFill>
            <a:prstDash val="solid"/>
          </a:ln>
        </p:spPr>
      </p:sp>
      <p:sp>
        <p:nvSpPr>
          <p:cNvPr id="65" name="Text 63"/>
          <p:cNvSpPr/>
          <p:nvPr/>
        </p:nvSpPr>
        <p:spPr>
          <a:xfrm>
            <a:off x="722376" y="5353812"/>
            <a:ext cx="4032504" cy="219456"/>
          </a:xfrm>
          <a:prstGeom prst="rect">
            <a:avLst/>
          </a:prstGeom>
          <a:noFill/>
          <a:ln/>
        </p:spPr>
        <p:txBody>
          <a:bodyPr wrap="square" lIns="0" tIns="0" rIns="0" bIns="0" rtlCol="0" anchor="ctr">
            <a:normAutofit/>
          </a:bodyPr>
          <a:lstStyle/>
          <a:p>
            <a:pPr algn="l" indent="0" marL="0">
              <a:buNone/>
            </a:pPr>
            <a:r>
              <a:rPr lang="en-US" sz="1240" b="1" dirty="0">
                <a:solidFill>
                  <a:srgbClr val="18212F"/>
                </a:solidFill>
              </a:rPr>
              <a:t>Residual</a:t>
            </a:r>
            <a:endParaRPr lang="en-US" sz="1240" dirty="0"/>
          </a:p>
        </p:txBody>
      </p:sp>
      <p:sp>
        <p:nvSpPr>
          <p:cNvPr id="66" name="Shape 64"/>
          <p:cNvSpPr/>
          <p:nvPr/>
        </p:nvSpPr>
        <p:spPr>
          <a:xfrm>
            <a:off x="4818888" y="5266944"/>
            <a:ext cx="1828800" cy="356616"/>
          </a:xfrm>
          <a:prstGeom prst="rect">
            <a:avLst/>
          </a:prstGeom>
          <a:solidFill>
            <a:srgbClr val="F0F4F7"/>
          </a:solidFill>
          <a:ln w="5715">
            <a:solidFill>
              <a:srgbClr val="F7F8FA"/>
            </a:solidFill>
            <a:prstDash val="solid"/>
          </a:ln>
        </p:spPr>
      </p:sp>
      <p:sp>
        <p:nvSpPr>
          <p:cNvPr id="67" name="Text 65"/>
          <p:cNvSpPr/>
          <p:nvPr/>
        </p:nvSpPr>
        <p:spPr>
          <a:xfrm>
            <a:off x="4882896" y="535381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0.008 ms</a:t>
            </a:r>
            <a:endParaRPr lang="en-US" sz="1240" dirty="0"/>
          </a:p>
        </p:txBody>
      </p:sp>
      <p:sp>
        <p:nvSpPr>
          <p:cNvPr id="68" name="Shape 66"/>
          <p:cNvSpPr/>
          <p:nvPr/>
        </p:nvSpPr>
        <p:spPr>
          <a:xfrm>
            <a:off x="6647688" y="5266944"/>
            <a:ext cx="1828800" cy="356616"/>
          </a:xfrm>
          <a:prstGeom prst="rect">
            <a:avLst/>
          </a:prstGeom>
          <a:solidFill>
            <a:srgbClr val="F0F4F7"/>
          </a:solidFill>
          <a:ln w="5715">
            <a:solidFill>
              <a:srgbClr val="F7F8FA"/>
            </a:solidFill>
            <a:prstDash val="solid"/>
          </a:ln>
        </p:spPr>
      </p:sp>
      <p:sp>
        <p:nvSpPr>
          <p:cNvPr id="69" name="Text 67"/>
          <p:cNvSpPr/>
          <p:nvPr/>
        </p:nvSpPr>
        <p:spPr>
          <a:xfrm>
            <a:off x="6711696" y="5353812"/>
            <a:ext cx="1700784" cy="219456"/>
          </a:xfrm>
          <a:prstGeom prst="rect">
            <a:avLst/>
          </a:prstGeom>
          <a:noFill/>
          <a:ln/>
        </p:spPr>
        <p:txBody>
          <a:bodyPr wrap="square" lIns="0" tIns="0" rIns="0" bIns="0" rtlCol="0" anchor="ctr">
            <a:normAutofit/>
          </a:bodyPr>
          <a:lstStyle/>
          <a:p>
            <a:pPr algn="r" indent="0" marL="0">
              <a:buNone/>
            </a:pPr>
            <a:r>
              <a:rPr lang="en-US" sz="1240" dirty="0">
                <a:solidFill>
                  <a:srgbClr val="18212F"/>
                </a:solidFill>
              </a:rPr>
              <a:t>0.00%</a:t>
            </a:r>
            <a:endParaRPr lang="en-US" sz="1240" dirty="0"/>
          </a:p>
        </p:txBody>
      </p:sp>
      <p:sp>
        <p:nvSpPr>
          <p:cNvPr id="70" name="Shape 68"/>
          <p:cNvSpPr/>
          <p:nvPr/>
        </p:nvSpPr>
        <p:spPr>
          <a:xfrm>
            <a:off x="8823960" y="3127248"/>
            <a:ext cx="2615184" cy="2331720"/>
          </a:xfrm>
          <a:prstGeom prst="rect">
            <a:avLst/>
          </a:prstGeom>
          <a:solidFill>
            <a:srgbClr val="FBEDEB"/>
          </a:solidFill>
          <a:ln w="9525">
            <a:solidFill>
              <a:srgbClr val="E7EBF0"/>
            </a:solidFill>
            <a:prstDash val="solid"/>
          </a:ln>
        </p:spPr>
      </p:sp>
      <p:sp>
        <p:nvSpPr>
          <p:cNvPr id="71" name="Shape 69"/>
          <p:cNvSpPr/>
          <p:nvPr/>
        </p:nvSpPr>
        <p:spPr>
          <a:xfrm>
            <a:off x="8823960" y="3127248"/>
            <a:ext cx="64008" cy="2331720"/>
          </a:xfrm>
          <a:prstGeom prst="rect">
            <a:avLst/>
          </a:prstGeom>
          <a:solidFill>
            <a:srgbClr val="D95D54"/>
          </a:solidFill>
          <a:ln w="12700">
            <a:solidFill>
              <a:srgbClr val="D95D54"/>
            </a:solidFill>
            <a:prstDash val="solid"/>
          </a:ln>
        </p:spPr>
      </p:sp>
      <p:sp>
        <p:nvSpPr>
          <p:cNvPr id="72" name="Text 70"/>
          <p:cNvSpPr/>
          <p:nvPr/>
        </p:nvSpPr>
        <p:spPr>
          <a:xfrm>
            <a:off x="9070848" y="3401568"/>
            <a:ext cx="2148840" cy="201168"/>
          </a:xfrm>
          <a:prstGeom prst="rect">
            <a:avLst/>
          </a:prstGeom>
          <a:noFill/>
          <a:ln/>
        </p:spPr>
        <p:txBody>
          <a:bodyPr wrap="square" lIns="0" tIns="0" rIns="0" bIns="0" rtlCol="0" anchor="ctr"/>
          <a:lstStyle/>
          <a:p>
            <a:pPr algn="ctr" indent="0" marL="0">
              <a:buNone/>
            </a:pPr>
            <a:r>
              <a:rPr lang="en-US" sz="1500" b="1" dirty="0">
                <a:solidFill>
                  <a:srgbClr val="D95D54"/>
                </a:solidFill>
              </a:rPr>
              <a:t>CPU result management</a:t>
            </a:r>
            <a:endParaRPr lang="en-US" sz="1500" dirty="0"/>
          </a:p>
        </p:txBody>
      </p:sp>
      <p:sp>
        <p:nvSpPr>
          <p:cNvPr id="73" name="Text 71"/>
          <p:cNvSpPr/>
          <p:nvPr/>
        </p:nvSpPr>
        <p:spPr>
          <a:xfrm>
            <a:off x="9070848" y="3794760"/>
            <a:ext cx="2148840" cy="310896"/>
          </a:xfrm>
          <a:prstGeom prst="rect">
            <a:avLst/>
          </a:prstGeom>
          <a:noFill/>
          <a:ln/>
        </p:spPr>
        <p:txBody>
          <a:bodyPr wrap="square" lIns="0" tIns="0" rIns="0" bIns="0" rtlCol="0" anchor="ctr"/>
          <a:lstStyle/>
          <a:p>
            <a:pPr algn="ctr" indent="0" marL="0">
              <a:buNone/>
            </a:pPr>
            <a:r>
              <a:rPr lang="en-US" sz="2500" b="1" dirty="0">
                <a:solidFill>
                  <a:srgbClr val="D95D54"/>
                </a:solidFill>
              </a:rPr>
              <a:t>97.711 ms</a:t>
            </a:r>
            <a:endParaRPr lang="en-US" sz="2500" dirty="0"/>
          </a:p>
        </p:txBody>
      </p:sp>
      <p:sp>
        <p:nvSpPr>
          <p:cNvPr id="74" name="Text 72"/>
          <p:cNvSpPr/>
          <p:nvPr/>
        </p:nvSpPr>
        <p:spPr>
          <a:xfrm>
            <a:off x="9070848" y="4279392"/>
            <a:ext cx="2148840" cy="502920"/>
          </a:xfrm>
          <a:prstGeom prst="rect">
            <a:avLst/>
          </a:prstGeom>
          <a:noFill/>
          <a:ln/>
        </p:spPr>
        <p:txBody>
          <a:bodyPr wrap="square" lIns="0" tIns="0" rIns="0" bIns="0" rtlCol="0" anchor="ctr">
            <a:normAutofit/>
          </a:bodyPr>
          <a:lstStyle/>
          <a:p>
            <a:pPr algn="ctr" indent="0" marL="0">
              <a:buNone/>
            </a:pPr>
            <a:r>
              <a:rPr lang="en-US" sz="1300" b="1" dirty="0">
                <a:solidFill>
                  <a:srgbClr val="18212F"/>
                </a:solidFill>
              </a:rPr>
              <a:t>Values merge plus temporary converted-data destruction</a:t>
            </a:r>
            <a:endParaRPr lang="en-US" sz="1300" dirty="0"/>
          </a:p>
        </p:txBody>
      </p:sp>
      <p:sp>
        <p:nvSpPr>
          <p:cNvPr id="75" name="Text 73"/>
          <p:cNvSpPr/>
          <p:nvPr/>
        </p:nvSpPr>
        <p:spPr>
          <a:xfrm>
            <a:off x="658368" y="5961888"/>
            <a:ext cx="7772400" cy="219456"/>
          </a:xfrm>
          <a:prstGeom prst="rect">
            <a:avLst/>
          </a:prstGeom>
          <a:noFill/>
          <a:ln/>
        </p:spPr>
        <p:txBody>
          <a:bodyPr wrap="square" lIns="0" tIns="0" rIns="0" bIns="0" rtlCol="0" anchor="ctr">
            <a:normAutofit/>
          </a:bodyPr>
          <a:lstStyle/>
          <a:p>
            <a:pPr indent="0" marL="0">
              <a:buNone/>
            </a:pPr>
            <a:r>
              <a:rPr lang="en-US" sz="1600" b="1" dirty="0">
                <a:solidFill>
                  <a:srgbClr val="D95D54"/>
                </a:solidFill>
              </a:rPr>
              <a:t>Graph conversion and CPU result-management are prominent costs beside the backend.</a:t>
            </a:r>
            <a:endParaRPr lang="en-US" sz="1600" dirty="0"/>
          </a:p>
        </p:txBody>
      </p:sp>
      <p:sp>
        <p:nvSpPr>
          <p:cNvPr id="76" name="Text 74"/>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Inside CUDA backend: 0.138 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hierarchy within the specialized backend.</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658368" y="1389888"/>
            <a:ext cx="5343608" cy="512064"/>
          </a:xfrm>
          <a:prstGeom prst="rect">
            <a:avLst/>
          </a:prstGeom>
          <a:solidFill>
            <a:srgbClr val="0E7C86"/>
          </a:solidFill>
          <a:ln w="8890">
            <a:solidFill>
              <a:srgbClr val="FFFFFF"/>
            </a:solidFill>
            <a:prstDash val="solid"/>
          </a:ln>
        </p:spPr>
      </p:sp>
      <p:sp>
        <p:nvSpPr>
          <p:cNvPr id="8" name="Text 6"/>
          <p:cNvSpPr/>
          <p:nvPr/>
        </p:nvSpPr>
        <p:spPr>
          <a:xfrm>
            <a:off x="713232" y="1554480"/>
            <a:ext cx="5233880"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49%</a:t>
            </a:r>
            <a:endParaRPr lang="en-US" sz="1100" dirty="0"/>
          </a:p>
        </p:txBody>
      </p:sp>
      <p:sp>
        <p:nvSpPr>
          <p:cNvPr id="9" name="Shape 7"/>
          <p:cNvSpPr/>
          <p:nvPr/>
        </p:nvSpPr>
        <p:spPr>
          <a:xfrm>
            <a:off x="6001976" y="1389888"/>
            <a:ext cx="2370858" cy="512064"/>
          </a:xfrm>
          <a:prstGeom prst="rect">
            <a:avLst/>
          </a:prstGeom>
          <a:solidFill>
            <a:srgbClr val="46A06F"/>
          </a:solidFill>
          <a:ln w="8890">
            <a:solidFill>
              <a:srgbClr val="FFFFFF"/>
            </a:solidFill>
            <a:prstDash val="solid"/>
          </a:ln>
        </p:spPr>
      </p:sp>
      <p:sp>
        <p:nvSpPr>
          <p:cNvPr id="10" name="Text 8"/>
          <p:cNvSpPr/>
          <p:nvPr/>
        </p:nvSpPr>
        <p:spPr>
          <a:xfrm>
            <a:off x="6056840" y="1554480"/>
            <a:ext cx="2261130"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22%</a:t>
            </a:r>
            <a:endParaRPr lang="en-US" sz="1100" dirty="0"/>
          </a:p>
        </p:txBody>
      </p:sp>
      <p:sp>
        <p:nvSpPr>
          <p:cNvPr id="11" name="Shape 9"/>
          <p:cNvSpPr/>
          <p:nvPr/>
        </p:nvSpPr>
        <p:spPr>
          <a:xfrm>
            <a:off x="8372835" y="1389888"/>
            <a:ext cx="3166893" cy="512064"/>
          </a:xfrm>
          <a:prstGeom prst="rect">
            <a:avLst/>
          </a:prstGeom>
          <a:solidFill>
            <a:srgbClr val="F2A23A"/>
          </a:solidFill>
          <a:ln w="8890">
            <a:solidFill>
              <a:srgbClr val="FFFFFF"/>
            </a:solidFill>
            <a:prstDash val="solid"/>
          </a:ln>
        </p:spPr>
      </p:sp>
      <p:sp>
        <p:nvSpPr>
          <p:cNvPr id="12" name="Text 10"/>
          <p:cNvSpPr/>
          <p:nvPr/>
        </p:nvSpPr>
        <p:spPr>
          <a:xfrm>
            <a:off x="8427699" y="1554480"/>
            <a:ext cx="3057165" cy="146304"/>
          </a:xfrm>
          <a:prstGeom prst="rect">
            <a:avLst/>
          </a:prstGeom>
          <a:noFill/>
          <a:ln/>
        </p:spPr>
        <p:txBody>
          <a:bodyPr wrap="square" lIns="0" tIns="0" rIns="0" bIns="0" rtlCol="0" anchor="ctr">
            <a:normAutofit/>
          </a:bodyPr>
          <a:lstStyle/>
          <a:p>
            <a:pPr algn="ctr" indent="0" marL="0">
              <a:buNone/>
            </a:pPr>
            <a:r>
              <a:rPr lang="en-US" sz="1100" b="1" dirty="0">
                <a:solidFill>
                  <a:srgbClr val="FFFFFF"/>
                </a:solidFill>
              </a:rPr>
              <a:t>29%</a:t>
            </a:r>
            <a:endParaRPr lang="en-US" sz="1100" dirty="0"/>
          </a:p>
        </p:txBody>
      </p:sp>
      <p:sp>
        <p:nvSpPr>
          <p:cNvPr id="13" name="Shape 11"/>
          <p:cNvSpPr/>
          <p:nvPr/>
        </p:nvSpPr>
        <p:spPr>
          <a:xfrm>
            <a:off x="658368" y="2331720"/>
            <a:ext cx="2926080" cy="420624"/>
          </a:xfrm>
          <a:prstGeom prst="rect">
            <a:avLst/>
          </a:prstGeom>
          <a:solidFill>
            <a:srgbClr val="46A06F"/>
          </a:solidFill>
          <a:ln w="5715">
            <a:solidFill>
              <a:srgbClr val="F7F8FA"/>
            </a:solidFill>
            <a:prstDash val="solid"/>
          </a:ln>
        </p:spPr>
      </p:sp>
      <p:sp>
        <p:nvSpPr>
          <p:cNvPr id="14" name="Text 12"/>
          <p:cNvSpPr/>
          <p:nvPr/>
        </p:nvSpPr>
        <p:spPr>
          <a:xfrm>
            <a:off x="722376" y="2418588"/>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FFFFFF"/>
                </a:solidFill>
              </a:rPr>
              <a:t>Backend layer</a:t>
            </a:r>
            <a:endParaRPr lang="en-US" sz="1350" dirty="0"/>
          </a:p>
        </p:txBody>
      </p:sp>
      <p:sp>
        <p:nvSpPr>
          <p:cNvPr id="15" name="Shape 13"/>
          <p:cNvSpPr/>
          <p:nvPr/>
        </p:nvSpPr>
        <p:spPr>
          <a:xfrm>
            <a:off x="3584448" y="2331720"/>
            <a:ext cx="1554480" cy="420624"/>
          </a:xfrm>
          <a:prstGeom prst="rect">
            <a:avLst/>
          </a:prstGeom>
          <a:solidFill>
            <a:srgbClr val="46A06F"/>
          </a:solidFill>
          <a:ln w="5715">
            <a:solidFill>
              <a:srgbClr val="F7F8FA"/>
            </a:solidFill>
            <a:prstDash val="solid"/>
          </a:ln>
        </p:spPr>
      </p:sp>
      <p:sp>
        <p:nvSpPr>
          <p:cNvPr id="16" name="Text 14"/>
          <p:cNvSpPr/>
          <p:nvPr/>
        </p:nvSpPr>
        <p:spPr>
          <a:xfrm>
            <a:off x="3648456" y="2418588"/>
            <a:ext cx="1426464" cy="283464"/>
          </a:xfrm>
          <a:prstGeom prst="rect">
            <a:avLst/>
          </a:prstGeom>
          <a:noFill/>
          <a:ln/>
        </p:spPr>
        <p:txBody>
          <a:bodyPr wrap="square" lIns="0" tIns="0" rIns="0" bIns="0" rtlCol="0" anchor="ctr">
            <a:normAutofit/>
          </a:bodyPr>
          <a:lstStyle/>
          <a:p>
            <a:pPr algn="r" indent="0" marL="0">
              <a:buNone/>
            </a:pPr>
            <a:r>
              <a:rPr lang="en-US" sz="1350" b="1" dirty="0">
                <a:solidFill>
                  <a:srgbClr val="FFFFFF"/>
                </a:solidFill>
              </a:rPr>
              <a:t>Time</a:t>
            </a:r>
            <a:endParaRPr lang="en-US" sz="1350" dirty="0"/>
          </a:p>
        </p:txBody>
      </p:sp>
      <p:sp>
        <p:nvSpPr>
          <p:cNvPr id="17" name="Shape 15"/>
          <p:cNvSpPr/>
          <p:nvPr/>
        </p:nvSpPr>
        <p:spPr>
          <a:xfrm>
            <a:off x="5138928" y="2331720"/>
            <a:ext cx="1645920" cy="420624"/>
          </a:xfrm>
          <a:prstGeom prst="rect">
            <a:avLst/>
          </a:prstGeom>
          <a:solidFill>
            <a:srgbClr val="46A06F"/>
          </a:solidFill>
          <a:ln w="5715">
            <a:solidFill>
              <a:srgbClr val="F7F8FA"/>
            </a:solidFill>
            <a:prstDash val="solid"/>
          </a:ln>
        </p:spPr>
      </p:sp>
      <p:sp>
        <p:nvSpPr>
          <p:cNvPr id="18" name="Text 16"/>
          <p:cNvSpPr/>
          <p:nvPr/>
        </p:nvSpPr>
        <p:spPr>
          <a:xfrm>
            <a:off x="5202936" y="2418588"/>
            <a:ext cx="1517904" cy="283464"/>
          </a:xfrm>
          <a:prstGeom prst="rect">
            <a:avLst/>
          </a:prstGeom>
          <a:noFill/>
          <a:ln/>
        </p:spPr>
        <p:txBody>
          <a:bodyPr wrap="square" lIns="0" tIns="0" rIns="0" bIns="0" rtlCol="0" anchor="ctr">
            <a:normAutofit/>
          </a:bodyPr>
          <a:lstStyle/>
          <a:p>
            <a:pPr algn="r" indent="0" marL="0">
              <a:buNone/>
            </a:pPr>
            <a:r>
              <a:rPr lang="en-US" sz="1350" b="1" dirty="0">
                <a:solidFill>
                  <a:srgbClr val="FFFFFF"/>
                </a:solidFill>
              </a:rPr>
              <a:t>% of backend</a:t>
            </a:r>
            <a:endParaRPr lang="en-US" sz="1350" dirty="0"/>
          </a:p>
        </p:txBody>
      </p:sp>
      <p:sp>
        <p:nvSpPr>
          <p:cNvPr id="19" name="Shape 17"/>
          <p:cNvSpPr/>
          <p:nvPr/>
        </p:nvSpPr>
        <p:spPr>
          <a:xfrm>
            <a:off x="658368" y="2752344"/>
            <a:ext cx="2926080" cy="420624"/>
          </a:xfrm>
          <a:prstGeom prst="rect">
            <a:avLst/>
          </a:prstGeom>
          <a:solidFill>
            <a:srgbClr val="FFFFFF"/>
          </a:solidFill>
          <a:ln w="5715">
            <a:solidFill>
              <a:srgbClr val="F7F8FA"/>
            </a:solidFill>
            <a:prstDash val="solid"/>
          </a:ln>
        </p:spPr>
      </p:sp>
      <p:sp>
        <p:nvSpPr>
          <p:cNvPr id="20" name="Text 18"/>
          <p:cNvSpPr/>
          <p:nvPr/>
        </p:nvSpPr>
        <p:spPr>
          <a:xfrm>
            <a:off x="722376" y="2839212"/>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18212F"/>
                </a:solidFill>
              </a:rPr>
              <a:t>Setup</a:t>
            </a:r>
            <a:endParaRPr lang="en-US" sz="1350" dirty="0"/>
          </a:p>
        </p:txBody>
      </p:sp>
      <p:sp>
        <p:nvSpPr>
          <p:cNvPr id="21" name="Shape 19"/>
          <p:cNvSpPr/>
          <p:nvPr/>
        </p:nvSpPr>
        <p:spPr>
          <a:xfrm>
            <a:off x="3584448" y="2752344"/>
            <a:ext cx="1554480" cy="420624"/>
          </a:xfrm>
          <a:prstGeom prst="rect">
            <a:avLst/>
          </a:prstGeom>
          <a:solidFill>
            <a:srgbClr val="FFFFFF"/>
          </a:solidFill>
          <a:ln w="5715">
            <a:solidFill>
              <a:srgbClr val="F7F8FA"/>
            </a:solidFill>
            <a:prstDash val="solid"/>
          </a:ln>
        </p:spPr>
      </p:sp>
      <p:sp>
        <p:nvSpPr>
          <p:cNvPr id="22" name="Text 20"/>
          <p:cNvSpPr/>
          <p:nvPr/>
        </p:nvSpPr>
        <p:spPr>
          <a:xfrm>
            <a:off x="3648456" y="2839212"/>
            <a:ext cx="142646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67.544 ms</a:t>
            </a:r>
            <a:endParaRPr lang="en-US" sz="1350" dirty="0"/>
          </a:p>
        </p:txBody>
      </p:sp>
      <p:sp>
        <p:nvSpPr>
          <p:cNvPr id="23" name="Shape 21"/>
          <p:cNvSpPr/>
          <p:nvPr/>
        </p:nvSpPr>
        <p:spPr>
          <a:xfrm>
            <a:off x="5138928" y="2752344"/>
            <a:ext cx="1645920" cy="420624"/>
          </a:xfrm>
          <a:prstGeom prst="rect">
            <a:avLst/>
          </a:prstGeom>
          <a:solidFill>
            <a:srgbClr val="FFFFFF"/>
          </a:solidFill>
          <a:ln w="5715">
            <a:solidFill>
              <a:srgbClr val="F7F8FA"/>
            </a:solidFill>
            <a:prstDash val="solid"/>
          </a:ln>
        </p:spPr>
      </p:sp>
      <p:sp>
        <p:nvSpPr>
          <p:cNvPr id="24" name="Text 22"/>
          <p:cNvSpPr/>
          <p:nvPr/>
        </p:nvSpPr>
        <p:spPr>
          <a:xfrm>
            <a:off x="5202936" y="2839212"/>
            <a:ext cx="151790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49.11%</a:t>
            </a:r>
            <a:endParaRPr lang="en-US" sz="1350" dirty="0"/>
          </a:p>
        </p:txBody>
      </p:sp>
      <p:sp>
        <p:nvSpPr>
          <p:cNvPr id="25" name="Shape 23"/>
          <p:cNvSpPr/>
          <p:nvPr/>
        </p:nvSpPr>
        <p:spPr>
          <a:xfrm>
            <a:off x="658368" y="3172968"/>
            <a:ext cx="2926080" cy="420624"/>
          </a:xfrm>
          <a:prstGeom prst="rect">
            <a:avLst/>
          </a:prstGeom>
          <a:solidFill>
            <a:srgbClr val="F0F4F7"/>
          </a:solidFill>
          <a:ln w="5715">
            <a:solidFill>
              <a:srgbClr val="F7F8FA"/>
            </a:solidFill>
            <a:prstDash val="solid"/>
          </a:ln>
        </p:spPr>
      </p:sp>
      <p:sp>
        <p:nvSpPr>
          <p:cNvPr id="26" name="Text 24"/>
          <p:cNvSpPr/>
          <p:nvPr/>
        </p:nvSpPr>
        <p:spPr>
          <a:xfrm>
            <a:off x="722376" y="3259836"/>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18212F"/>
                </a:solidFill>
              </a:rPr>
              <a:t>Solve loop</a:t>
            </a:r>
            <a:endParaRPr lang="en-US" sz="1350" dirty="0"/>
          </a:p>
        </p:txBody>
      </p:sp>
      <p:sp>
        <p:nvSpPr>
          <p:cNvPr id="27" name="Shape 25"/>
          <p:cNvSpPr/>
          <p:nvPr/>
        </p:nvSpPr>
        <p:spPr>
          <a:xfrm>
            <a:off x="3584448" y="3172968"/>
            <a:ext cx="1554480" cy="420624"/>
          </a:xfrm>
          <a:prstGeom prst="rect">
            <a:avLst/>
          </a:prstGeom>
          <a:solidFill>
            <a:srgbClr val="F0F4F7"/>
          </a:solidFill>
          <a:ln w="5715">
            <a:solidFill>
              <a:srgbClr val="F7F8FA"/>
            </a:solidFill>
            <a:prstDash val="solid"/>
          </a:ln>
        </p:spPr>
      </p:sp>
      <p:sp>
        <p:nvSpPr>
          <p:cNvPr id="28" name="Text 26"/>
          <p:cNvSpPr/>
          <p:nvPr/>
        </p:nvSpPr>
        <p:spPr>
          <a:xfrm>
            <a:off x="3648456" y="3259836"/>
            <a:ext cx="142646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29.968 ms</a:t>
            </a:r>
            <a:endParaRPr lang="en-US" sz="1350" dirty="0"/>
          </a:p>
        </p:txBody>
      </p:sp>
      <p:sp>
        <p:nvSpPr>
          <p:cNvPr id="29" name="Shape 27"/>
          <p:cNvSpPr/>
          <p:nvPr/>
        </p:nvSpPr>
        <p:spPr>
          <a:xfrm>
            <a:off x="5138928" y="3172968"/>
            <a:ext cx="1645920" cy="420624"/>
          </a:xfrm>
          <a:prstGeom prst="rect">
            <a:avLst/>
          </a:prstGeom>
          <a:solidFill>
            <a:srgbClr val="F0F4F7"/>
          </a:solidFill>
          <a:ln w="5715">
            <a:solidFill>
              <a:srgbClr val="F7F8FA"/>
            </a:solidFill>
            <a:prstDash val="solid"/>
          </a:ln>
        </p:spPr>
      </p:sp>
      <p:sp>
        <p:nvSpPr>
          <p:cNvPr id="30" name="Text 28"/>
          <p:cNvSpPr/>
          <p:nvPr/>
        </p:nvSpPr>
        <p:spPr>
          <a:xfrm>
            <a:off x="5202936" y="3259836"/>
            <a:ext cx="151790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21.79%</a:t>
            </a:r>
            <a:endParaRPr lang="en-US" sz="1350" dirty="0"/>
          </a:p>
        </p:txBody>
      </p:sp>
      <p:sp>
        <p:nvSpPr>
          <p:cNvPr id="31" name="Shape 29"/>
          <p:cNvSpPr/>
          <p:nvPr/>
        </p:nvSpPr>
        <p:spPr>
          <a:xfrm>
            <a:off x="658368" y="3593592"/>
            <a:ext cx="2926080" cy="420624"/>
          </a:xfrm>
          <a:prstGeom prst="rect">
            <a:avLst/>
          </a:prstGeom>
          <a:solidFill>
            <a:srgbClr val="FFFFFF"/>
          </a:solidFill>
          <a:ln w="5715">
            <a:solidFill>
              <a:srgbClr val="F7F8FA"/>
            </a:solidFill>
            <a:prstDash val="solid"/>
          </a:ln>
        </p:spPr>
      </p:sp>
      <p:sp>
        <p:nvSpPr>
          <p:cNvPr id="32" name="Text 30"/>
          <p:cNvSpPr/>
          <p:nvPr/>
        </p:nvSpPr>
        <p:spPr>
          <a:xfrm>
            <a:off x="722376" y="3680460"/>
            <a:ext cx="2798064" cy="283464"/>
          </a:xfrm>
          <a:prstGeom prst="rect">
            <a:avLst/>
          </a:prstGeom>
          <a:noFill/>
          <a:ln/>
        </p:spPr>
        <p:txBody>
          <a:bodyPr wrap="square" lIns="0" tIns="0" rIns="0" bIns="0" rtlCol="0" anchor="ctr">
            <a:normAutofit/>
          </a:bodyPr>
          <a:lstStyle/>
          <a:p>
            <a:pPr algn="l" indent="0" marL="0">
              <a:buNone/>
            </a:pPr>
            <a:r>
              <a:rPr lang="en-US" sz="1350" b="1" dirty="0">
                <a:solidFill>
                  <a:srgbClr val="18212F"/>
                </a:solidFill>
              </a:rPr>
              <a:t>Download Values</a:t>
            </a:r>
            <a:endParaRPr lang="en-US" sz="1350" dirty="0"/>
          </a:p>
        </p:txBody>
      </p:sp>
      <p:sp>
        <p:nvSpPr>
          <p:cNvPr id="33" name="Shape 31"/>
          <p:cNvSpPr/>
          <p:nvPr/>
        </p:nvSpPr>
        <p:spPr>
          <a:xfrm>
            <a:off x="3584448" y="3593592"/>
            <a:ext cx="1554480" cy="420624"/>
          </a:xfrm>
          <a:prstGeom prst="rect">
            <a:avLst/>
          </a:prstGeom>
          <a:solidFill>
            <a:srgbClr val="FFFFFF"/>
          </a:solidFill>
          <a:ln w="5715">
            <a:solidFill>
              <a:srgbClr val="F7F8FA"/>
            </a:solidFill>
            <a:prstDash val="solid"/>
          </a:ln>
        </p:spPr>
      </p:sp>
      <p:sp>
        <p:nvSpPr>
          <p:cNvPr id="34" name="Text 32"/>
          <p:cNvSpPr/>
          <p:nvPr/>
        </p:nvSpPr>
        <p:spPr>
          <a:xfrm>
            <a:off x="3648456" y="3680460"/>
            <a:ext cx="142646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40.030 ms</a:t>
            </a:r>
            <a:endParaRPr lang="en-US" sz="1350" dirty="0"/>
          </a:p>
        </p:txBody>
      </p:sp>
      <p:sp>
        <p:nvSpPr>
          <p:cNvPr id="35" name="Shape 33"/>
          <p:cNvSpPr/>
          <p:nvPr/>
        </p:nvSpPr>
        <p:spPr>
          <a:xfrm>
            <a:off x="5138928" y="3593592"/>
            <a:ext cx="1645920" cy="420624"/>
          </a:xfrm>
          <a:prstGeom prst="rect">
            <a:avLst/>
          </a:prstGeom>
          <a:solidFill>
            <a:srgbClr val="FFFFFF"/>
          </a:solidFill>
          <a:ln w="5715">
            <a:solidFill>
              <a:srgbClr val="F7F8FA"/>
            </a:solidFill>
            <a:prstDash val="solid"/>
          </a:ln>
        </p:spPr>
      </p:sp>
      <p:sp>
        <p:nvSpPr>
          <p:cNvPr id="36" name="Text 34"/>
          <p:cNvSpPr/>
          <p:nvPr/>
        </p:nvSpPr>
        <p:spPr>
          <a:xfrm>
            <a:off x="5202936" y="3680460"/>
            <a:ext cx="1517904" cy="283464"/>
          </a:xfrm>
          <a:prstGeom prst="rect">
            <a:avLst/>
          </a:prstGeom>
          <a:noFill/>
          <a:ln/>
        </p:spPr>
        <p:txBody>
          <a:bodyPr wrap="square" lIns="0" tIns="0" rIns="0" bIns="0" rtlCol="0" anchor="ctr">
            <a:normAutofit/>
          </a:bodyPr>
          <a:lstStyle/>
          <a:p>
            <a:pPr algn="r" indent="0" marL="0">
              <a:buNone/>
            </a:pPr>
            <a:r>
              <a:rPr lang="en-US" sz="1350" dirty="0">
                <a:solidFill>
                  <a:srgbClr val="18212F"/>
                </a:solidFill>
              </a:rPr>
              <a:t>29.10%</a:t>
            </a:r>
            <a:endParaRPr lang="en-US" sz="1350" dirty="0"/>
          </a:p>
        </p:txBody>
      </p:sp>
      <p:sp>
        <p:nvSpPr>
          <p:cNvPr id="37" name="Shape 35"/>
          <p:cNvSpPr/>
          <p:nvPr/>
        </p:nvSpPr>
        <p:spPr>
          <a:xfrm>
            <a:off x="7086600" y="2331720"/>
            <a:ext cx="4343400" cy="987552"/>
          </a:xfrm>
          <a:prstGeom prst="rect">
            <a:avLst/>
          </a:prstGeom>
          <a:solidFill>
            <a:srgbClr val="EAF6F7"/>
          </a:solidFill>
          <a:ln w="9525">
            <a:solidFill>
              <a:srgbClr val="E7EBF0"/>
            </a:solidFill>
            <a:prstDash val="solid"/>
          </a:ln>
        </p:spPr>
      </p:sp>
      <p:sp>
        <p:nvSpPr>
          <p:cNvPr id="38" name="Shape 36"/>
          <p:cNvSpPr/>
          <p:nvPr/>
        </p:nvSpPr>
        <p:spPr>
          <a:xfrm>
            <a:off x="7086600" y="2331720"/>
            <a:ext cx="64008" cy="987552"/>
          </a:xfrm>
          <a:prstGeom prst="rect">
            <a:avLst/>
          </a:prstGeom>
          <a:solidFill>
            <a:srgbClr val="0E7C86"/>
          </a:solidFill>
          <a:ln w="12700">
            <a:solidFill>
              <a:srgbClr val="0E7C86"/>
            </a:solidFill>
            <a:prstDash val="solid"/>
          </a:ln>
        </p:spPr>
      </p:sp>
      <p:sp>
        <p:nvSpPr>
          <p:cNvPr id="39" name="Text 37"/>
          <p:cNvSpPr/>
          <p:nvPr/>
        </p:nvSpPr>
        <p:spPr>
          <a:xfrm>
            <a:off x="7315200" y="2587752"/>
            <a:ext cx="3840480" cy="182880"/>
          </a:xfrm>
          <a:prstGeom prst="rect">
            <a:avLst/>
          </a:prstGeom>
          <a:noFill/>
          <a:ln/>
        </p:spPr>
        <p:txBody>
          <a:bodyPr wrap="square" lIns="0" tIns="0" rIns="0" bIns="0" rtlCol="0" anchor="ctr">
            <a:normAutofit/>
          </a:bodyPr>
          <a:lstStyle/>
          <a:p>
            <a:pPr indent="0" marL="0">
              <a:buNone/>
            </a:pPr>
            <a:r>
              <a:rPr lang="en-US" sz="1500" b="1" dirty="0">
                <a:solidFill>
                  <a:srgbClr val="0E7C86"/>
                </a:solidFill>
              </a:rPr>
              <a:t>Setup: projection host build 38.686 ms</a:t>
            </a:r>
            <a:endParaRPr lang="en-US" sz="1500" dirty="0"/>
          </a:p>
        </p:txBody>
      </p:sp>
      <p:sp>
        <p:nvSpPr>
          <p:cNvPr id="40" name="Text 38"/>
          <p:cNvSpPr/>
          <p:nvPr/>
        </p:nvSpPr>
        <p:spPr>
          <a:xfrm>
            <a:off x="7315200" y="2889504"/>
            <a:ext cx="3840480" cy="137160"/>
          </a:xfrm>
          <a:prstGeom prst="rect">
            <a:avLst/>
          </a:prstGeom>
          <a:noFill/>
          <a:ln/>
        </p:spPr>
        <p:txBody>
          <a:bodyPr wrap="square" lIns="0" tIns="0" rIns="0" bIns="0" rtlCol="0" anchor="ctr">
            <a:normAutofit/>
          </a:bodyPr>
          <a:lstStyle/>
          <a:p>
            <a:pPr indent="0" marL="0">
              <a:buNone/>
            </a:pPr>
            <a:r>
              <a:rPr lang="en-US" sz="1250" dirty="0">
                <a:solidFill>
                  <a:srgbClr val="18212F"/>
                </a:solidFill>
              </a:rPr>
              <a:t>The largest setup detail is CPU construction of the projection batch.</a:t>
            </a:r>
            <a:endParaRPr lang="en-US" sz="1250" dirty="0"/>
          </a:p>
        </p:txBody>
      </p:sp>
      <p:sp>
        <p:nvSpPr>
          <p:cNvPr id="41" name="Shape 39"/>
          <p:cNvSpPr/>
          <p:nvPr/>
        </p:nvSpPr>
        <p:spPr>
          <a:xfrm>
            <a:off x="658368" y="4343400"/>
            <a:ext cx="5440680" cy="1252728"/>
          </a:xfrm>
          <a:prstGeom prst="rect">
            <a:avLst/>
          </a:prstGeom>
          <a:solidFill>
            <a:srgbClr val="EAF7EF"/>
          </a:solidFill>
          <a:ln w="9525">
            <a:solidFill>
              <a:srgbClr val="E7EBF0"/>
            </a:solidFill>
            <a:prstDash val="solid"/>
          </a:ln>
        </p:spPr>
      </p:sp>
      <p:sp>
        <p:nvSpPr>
          <p:cNvPr id="42" name="Shape 40"/>
          <p:cNvSpPr/>
          <p:nvPr/>
        </p:nvSpPr>
        <p:spPr>
          <a:xfrm>
            <a:off x="658368" y="4343400"/>
            <a:ext cx="64008" cy="1252728"/>
          </a:xfrm>
          <a:prstGeom prst="rect">
            <a:avLst/>
          </a:prstGeom>
          <a:solidFill>
            <a:srgbClr val="46A06F"/>
          </a:solidFill>
          <a:ln w="12700">
            <a:solidFill>
              <a:srgbClr val="46A06F"/>
            </a:solidFill>
            <a:prstDash val="solid"/>
          </a:ln>
        </p:spPr>
      </p:sp>
      <p:sp>
        <p:nvSpPr>
          <p:cNvPr id="43" name="Text 41"/>
          <p:cNvSpPr/>
          <p:nvPr/>
        </p:nvSpPr>
        <p:spPr>
          <a:xfrm>
            <a:off x="896112" y="4572000"/>
            <a:ext cx="2468880" cy="182880"/>
          </a:xfrm>
          <a:prstGeom prst="rect">
            <a:avLst/>
          </a:prstGeom>
          <a:noFill/>
          <a:ln/>
        </p:spPr>
        <p:txBody>
          <a:bodyPr wrap="square" lIns="0" tIns="0" rIns="0" bIns="0" rtlCol="0" anchor="ctr"/>
          <a:lstStyle/>
          <a:p>
            <a:pPr indent="0" marL="0">
              <a:buNone/>
            </a:pPr>
            <a:r>
              <a:rPr lang="en-US" sz="1500" b="1" dirty="0">
                <a:solidFill>
                  <a:srgbClr val="46A06F"/>
                </a:solidFill>
              </a:rPr>
              <a:t>Solve loop: 29.968 ms</a:t>
            </a:r>
            <a:endParaRPr lang="en-US" sz="1500" dirty="0"/>
          </a:p>
        </p:txBody>
      </p:sp>
      <p:sp>
        <p:nvSpPr>
          <p:cNvPr id="44" name="Text 42"/>
          <p:cNvSpPr/>
          <p:nvPr/>
        </p:nvSpPr>
        <p:spPr>
          <a:xfrm>
            <a:off x="896112" y="4919472"/>
            <a:ext cx="4754880" cy="256032"/>
          </a:xfrm>
          <a:prstGeom prst="rect">
            <a:avLst/>
          </a:prstGeom>
          <a:noFill/>
          <a:ln/>
        </p:spPr>
        <p:txBody>
          <a:bodyPr wrap="square" lIns="0" tIns="0" rIns="0" bIns="0" rtlCol="0" anchor="ctr">
            <a:normAutofit/>
          </a:bodyPr>
          <a:lstStyle/>
          <a:p>
            <a:pPr indent="0" marL="0">
              <a:buNone/>
            </a:pPr>
            <a:r>
              <a:rPr lang="en-US" sz="1350" dirty="0">
                <a:solidFill>
                  <a:srgbClr val="18212F"/>
                </a:solidFill>
              </a:rPr>
              <a:t>Dense Schur 23.009 ms | Hessian / damping diagonal 2.979 ms | linearized error change 3.655 ms</a:t>
            </a:r>
            <a:endParaRPr lang="en-US" sz="1350" dirty="0"/>
          </a:p>
        </p:txBody>
      </p:sp>
      <p:sp>
        <p:nvSpPr>
          <p:cNvPr id="45" name="Shape 43"/>
          <p:cNvSpPr/>
          <p:nvPr/>
        </p:nvSpPr>
        <p:spPr>
          <a:xfrm>
            <a:off x="6355080" y="4343400"/>
            <a:ext cx="5074920" cy="1252728"/>
          </a:xfrm>
          <a:prstGeom prst="rect">
            <a:avLst/>
          </a:prstGeom>
          <a:solidFill>
            <a:srgbClr val="FEF4E3"/>
          </a:solidFill>
          <a:ln w="9525">
            <a:solidFill>
              <a:srgbClr val="E7EBF0"/>
            </a:solidFill>
            <a:prstDash val="solid"/>
          </a:ln>
        </p:spPr>
      </p:sp>
      <p:sp>
        <p:nvSpPr>
          <p:cNvPr id="46" name="Shape 44"/>
          <p:cNvSpPr/>
          <p:nvPr/>
        </p:nvSpPr>
        <p:spPr>
          <a:xfrm>
            <a:off x="6355080" y="4343400"/>
            <a:ext cx="64008" cy="1252728"/>
          </a:xfrm>
          <a:prstGeom prst="rect">
            <a:avLst/>
          </a:prstGeom>
          <a:solidFill>
            <a:srgbClr val="F2A23A"/>
          </a:solidFill>
          <a:ln w="12700">
            <a:solidFill>
              <a:srgbClr val="F2A23A"/>
            </a:solidFill>
            <a:prstDash val="solid"/>
          </a:ln>
        </p:spPr>
      </p:sp>
      <p:sp>
        <p:nvSpPr>
          <p:cNvPr id="47" name="Text 45"/>
          <p:cNvSpPr/>
          <p:nvPr/>
        </p:nvSpPr>
        <p:spPr>
          <a:xfrm>
            <a:off x="6583680" y="4572000"/>
            <a:ext cx="2834640" cy="182880"/>
          </a:xfrm>
          <a:prstGeom prst="rect">
            <a:avLst/>
          </a:prstGeom>
          <a:noFill/>
          <a:ln/>
        </p:spPr>
        <p:txBody>
          <a:bodyPr wrap="square" lIns="0" tIns="0" rIns="0" bIns="0" rtlCol="0" anchor="ctr"/>
          <a:lstStyle/>
          <a:p>
            <a:pPr indent="0" marL="0">
              <a:buNone/>
            </a:pPr>
            <a:r>
              <a:rPr lang="en-US" sz="1500" b="1" dirty="0">
                <a:solidFill>
                  <a:srgbClr val="F2A23A"/>
                </a:solidFill>
              </a:rPr>
              <a:t>Download Values: 40.030 ms</a:t>
            </a:r>
            <a:endParaRPr lang="en-US" sz="1500" dirty="0"/>
          </a:p>
        </p:txBody>
      </p:sp>
      <p:sp>
        <p:nvSpPr>
          <p:cNvPr id="48" name="Text 46"/>
          <p:cNvSpPr/>
          <p:nvPr/>
        </p:nvSpPr>
        <p:spPr>
          <a:xfrm>
            <a:off x="6583680" y="4892040"/>
            <a:ext cx="4480560" cy="320040"/>
          </a:xfrm>
          <a:prstGeom prst="rect">
            <a:avLst/>
          </a:prstGeom>
          <a:noFill/>
          <a:ln/>
        </p:spPr>
        <p:txBody>
          <a:bodyPr wrap="square" lIns="0" tIns="0" rIns="0" bIns="0" rtlCol="0" anchor="ctr">
            <a:normAutofit/>
          </a:bodyPr>
          <a:lstStyle/>
          <a:p>
            <a:pPr indent="0" marL="0">
              <a:buNone/>
            </a:pPr>
            <a:r>
              <a:rPr lang="en-US" sz="1260" dirty="0">
                <a:solidFill>
                  <a:srgbClr val="18212F"/>
                </a:solidFill>
              </a:rPr>
              <a:t>Raw D2H 0.615 ms | Values rebuild 15.537 ms | remaining host allocation, wrapper, destruction, and tail 23.878 ms</a:t>
            </a:r>
            <a:endParaRPr lang="en-US" sz="1260" dirty="0"/>
          </a:p>
        </p:txBody>
      </p:sp>
      <p:sp>
        <p:nvSpPr>
          <p:cNvPr id="49" name="Text 47"/>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What the profile says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specialized path: representation conversion and state management dominate the current bottleneck.</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Text 5"/>
          <p:cNvSpPr/>
          <p:nvPr/>
        </p:nvSpPr>
        <p:spPr>
          <a:xfrm>
            <a:off x="685800" y="1380744"/>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Graph conversion</a:t>
            </a:r>
            <a:endParaRPr lang="en-US" sz="1300" dirty="0"/>
          </a:p>
        </p:txBody>
      </p:sp>
      <p:sp>
        <p:nvSpPr>
          <p:cNvPr id="8" name="Shape 6"/>
          <p:cNvSpPr/>
          <p:nvPr/>
        </p:nvSpPr>
        <p:spPr>
          <a:xfrm>
            <a:off x="3538728" y="1394460"/>
            <a:ext cx="4800600" cy="164592"/>
          </a:xfrm>
          <a:prstGeom prst="rect">
            <a:avLst/>
          </a:prstGeom>
          <a:solidFill>
            <a:srgbClr val="DEE5EB"/>
          </a:solidFill>
          <a:ln w="12700">
            <a:solidFill>
              <a:srgbClr val="DEE5EB"/>
            </a:solidFill>
            <a:prstDash val="solid"/>
          </a:ln>
        </p:spPr>
      </p:sp>
      <p:sp>
        <p:nvSpPr>
          <p:cNvPr id="9" name="Shape 7"/>
          <p:cNvSpPr/>
          <p:nvPr/>
        </p:nvSpPr>
        <p:spPr>
          <a:xfrm>
            <a:off x="3538728" y="1394460"/>
            <a:ext cx="4800600" cy="164592"/>
          </a:xfrm>
          <a:prstGeom prst="rect">
            <a:avLst/>
          </a:prstGeom>
          <a:solidFill>
            <a:srgbClr val="0E7C86"/>
          </a:solidFill>
          <a:ln w="12700">
            <a:solidFill>
              <a:srgbClr val="0E7C86"/>
            </a:solidFill>
            <a:prstDash val="solid"/>
          </a:ln>
        </p:spPr>
      </p:sp>
      <p:sp>
        <p:nvSpPr>
          <p:cNvPr id="10" name="Text 8"/>
          <p:cNvSpPr/>
          <p:nvPr/>
        </p:nvSpPr>
        <p:spPr>
          <a:xfrm>
            <a:off x="8503920" y="1367028"/>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0E7C86"/>
                </a:solidFill>
              </a:rPr>
              <a:t>114.246 ms</a:t>
            </a:r>
            <a:endParaRPr lang="en-US" sz="1200" dirty="0"/>
          </a:p>
        </p:txBody>
      </p:sp>
      <p:sp>
        <p:nvSpPr>
          <p:cNvPr id="11" name="Text 9"/>
          <p:cNvSpPr/>
          <p:nvPr/>
        </p:nvSpPr>
        <p:spPr>
          <a:xfrm>
            <a:off x="685800" y="1819656"/>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Values merge</a:t>
            </a:r>
            <a:endParaRPr lang="en-US" sz="1300" dirty="0"/>
          </a:p>
        </p:txBody>
      </p:sp>
      <p:sp>
        <p:nvSpPr>
          <p:cNvPr id="12" name="Shape 10"/>
          <p:cNvSpPr/>
          <p:nvPr/>
        </p:nvSpPr>
        <p:spPr>
          <a:xfrm>
            <a:off x="3538728" y="1833372"/>
            <a:ext cx="4800600" cy="164592"/>
          </a:xfrm>
          <a:prstGeom prst="rect">
            <a:avLst/>
          </a:prstGeom>
          <a:solidFill>
            <a:srgbClr val="DEE5EB"/>
          </a:solidFill>
          <a:ln w="12700">
            <a:solidFill>
              <a:srgbClr val="DEE5EB"/>
            </a:solidFill>
            <a:prstDash val="solid"/>
          </a:ln>
        </p:spPr>
      </p:sp>
      <p:sp>
        <p:nvSpPr>
          <p:cNvPr id="13" name="Shape 11"/>
          <p:cNvSpPr/>
          <p:nvPr/>
        </p:nvSpPr>
        <p:spPr>
          <a:xfrm>
            <a:off x="3538728" y="1833372"/>
            <a:ext cx="2834827" cy="164592"/>
          </a:xfrm>
          <a:prstGeom prst="rect">
            <a:avLst/>
          </a:prstGeom>
          <a:solidFill>
            <a:srgbClr val="F2A23A"/>
          </a:solidFill>
          <a:ln w="12700">
            <a:solidFill>
              <a:srgbClr val="F2A23A"/>
            </a:solidFill>
            <a:prstDash val="solid"/>
          </a:ln>
        </p:spPr>
      </p:sp>
      <p:sp>
        <p:nvSpPr>
          <p:cNvPr id="14" name="Text 12"/>
          <p:cNvSpPr/>
          <p:nvPr/>
        </p:nvSpPr>
        <p:spPr>
          <a:xfrm>
            <a:off x="8503920" y="1805940"/>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F2A23A"/>
                </a:solidFill>
              </a:rPr>
              <a:t>67.464 ms</a:t>
            </a:r>
            <a:endParaRPr lang="en-US" sz="1200" dirty="0"/>
          </a:p>
        </p:txBody>
      </p:sp>
      <p:sp>
        <p:nvSpPr>
          <p:cNvPr id="15" name="Text 13"/>
          <p:cNvSpPr/>
          <p:nvPr/>
        </p:nvSpPr>
        <p:spPr>
          <a:xfrm>
            <a:off x="685800" y="2258568"/>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Converted-data destruction</a:t>
            </a:r>
            <a:endParaRPr lang="en-US" sz="1300" dirty="0"/>
          </a:p>
        </p:txBody>
      </p:sp>
      <p:sp>
        <p:nvSpPr>
          <p:cNvPr id="16" name="Shape 14"/>
          <p:cNvSpPr/>
          <p:nvPr/>
        </p:nvSpPr>
        <p:spPr>
          <a:xfrm>
            <a:off x="3538728" y="2272284"/>
            <a:ext cx="4800600" cy="164592"/>
          </a:xfrm>
          <a:prstGeom prst="rect">
            <a:avLst/>
          </a:prstGeom>
          <a:solidFill>
            <a:srgbClr val="DEE5EB"/>
          </a:solidFill>
          <a:ln w="12700">
            <a:solidFill>
              <a:srgbClr val="DEE5EB"/>
            </a:solidFill>
            <a:prstDash val="solid"/>
          </a:ln>
        </p:spPr>
      </p:sp>
      <p:sp>
        <p:nvSpPr>
          <p:cNvPr id="17" name="Shape 15"/>
          <p:cNvSpPr/>
          <p:nvPr/>
        </p:nvSpPr>
        <p:spPr>
          <a:xfrm>
            <a:off x="3538728" y="2272284"/>
            <a:ext cx="1270974" cy="164592"/>
          </a:xfrm>
          <a:prstGeom prst="rect">
            <a:avLst/>
          </a:prstGeom>
          <a:solidFill>
            <a:srgbClr val="D95D54"/>
          </a:solidFill>
          <a:ln w="12700">
            <a:solidFill>
              <a:srgbClr val="D95D54"/>
            </a:solidFill>
            <a:prstDash val="solid"/>
          </a:ln>
        </p:spPr>
      </p:sp>
      <p:sp>
        <p:nvSpPr>
          <p:cNvPr id="18" name="Text 16"/>
          <p:cNvSpPr/>
          <p:nvPr/>
        </p:nvSpPr>
        <p:spPr>
          <a:xfrm>
            <a:off x="8503920" y="2244852"/>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D95D54"/>
                </a:solidFill>
              </a:rPr>
              <a:t>30.247 ms</a:t>
            </a:r>
            <a:endParaRPr lang="en-US" sz="1200" dirty="0"/>
          </a:p>
        </p:txBody>
      </p:sp>
      <p:sp>
        <p:nvSpPr>
          <p:cNvPr id="19" name="Text 17"/>
          <p:cNvSpPr/>
          <p:nvPr/>
        </p:nvSpPr>
        <p:spPr>
          <a:xfrm>
            <a:off x="685800" y="2697480"/>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Solve loop</a:t>
            </a:r>
            <a:endParaRPr lang="en-US" sz="1300" dirty="0"/>
          </a:p>
        </p:txBody>
      </p:sp>
      <p:sp>
        <p:nvSpPr>
          <p:cNvPr id="20" name="Shape 18"/>
          <p:cNvSpPr/>
          <p:nvPr/>
        </p:nvSpPr>
        <p:spPr>
          <a:xfrm>
            <a:off x="3538728" y="2711196"/>
            <a:ext cx="4800600" cy="164592"/>
          </a:xfrm>
          <a:prstGeom prst="rect">
            <a:avLst/>
          </a:prstGeom>
          <a:solidFill>
            <a:srgbClr val="DEE5EB"/>
          </a:solidFill>
          <a:ln w="12700">
            <a:solidFill>
              <a:srgbClr val="DEE5EB"/>
            </a:solidFill>
            <a:prstDash val="solid"/>
          </a:ln>
        </p:spPr>
      </p:sp>
      <p:sp>
        <p:nvSpPr>
          <p:cNvPr id="21" name="Shape 19"/>
          <p:cNvSpPr/>
          <p:nvPr/>
        </p:nvSpPr>
        <p:spPr>
          <a:xfrm>
            <a:off x="3538728" y="2711196"/>
            <a:ext cx="1259251" cy="164592"/>
          </a:xfrm>
          <a:prstGeom prst="rect">
            <a:avLst/>
          </a:prstGeom>
          <a:solidFill>
            <a:srgbClr val="46A06F"/>
          </a:solidFill>
          <a:ln w="12700">
            <a:solidFill>
              <a:srgbClr val="46A06F"/>
            </a:solidFill>
            <a:prstDash val="solid"/>
          </a:ln>
        </p:spPr>
      </p:sp>
      <p:sp>
        <p:nvSpPr>
          <p:cNvPr id="22" name="Text 20"/>
          <p:cNvSpPr/>
          <p:nvPr/>
        </p:nvSpPr>
        <p:spPr>
          <a:xfrm>
            <a:off x="8503920" y="2683764"/>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46A06F"/>
                </a:solidFill>
              </a:rPr>
              <a:t>29.968 ms</a:t>
            </a:r>
            <a:endParaRPr lang="en-US" sz="1200" dirty="0"/>
          </a:p>
        </p:txBody>
      </p:sp>
      <p:sp>
        <p:nvSpPr>
          <p:cNvPr id="23" name="Text 21"/>
          <p:cNvSpPr/>
          <p:nvPr/>
        </p:nvSpPr>
        <p:spPr>
          <a:xfrm>
            <a:off x="685800" y="3136392"/>
            <a:ext cx="2743200" cy="182880"/>
          </a:xfrm>
          <a:prstGeom prst="rect">
            <a:avLst/>
          </a:prstGeom>
          <a:noFill/>
          <a:ln/>
        </p:spPr>
        <p:txBody>
          <a:bodyPr wrap="square" lIns="0" tIns="0" rIns="0" bIns="0" rtlCol="0" anchor="ctr">
            <a:normAutofit/>
          </a:bodyPr>
          <a:lstStyle/>
          <a:p>
            <a:pPr indent="0" marL="0">
              <a:buNone/>
            </a:pPr>
            <a:r>
              <a:rPr lang="en-US" sz="1300" b="1" dirty="0">
                <a:solidFill>
                  <a:srgbClr val="18212F"/>
                </a:solidFill>
              </a:rPr>
              <a:t>Pure H2D + D2H</a:t>
            </a:r>
            <a:endParaRPr lang="en-US" sz="1300" dirty="0"/>
          </a:p>
        </p:txBody>
      </p:sp>
      <p:sp>
        <p:nvSpPr>
          <p:cNvPr id="24" name="Shape 22"/>
          <p:cNvSpPr/>
          <p:nvPr/>
        </p:nvSpPr>
        <p:spPr>
          <a:xfrm>
            <a:off x="3538728" y="3150108"/>
            <a:ext cx="4800600" cy="164592"/>
          </a:xfrm>
          <a:prstGeom prst="rect">
            <a:avLst/>
          </a:prstGeom>
          <a:solidFill>
            <a:srgbClr val="DEE5EB"/>
          </a:solidFill>
          <a:ln w="12700">
            <a:solidFill>
              <a:srgbClr val="DEE5EB"/>
            </a:solidFill>
            <a:prstDash val="solid"/>
          </a:ln>
        </p:spPr>
      </p:sp>
      <p:sp>
        <p:nvSpPr>
          <p:cNvPr id="25" name="Shape 23"/>
          <p:cNvSpPr/>
          <p:nvPr/>
        </p:nvSpPr>
        <p:spPr>
          <a:xfrm>
            <a:off x="3538728" y="3150108"/>
            <a:ext cx="81350" cy="164592"/>
          </a:xfrm>
          <a:prstGeom prst="rect">
            <a:avLst/>
          </a:prstGeom>
          <a:solidFill>
            <a:srgbClr val="3E74B8"/>
          </a:solidFill>
          <a:ln w="12700">
            <a:solidFill>
              <a:srgbClr val="3E74B8"/>
            </a:solidFill>
            <a:prstDash val="solid"/>
          </a:ln>
        </p:spPr>
      </p:sp>
      <p:sp>
        <p:nvSpPr>
          <p:cNvPr id="26" name="Text 24"/>
          <p:cNvSpPr/>
          <p:nvPr/>
        </p:nvSpPr>
        <p:spPr>
          <a:xfrm>
            <a:off x="8503920" y="3122676"/>
            <a:ext cx="1143000" cy="173736"/>
          </a:xfrm>
          <a:prstGeom prst="rect">
            <a:avLst/>
          </a:prstGeom>
          <a:noFill/>
          <a:ln/>
        </p:spPr>
        <p:txBody>
          <a:bodyPr wrap="square" lIns="0" tIns="0" rIns="0" bIns="0" rtlCol="0" anchor="ctr">
            <a:normAutofit/>
          </a:bodyPr>
          <a:lstStyle/>
          <a:p>
            <a:pPr algn="r" indent="0" marL="0">
              <a:buNone/>
            </a:pPr>
            <a:r>
              <a:rPr lang="en-US" sz="1200" b="1" dirty="0">
                <a:solidFill>
                  <a:srgbClr val="3E74B8"/>
                </a:solidFill>
              </a:rPr>
              <a:t>1.936 ms</a:t>
            </a:r>
            <a:endParaRPr lang="en-US" sz="1200" dirty="0"/>
          </a:p>
        </p:txBody>
      </p:sp>
      <p:sp>
        <p:nvSpPr>
          <p:cNvPr id="27" name="Shape 25"/>
          <p:cNvSpPr/>
          <p:nvPr/>
        </p:nvSpPr>
        <p:spPr>
          <a:xfrm>
            <a:off x="685800" y="3749040"/>
            <a:ext cx="3657600" cy="365760"/>
          </a:xfrm>
          <a:prstGeom prst="rect">
            <a:avLst/>
          </a:prstGeom>
          <a:solidFill>
            <a:srgbClr val="1F2A44"/>
          </a:solidFill>
          <a:ln w="5715">
            <a:solidFill>
              <a:srgbClr val="F7F8FA"/>
            </a:solidFill>
            <a:prstDash val="solid"/>
          </a:ln>
        </p:spPr>
      </p:sp>
      <p:sp>
        <p:nvSpPr>
          <p:cNvPr id="28" name="Text 26"/>
          <p:cNvSpPr/>
          <p:nvPr/>
        </p:nvSpPr>
        <p:spPr>
          <a:xfrm>
            <a:off x="749808" y="383590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FFFFFF"/>
                </a:solidFill>
              </a:rPr>
              <a:t>Measured component</a:t>
            </a:r>
            <a:endParaRPr lang="en-US" sz="1230" dirty="0"/>
          </a:p>
        </p:txBody>
      </p:sp>
      <p:sp>
        <p:nvSpPr>
          <p:cNvPr id="29" name="Shape 27"/>
          <p:cNvSpPr/>
          <p:nvPr/>
        </p:nvSpPr>
        <p:spPr>
          <a:xfrm>
            <a:off x="4343400" y="3749040"/>
            <a:ext cx="1600200" cy="365760"/>
          </a:xfrm>
          <a:prstGeom prst="rect">
            <a:avLst/>
          </a:prstGeom>
          <a:solidFill>
            <a:srgbClr val="1F2A44"/>
          </a:solidFill>
          <a:ln w="5715">
            <a:solidFill>
              <a:srgbClr val="F7F8FA"/>
            </a:solidFill>
            <a:prstDash val="solid"/>
          </a:ln>
        </p:spPr>
      </p:sp>
      <p:sp>
        <p:nvSpPr>
          <p:cNvPr id="30" name="Text 28"/>
          <p:cNvSpPr/>
          <p:nvPr/>
        </p:nvSpPr>
        <p:spPr>
          <a:xfrm>
            <a:off x="4407408" y="3835908"/>
            <a:ext cx="1472184" cy="228600"/>
          </a:xfrm>
          <a:prstGeom prst="rect">
            <a:avLst/>
          </a:prstGeom>
          <a:noFill/>
          <a:ln/>
        </p:spPr>
        <p:txBody>
          <a:bodyPr wrap="square" lIns="0" tIns="0" rIns="0" bIns="0" rtlCol="0" anchor="ctr">
            <a:normAutofit/>
          </a:bodyPr>
          <a:lstStyle/>
          <a:p>
            <a:pPr algn="r" indent="0" marL="0">
              <a:buNone/>
            </a:pPr>
            <a:r>
              <a:rPr lang="en-US" sz="1230" b="1" dirty="0">
                <a:solidFill>
                  <a:srgbClr val="FFFFFF"/>
                </a:solidFill>
              </a:rPr>
              <a:t>Time</a:t>
            </a:r>
            <a:endParaRPr lang="en-US" sz="1230" dirty="0"/>
          </a:p>
        </p:txBody>
      </p:sp>
      <p:sp>
        <p:nvSpPr>
          <p:cNvPr id="31" name="Shape 29"/>
          <p:cNvSpPr/>
          <p:nvPr/>
        </p:nvSpPr>
        <p:spPr>
          <a:xfrm>
            <a:off x="5943600" y="3749040"/>
            <a:ext cx="1600200" cy="365760"/>
          </a:xfrm>
          <a:prstGeom prst="rect">
            <a:avLst/>
          </a:prstGeom>
          <a:solidFill>
            <a:srgbClr val="1F2A44"/>
          </a:solidFill>
          <a:ln w="5715">
            <a:solidFill>
              <a:srgbClr val="F7F8FA"/>
            </a:solidFill>
            <a:prstDash val="solid"/>
          </a:ln>
        </p:spPr>
      </p:sp>
      <p:sp>
        <p:nvSpPr>
          <p:cNvPr id="32" name="Text 30"/>
          <p:cNvSpPr/>
          <p:nvPr/>
        </p:nvSpPr>
        <p:spPr>
          <a:xfrm>
            <a:off x="6007608" y="3835908"/>
            <a:ext cx="1472184" cy="228600"/>
          </a:xfrm>
          <a:prstGeom prst="rect">
            <a:avLst/>
          </a:prstGeom>
          <a:noFill/>
          <a:ln/>
        </p:spPr>
        <p:txBody>
          <a:bodyPr wrap="square" lIns="0" tIns="0" rIns="0" bIns="0" rtlCol="0" anchor="ctr">
            <a:normAutofit/>
          </a:bodyPr>
          <a:lstStyle/>
          <a:p>
            <a:pPr algn="r" indent="0" marL="0">
              <a:buNone/>
            </a:pPr>
            <a:r>
              <a:rPr lang="en-US" sz="1230" b="1" dirty="0">
                <a:solidFill>
                  <a:srgbClr val="FFFFFF"/>
                </a:solidFill>
              </a:rPr>
              <a:t>% of graph API</a:t>
            </a:r>
            <a:endParaRPr lang="en-US" sz="1230" dirty="0"/>
          </a:p>
        </p:txBody>
      </p:sp>
      <p:sp>
        <p:nvSpPr>
          <p:cNvPr id="33" name="Shape 31"/>
          <p:cNvSpPr/>
          <p:nvPr/>
        </p:nvSpPr>
        <p:spPr>
          <a:xfrm>
            <a:off x="685800" y="4114800"/>
            <a:ext cx="3657600" cy="365760"/>
          </a:xfrm>
          <a:prstGeom prst="rect">
            <a:avLst/>
          </a:prstGeom>
          <a:solidFill>
            <a:srgbClr val="FFFFFF"/>
          </a:solidFill>
          <a:ln w="5715">
            <a:solidFill>
              <a:srgbClr val="F7F8FA"/>
            </a:solidFill>
            <a:prstDash val="solid"/>
          </a:ln>
        </p:spPr>
      </p:sp>
      <p:sp>
        <p:nvSpPr>
          <p:cNvPr id="34" name="Text 32"/>
          <p:cNvSpPr/>
          <p:nvPr/>
        </p:nvSpPr>
        <p:spPr>
          <a:xfrm>
            <a:off x="749808" y="420166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Graph conversion</a:t>
            </a:r>
            <a:endParaRPr lang="en-US" sz="1230" dirty="0"/>
          </a:p>
        </p:txBody>
      </p:sp>
      <p:sp>
        <p:nvSpPr>
          <p:cNvPr id="35" name="Shape 33"/>
          <p:cNvSpPr/>
          <p:nvPr/>
        </p:nvSpPr>
        <p:spPr>
          <a:xfrm>
            <a:off x="4343400" y="4114800"/>
            <a:ext cx="1600200" cy="365760"/>
          </a:xfrm>
          <a:prstGeom prst="rect">
            <a:avLst/>
          </a:prstGeom>
          <a:solidFill>
            <a:srgbClr val="FFFFFF"/>
          </a:solidFill>
          <a:ln w="5715">
            <a:solidFill>
              <a:srgbClr val="F7F8FA"/>
            </a:solidFill>
            <a:prstDash val="solid"/>
          </a:ln>
        </p:spPr>
      </p:sp>
      <p:sp>
        <p:nvSpPr>
          <p:cNvPr id="36" name="Text 34"/>
          <p:cNvSpPr/>
          <p:nvPr/>
        </p:nvSpPr>
        <p:spPr>
          <a:xfrm>
            <a:off x="4407408" y="420166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114.246 ms</a:t>
            </a:r>
            <a:endParaRPr lang="en-US" sz="1230" dirty="0"/>
          </a:p>
        </p:txBody>
      </p:sp>
      <p:sp>
        <p:nvSpPr>
          <p:cNvPr id="37" name="Shape 35"/>
          <p:cNvSpPr/>
          <p:nvPr/>
        </p:nvSpPr>
        <p:spPr>
          <a:xfrm>
            <a:off x="5943600" y="4114800"/>
            <a:ext cx="1600200" cy="365760"/>
          </a:xfrm>
          <a:prstGeom prst="rect">
            <a:avLst/>
          </a:prstGeom>
          <a:solidFill>
            <a:srgbClr val="FFFFFF"/>
          </a:solidFill>
          <a:ln w="5715">
            <a:solidFill>
              <a:srgbClr val="F7F8FA"/>
            </a:solidFill>
            <a:prstDash val="solid"/>
          </a:ln>
        </p:spPr>
      </p:sp>
      <p:sp>
        <p:nvSpPr>
          <p:cNvPr id="38" name="Text 36"/>
          <p:cNvSpPr/>
          <p:nvPr/>
        </p:nvSpPr>
        <p:spPr>
          <a:xfrm>
            <a:off x="6007608" y="420166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26.80%</a:t>
            </a:r>
            <a:endParaRPr lang="en-US" sz="1230" dirty="0"/>
          </a:p>
        </p:txBody>
      </p:sp>
      <p:sp>
        <p:nvSpPr>
          <p:cNvPr id="39" name="Shape 37"/>
          <p:cNvSpPr/>
          <p:nvPr/>
        </p:nvSpPr>
        <p:spPr>
          <a:xfrm>
            <a:off x="685800" y="4480560"/>
            <a:ext cx="3657600" cy="365760"/>
          </a:xfrm>
          <a:prstGeom prst="rect">
            <a:avLst/>
          </a:prstGeom>
          <a:solidFill>
            <a:srgbClr val="F0F4F7"/>
          </a:solidFill>
          <a:ln w="5715">
            <a:solidFill>
              <a:srgbClr val="F7F8FA"/>
            </a:solidFill>
            <a:prstDash val="solid"/>
          </a:ln>
        </p:spPr>
      </p:sp>
      <p:sp>
        <p:nvSpPr>
          <p:cNvPr id="40" name="Text 38"/>
          <p:cNvSpPr/>
          <p:nvPr/>
        </p:nvSpPr>
        <p:spPr>
          <a:xfrm>
            <a:off x="749808" y="456742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Values merge</a:t>
            </a:r>
            <a:endParaRPr lang="en-US" sz="1230" dirty="0"/>
          </a:p>
        </p:txBody>
      </p:sp>
      <p:sp>
        <p:nvSpPr>
          <p:cNvPr id="41" name="Shape 39"/>
          <p:cNvSpPr/>
          <p:nvPr/>
        </p:nvSpPr>
        <p:spPr>
          <a:xfrm>
            <a:off x="4343400" y="4480560"/>
            <a:ext cx="1600200" cy="365760"/>
          </a:xfrm>
          <a:prstGeom prst="rect">
            <a:avLst/>
          </a:prstGeom>
          <a:solidFill>
            <a:srgbClr val="F0F4F7"/>
          </a:solidFill>
          <a:ln w="5715">
            <a:solidFill>
              <a:srgbClr val="F7F8FA"/>
            </a:solidFill>
            <a:prstDash val="solid"/>
          </a:ln>
        </p:spPr>
      </p:sp>
      <p:sp>
        <p:nvSpPr>
          <p:cNvPr id="42" name="Text 40"/>
          <p:cNvSpPr/>
          <p:nvPr/>
        </p:nvSpPr>
        <p:spPr>
          <a:xfrm>
            <a:off x="4407408" y="456742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67.464 ms</a:t>
            </a:r>
            <a:endParaRPr lang="en-US" sz="1230" dirty="0"/>
          </a:p>
        </p:txBody>
      </p:sp>
      <p:sp>
        <p:nvSpPr>
          <p:cNvPr id="43" name="Shape 41"/>
          <p:cNvSpPr/>
          <p:nvPr/>
        </p:nvSpPr>
        <p:spPr>
          <a:xfrm>
            <a:off x="5943600" y="4480560"/>
            <a:ext cx="1600200" cy="365760"/>
          </a:xfrm>
          <a:prstGeom prst="rect">
            <a:avLst/>
          </a:prstGeom>
          <a:solidFill>
            <a:srgbClr val="F0F4F7"/>
          </a:solidFill>
          <a:ln w="5715">
            <a:solidFill>
              <a:srgbClr val="F7F8FA"/>
            </a:solidFill>
            <a:prstDash val="solid"/>
          </a:ln>
        </p:spPr>
      </p:sp>
      <p:sp>
        <p:nvSpPr>
          <p:cNvPr id="44" name="Text 42"/>
          <p:cNvSpPr/>
          <p:nvPr/>
        </p:nvSpPr>
        <p:spPr>
          <a:xfrm>
            <a:off x="6007608" y="456742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15.83%</a:t>
            </a:r>
            <a:endParaRPr lang="en-US" sz="1230" dirty="0"/>
          </a:p>
        </p:txBody>
      </p:sp>
      <p:sp>
        <p:nvSpPr>
          <p:cNvPr id="45" name="Shape 43"/>
          <p:cNvSpPr/>
          <p:nvPr/>
        </p:nvSpPr>
        <p:spPr>
          <a:xfrm>
            <a:off x="685800" y="4846320"/>
            <a:ext cx="3657600" cy="365760"/>
          </a:xfrm>
          <a:prstGeom prst="rect">
            <a:avLst/>
          </a:prstGeom>
          <a:solidFill>
            <a:srgbClr val="FFFFFF"/>
          </a:solidFill>
          <a:ln w="5715">
            <a:solidFill>
              <a:srgbClr val="F7F8FA"/>
            </a:solidFill>
            <a:prstDash val="solid"/>
          </a:ln>
        </p:spPr>
      </p:sp>
      <p:sp>
        <p:nvSpPr>
          <p:cNvPr id="46" name="Text 44"/>
          <p:cNvSpPr/>
          <p:nvPr/>
        </p:nvSpPr>
        <p:spPr>
          <a:xfrm>
            <a:off x="749808" y="493318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Converted-data destruction</a:t>
            </a:r>
            <a:endParaRPr lang="en-US" sz="1230" dirty="0"/>
          </a:p>
        </p:txBody>
      </p:sp>
      <p:sp>
        <p:nvSpPr>
          <p:cNvPr id="47" name="Shape 45"/>
          <p:cNvSpPr/>
          <p:nvPr/>
        </p:nvSpPr>
        <p:spPr>
          <a:xfrm>
            <a:off x="4343400" y="4846320"/>
            <a:ext cx="1600200" cy="365760"/>
          </a:xfrm>
          <a:prstGeom prst="rect">
            <a:avLst/>
          </a:prstGeom>
          <a:solidFill>
            <a:srgbClr val="FFFFFF"/>
          </a:solidFill>
          <a:ln w="5715">
            <a:solidFill>
              <a:srgbClr val="F7F8FA"/>
            </a:solidFill>
            <a:prstDash val="solid"/>
          </a:ln>
        </p:spPr>
      </p:sp>
      <p:sp>
        <p:nvSpPr>
          <p:cNvPr id="48" name="Text 46"/>
          <p:cNvSpPr/>
          <p:nvPr/>
        </p:nvSpPr>
        <p:spPr>
          <a:xfrm>
            <a:off x="4407408" y="493318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30.247 ms</a:t>
            </a:r>
            <a:endParaRPr lang="en-US" sz="1230" dirty="0"/>
          </a:p>
        </p:txBody>
      </p:sp>
      <p:sp>
        <p:nvSpPr>
          <p:cNvPr id="49" name="Shape 47"/>
          <p:cNvSpPr/>
          <p:nvPr/>
        </p:nvSpPr>
        <p:spPr>
          <a:xfrm>
            <a:off x="5943600" y="4846320"/>
            <a:ext cx="1600200" cy="365760"/>
          </a:xfrm>
          <a:prstGeom prst="rect">
            <a:avLst/>
          </a:prstGeom>
          <a:solidFill>
            <a:srgbClr val="FFFFFF"/>
          </a:solidFill>
          <a:ln w="5715">
            <a:solidFill>
              <a:srgbClr val="F7F8FA"/>
            </a:solidFill>
            <a:prstDash val="solid"/>
          </a:ln>
        </p:spPr>
      </p:sp>
      <p:sp>
        <p:nvSpPr>
          <p:cNvPr id="50" name="Text 48"/>
          <p:cNvSpPr/>
          <p:nvPr/>
        </p:nvSpPr>
        <p:spPr>
          <a:xfrm>
            <a:off x="6007608" y="493318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7.10%</a:t>
            </a:r>
            <a:endParaRPr lang="en-US" sz="1230" dirty="0"/>
          </a:p>
        </p:txBody>
      </p:sp>
      <p:sp>
        <p:nvSpPr>
          <p:cNvPr id="51" name="Shape 49"/>
          <p:cNvSpPr/>
          <p:nvPr/>
        </p:nvSpPr>
        <p:spPr>
          <a:xfrm>
            <a:off x="685800" y="5212080"/>
            <a:ext cx="3657600" cy="365760"/>
          </a:xfrm>
          <a:prstGeom prst="rect">
            <a:avLst/>
          </a:prstGeom>
          <a:solidFill>
            <a:srgbClr val="F0F4F7"/>
          </a:solidFill>
          <a:ln w="5715">
            <a:solidFill>
              <a:srgbClr val="F7F8FA"/>
            </a:solidFill>
            <a:prstDash val="solid"/>
          </a:ln>
        </p:spPr>
      </p:sp>
      <p:sp>
        <p:nvSpPr>
          <p:cNvPr id="52" name="Text 50"/>
          <p:cNvSpPr/>
          <p:nvPr/>
        </p:nvSpPr>
        <p:spPr>
          <a:xfrm>
            <a:off x="749808" y="529894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Solve loop</a:t>
            </a:r>
            <a:endParaRPr lang="en-US" sz="1230" dirty="0"/>
          </a:p>
        </p:txBody>
      </p:sp>
      <p:sp>
        <p:nvSpPr>
          <p:cNvPr id="53" name="Shape 51"/>
          <p:cNvSpPr/>
          <p:nvPr/>
        </p:nvSpPr>
        <p:spPr>
          <a:xfrm>
            <a:off x="4343400" y="5212080"/>
            <a:ext cx="1600200" cy="365760"/>
          </a:xfrm>
          <a:prstGeom prst="rect">
            <a:avLst/>
          </a:prstGeom>
          <a:solidFill>
            <a:srgbClr val="F0F4F7"/>
          </a:solidFill>
          <a:ln w="5715">
            <a:solidFill>
              <a:srgbClr val="F7F8FA"/>
            </a:solidFill>
            <a:prstDash val="solid"/>
          </a:ln>
        </p:spPr>
      </p:sp>
      <p:sp>
        <p:nvSpPr>
          <p:cNvPr id="54" name="Text 52"/>
          <p:cNvSpPr/>
          <p:nvPr/>
        </p:nvSpPr>
        <p:spPr>
          <a:xfrm>
            <a:off x="4407408" y="529894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29.968 ms</a:t>
            </a:r>
            <a:endParaRPr lang="en-US" sz="1230" dirty="0"/>
          </a:p>
        </p:txBody>
      </p:sp>
      <p:sp>
        <p:nvSpPr>
          <p:cNvPr id="55" name="Shape 53"/>
          <p:cNvSpPr/>
          <p:nvPr/>
        </p:nvSpPr>
        <p:spPr>
          <a:xfrm>
            <a:off x="5943600" y="5212080"/>
            <a:ext cx="1600200" cy="365760"/>
          </a:xfrm>
          <a:prstGeom prst="rect">
            <a:avLst/>
          </a:prstGeom>
          <a:solidFill>
            <a:srgbClr val="F0F4F7"/>
          </a:solidFill>
          <a:ln w="5715">
            <a:solidFill>
              <a:srgbClr val="F7F8FA"/>
            </a:solidFill>
            <a:prstDash val="solid"/>
          </a:ln>
        </p:spPr>
      </p:sp>
      <p:sp>
        <p:nvSpPr>
          <p:cNvPr id="56" name="Text 54"/>
          <p:cNvSpPr/>
          <p:nvPr/>
        </p:nvSpPr>
        <p:spPr>
          <a:xfrm>
            <a:off x="6007608" y="529894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7.03%</a:t>
            </a:r>
            <a:endParaRPr lang="en-US" sz="1230" dirty="0"/>
          </a:p>
        </p:txBody>
      </p:sp>
      <p:sp>
        <p:nvSpPr>
          <p:cNvPr id="57" name="Shape 55"/>
          <p:cNvSpPr/>
          <p:nvPr/>
        </p:nvSpPr>
        <p:spPr>
          <a:xfrm>
            <a:off x="685800" y="5577840"/>
            <a:ext cx="3657600" cy="365760"/>
          </a:xfrm>
          <a:prstGeom prst="rect">
            <a:avLst/>
          </a:prstGeom>
          <a:solidFill>
            <a:srgbClr val="FFFFFF"/>
          </a:solidFill>
          <a:ln w="5715">
            <a:solidFill>
              <a:srgbClr val="F7F8FA"/>
            </a:solidFill>
            <a:prstDash val="solid"/>
          </a:ln>
        </p:spPr>
      </p:sp>
      <p:sp>
        <p:nvSpPr>
          <p:cNvPr id="58" name="Text 56"/>
          <p:cNvSpPr/>
          <p:nvPr/>
        </p:nvSpPr>
        <p:spPr>
          <a:xfrm>
            <a:off x="749808" y="5664708"/>
            <a:ext cx="3529584" cy="228600"/>
          </a:xfrm>
          <a:prstGeom prst="rect">
            <a:avLst/>
          </a:prstGeom>
          <a:noFill/>
          <a:ln/>
        </p:spPr>
        <p:txBody>
          <a:bodyPr wrap="square" lIns="0" tIns="0" rIns="0" bIns="0" rtlCol="0" anchor="ctr">
            <a:normAutofit/>
          </a:bodyPr>
          <a:lstStyle/>
          <a:p>
            <a:pPr algn="l" indent="0" marL="0">
              <a:buNone/>
            </a:pPr>
            <a:r>
              <a:rPr lang="en-US" sz="1230" b="1" dirty="0">
                <a:solidFill>
                  <a:srgbClr val="18212F"/>
                </a:solidFill>
              </a:rPr>
              <a:t>Pure H2D + D2H</a:t>
            </a:r>
            <a:endParaRPr lang="en-US" sz="1230" dirty="0"/>
          </a:p>
        </p:txBody>
      </p:sp>
      <p:sp>
        <p:nvSpPr>
          <p:cNvPr id="59" name="Shape 57"/>
          <p:cNvSpPr/>
          <p:nvPr/>
        </p:nvSpPr>
        <p:spPr>
          <a:xfrm>
            <a:off x="4343400" y="5577840"/>
            <a:ext cx="1600200" cy="365760"/>
          </a:xfrm>
          <a:prstGeom prst="rect">
            <a:avLst/>
          </a:prstGeom>
          <a:solidFill>
            <a:srgbClr val="FFFFFF"/>
          </a:solidFill>
          <a:ln w="5715">
            <a:solidFill>
              <a:srgbClr val="F7F8FA"/>
            </a:solidFill>
            <a:prstDash val="solid"/>
          </a:ln>
        </p:spPr>
      </p:sp>
      <p:sp>
        <p:nvSpPr>
          <p:cNvPr id="60" name="Text 58"/>
          <p:cNvSpPr/>
          <p:nvPr/>
        </p:nvSpPr>
        <p:spPr>
          <a:xfrm>
            <a:off x="4407408" y="566470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1.936 ms</a:t>
            </a:r>
            <a:endParaRPr lang="en-US" sz="1230" dirty="0"/>
          </a:p>
        </p:txBody>
      </p:sp>
      <p:sp>
        <p:nvSpPr>
          <p:cNvPr id="61" name="Shape 59"/>
          <p:cNvSpPr/>
          <p:nvPr/>
        </p:nvSpPr>
        <p:spPr>
          <a:xfrm>
            <a:off x="5943600" y="5577840"/>
            <a:ext cx="1600200" cy="365760"/>
          </a:xfrm>
          <a:prstGeom prst="rect">
            <a:avLst/>
          </a:prstGeom>
          <a:solidFill>
            <a:srgbClr val="FFFFFF"/>
          </a:solidFill>
          <a:ln w="5715">
            <a:solidFill>
              <a:srgbClr val="F7F8FA"/>
            </a:solidFill>
            <a:prstDash val="solid"/>
          </a:ln>
        </p:spPr>
      </p:sp>
      <p:sp>
        <p:nvSpPr>
          <p:cNvPr id="62" name="Text 60"/>
          <p:cNvSpPr/>
          <p:nvPr/>
        </p:nvSpPr>
        <p:spPr>
          <a:xfrm>
            <a:off x="6007608" y="5664708"/>
            <a:ext cx="1472184" cy="228600"/>
          </a:xfrm>
          <a:prstGeom prst="rect">
            <a:avLst/>
          </a:prstGeom>
          <a:noFill/>
          <a:ln/>
        </p:spPr>
        <p:txBody>
          <a:bodyPr wrap="square" lIns="0" tIns="0" rIns="0" bIns="0" rtlCol="0" anchor="ctr">
            <a:normAutofit/>
          </a:bodyPr>
          <a:lstStyle/>
          <a:p>
            <a:pPr algn="r" indent="0" marL="0">
              <a:buNone/>
            </a:pPr>
            <a:r>
              <a:rPr lang="en-US" sz="1230" dirty="0">
                <a:solidFill>
                  <a:srgbClr val="18212F"/>
                </a:solidFill>
              </a:rPr>
              <a:t>0.45%</a:t>
            </a:r>
            <a:endParaRPr lang="en-US" sz="1230" dirty="0"/>
          </a:p>
        </p:txBody>
      </p:sp>
      <p:sp>
        <p:nvSpPr>
          <p:cNvPr id="63" name="Shape 61"/>
          <p:cNvSpPr/>
          <p:nvPr/>
        </p:nvSpPr>
        <p:spPr>
          <a:xfrm>
            <a:off x="8138160" y="1325880"/>
            <a:ext cx="3246120" cy="3063240"/>
          </a:xfrm>
          <a:prstGeom prst="rect">
            <a:avLst/>
          </a:prstGeom>
          <a:solidFill>
            <a:srgbClr val="FBEDEB"/>
          </a:solidFill>
          <a:ln w="9525">
            <a:solidFill>
              <a:srgbClr val="E7EBF0"/>
            </a:solidFill>
            <a:prstDash val="solid"/>
          </a:ln>
        </p:spPr>
      </p:sp>
      <p:sp>
        <p:nvSpPr>
          <p:cNvPr id="64" name="Shape 62"/>
          <p:cNvSpPr/>
          <p:nvPr/>
        </p:nvSpPr>
        <p:spPr>
          <a:xfrm>
            <a:off x="8138160" y="1325880"/>
            <a:ext cx="64008" cy="3063240"/>
          </a:xfrm>
          <a:prstGeom prst="rect">
            <a:avLst/>
          </a:prstGeom>
          <a:solidFill>
            <a:srgbClr val="D95D54"/>
          </a:solidFill>
          <a:ln w="12700">
            <a:solidFill>
              <a:srgbClr val="D95D54"/>
            </a:solidFill>
            <a:prstDash val="solid"/>
          </a:ln>
        </p:spPr>
      </p:sp>
      <p:sp>
        <p:nvSpPr>
          <p:cNvPr id="65" name="Text 63"/>
          <p:cNvSpPr/>
          <p:nvPr/>
        </p:nvSpPr>
        <p:spPr>
          <a:xfrm>
            <a:off x="8412480" y="1645920"/>
            <a:ext cx="2697480" cy="201168"/>
          </a:xfrm>
          <a:prstGeom prst="rect">
            <a:avLst/>
          </a:prstGeom>
          <a:noFill/>
          <a:ln/>
        </p:spPr>
        <p:txBody>
          <a:bodyPr wrap="square" lIns="0" tIns="0" rIns="0" bIns="0" rtlCol="0" anchor="ctr"/>
          <a:lstStyle/>
          <a:p>
            <a:pPr algn="ctr" indent="0" marL="0">
              <a:buNone/>
            </a:pPr>
            <a:r>
              <a:rPr lang="en-US" sz="1600" b="1" dirty="0">
                <a:solidFill>
                  <a:srgbClr val="D95D54"/>
                </a:solidFill>
              </a:rPr>
              <a:t>Core conclusion</a:t>
            </a:r>
            <a:endParaRPr lang="en-US" sz="1600" dirty="0"/>
          </a:p>
        </p:txBody>
      </p:sp>
      <p:sp>
        <p:nvSpPr>
          <p:cNvPr id="66" name="Text 64"/>
          <p:cNvSpPr/>
          <p:nvPr/>
        </p:nvSpPr>
        <p:spPr>
          <a:xfrm>
            <a:off x="8394192" y="2148840"/>
            <a:ext cx="2743200" cy="1051560"/>
          </a:xfrm>
          <a:prstGeom prst="rect">
            <a:avLst/>
          </a:prstGeom>
          <a:noFill/>
          <a:ln/>
        </p:spPr>
        <p:txBody>
          <a:bodyPr wrap="square" lIns="0" tIns="0" rIns="0" bIns="0" rtlCol="0" anchor="ctr">
            <a:normAutofit/>
          </a:bodyPr>
          <a:lstStyle/>
          <a:p>
            <a:pPr algn="ctr" indent="0" marL="0">
              <a:buNone/>
            </a:pPr>
            <a:r>
              <a:rPr lang="en-US" sz="1800" b="1" dirty="0">
                <a:solidFill>
                  <a:srgbClr val="18212F"/>
                </a:solidFill>
              </a:rPr>
              <a:t>The present bottleneck is CPU-side representation conversion and object/state management, not PCIe copies or the dense-Schur solve.</a:t>
            </a:r>
            <a:endParaRPr lang="en-US" sz="1800" dirty="0"/>
          </a:p>
        </p:txBody>
      </p:sp>
      <p:sp>
        <p:nvSpPr>
          <p:cNvPr id="67" name="Text 65"/>
          <p:cNvSpPr/>
          <p:nvPr/>
        </p:nvSpPr>
        <p:spPr>
          <a:xfrm>
            <a:off x="8412480" y="3730752"/>
            <a:ext cx="2697480" cy="228600"/>
          </a:xfrm>
          <a:prstGeom prst="rect">
            <a:avLst/>
          </a:prstGeom>
          <a:noFill/>
          <a:ln/>
        </p:spPr>
        <p:txBody>
          <a:bodyPr wrap="square" lIns="0" tIns="0" rIns="0" bIns="0" rtlCol="0" anchor="ctr">
            <a:normAutofit/>
          </a:bodyPr>
          <a:lstStyle/>
          <a:p>
            <a:pPr algn="ctr" indent="0" marL="0">
              <a:buNone/>
            </a:pPr>
            <a:r>
              <a:rPr lang="en-US" sz="1150" dirty="0">
                <a:solidFill>
                  <a:srgbClr val="5A6472"/>
                </a:solidFill>
              </a:rPr>
              <a:t>This conclusion applies to the specialized representation measured here.</a:t>
            </a:r>
            <a:endParaRPr lang="en-US" sz="1150" dirty="0"/>
          </a:p>
        </p:txBody>
      </p:sp>
      <p:sp>
        <p:nvSpPr>
          <p:cNvPr id="68" name="Text 66"/>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6</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General-solver baseline</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Proposed Ceres-style separation, not an exact description of every Ceres path.</a:t>
            </a:r>
            <a:endParaRPr lang="en-US" sz="1450" dirty="0"/>
          </a:p>
        </p:txBody>
      </p:sp>
      <p:sp>
        <p:nvSpPr>
          <p:cNvPr id="5" name="Shape 3"/>
          <p:cNvSpPr/>
          <p:nvPr/>
        </p:nvSpPr>
        <p:spPr>
          <a:xfrm>
            <a:off x="10652760" y="438912"/>
            <a:ext cx="1069848" cy="274320"/>
          </a:xfrm>
          <a:prstGeom prst="rect">
            <a:avLst/>
          </a:prstGeom>
          <a:solidFill>
            <a:srgbClr val="F2A23A"/>
          </a:solidFill>
          <a:ln w="12700">
            <a:solidFill>
              <a:srgbClr val="F2A23A"/>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Proposed</a:t>
            </a:r>
            <a:endParaRPr lang="en-US" sz="950" dirty="0"/>
          </a:p>
        </p:txBody>
      </p:sp>
      <p:sp>
        <p:nvSpPr>
          <p:cNvPr id="7" name="Shape 5"/>
          <p:cNvSpPr/>
          <p:nvPr/>
        </p:nvSpPr>
        <p:spPr>
          <a:xfrm>
            <a:off x="502920" y="1408176"/>
            <a:ext cx="1726692" cy="1975104"/>
          </a:xfrm>
          <a:prstGeom prst="rect">
            <a:avLst/>
          </a:prstGeom>
          <a:solidFill>
            <a:srgbClr val="EAF6F7"/>
          </a:solidFill>
          <a:ln w="9525">
            <a:solidFill>
              <a:srgbClr val="1F2A44"/>
            </a:solidFill>
            <a:prstDash val="solid"/>
          </a:ln>
        </p:spPr>
      </p:sp>
      <p:sp>
        <p:nvSpPr>
          <p:cNvPr id="8" name="Shape 6"/>
          <p:cNvSpPr/>
          <p:nvPr/>
        </p:nvSpPr>
        <p:spPr>
          <a:xfrm>
            <a:off x="502920" y="1408176"/>
            <a:ext cx="1726692" cy="91440"/>
          </a:xfrm>
          <a:prstGeom prst="rect">
            <a:avLst/>
          </a:prstGeom>
          <a:solidFill>
            <a:srgbClr val="0E7C86"/>
          </a:solidFill>
          <a:ln w="12700">
            <a:solidFill>
              <a:srgbClr val="0E7C86"/>
            </a:solidFill>
            <a:prstDash val="solid"/>
          </a:ln>
        </p:spPr>
      </p:sp>
      <p:sp>
        <p:nvSpPr>
          <p:cNvPr id="9" name="Text 7"/>
          <p:cNvSpPr/>
          <p:nvPr/>
        </p:nvSpPr>
        <p:spPr>
          <a:xfrm>
            <a:off x="612648"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CPU / TBB factor evaluation + linearization</a:t>
            </a:r>
            <a:endParaRPr lang="en-US" sz="1500" dirty="0"/>
          </a:p>
        </p:txBody>
      </p:sp>
      <p:sp>
        <p:nvSpPr>
          <p:cNvPr id="10" name="Text 8"/>
          <p:cNvSpPr/>
          <p:nvPr/>
        </p:nvSpPr>
        <p:spPr>
          <a:xfrm>
            <a:off x="612648"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Arbitrary GTSAM factors stay on CPU.</a:t>
            </a:r>
            <a:endParaRPr lang="en-US" sz="1250" dirty="0"/>
          </a:p>
        </p:txBody>
      </p:sp>
      <p:sp>
        <p:nvSpPr>
          <p:cNvPr id="11" name="Shape 9"/>
          <p:cNvSpPr/>
          <p:nvPr/>
        </p:nvSpPr>
        <p:spPr>
          <a:xfrm>
            <a:off x="2261616" y="2258568"/>
            <a:ext cx="118872" cy="274320"/>
          </a:xfrm>
          <a:prstGeom prst="chevron">
            <a:avLst/>
          </a:prstGeom>
          <a:solidFill>
            <a:srgbClr val="9AA8B6"/>
          </a:solidFill>
          <a:ln w="12700">
            <a:solidFill>
              <a:srgbClr val="9AA8B6"/>
            </a:solidFill>
            <a:prstDash val="solid"/>
          </a:ln>
        </p:spPr>
      </p:sp>
      <p:sp>
        <p:nvSpPr>
          <p:cNvPr id="12" name="Shape 10"/>
          <p:cNvSpPr/>
          <p:nvPr/>
        </p:nvSpPr>
        <p:spPr>
          <a:xfrm>
            <a:off x="2394204" y="1408176"/>
            <a:ext cx="1726692" cy="1975104"/>
          </a:xfrm>
          <a:prstGeom prst="rect">
            <a:avLst/>
          </a:prstGeom>
          <a:solidFill>
            <a:srgbClr val="FFFFFF"/>
          </a:solidFill>
          <a:ln w="9525">
            <a:solidFill>
              <a:srgbClr val="E7EBF0"/>
            </a:solidFill>
            <a:prstDash val="solid"/>
          </a:ln>
        </p:spPr>
      </p:sp>
      <p:sp>
        <p:nvSpPr>
          <p:cNvPr id="13" name="Shape 11"/>
          <p:cNvSpPr/>
          <p:nvPr/>
        </p:nvSpPr>
        <p:spPr>
          <a:xfrm>
            <a:off x="2394204" y="1408176"/>
            <a:ext cx="1726692" cy="91440"/>
          </a:xfrm>
          <a:prstGeom prst="rect">
            <a:avLst/>
          </a:prstGeom>
          <a:solidFill>
            <a:srgbClr val="3E74B8"/>
          </a:solidFill>
          <a:ln w="12700">
            <a:solidFill>
              <a:srgbClr val="3E74B8"/>
            </a:solidFill>
            <a:prstDash val="solid"/>
          </a:ln>
        </p:spPr>
      </p:sp>
      <p:sp>
        <p:nvSpPr>
          <p:cNvPr id="14" name="Text 12"/>
          <p:cNvSpPr/>
          <p:nvPr/>
        </p:nvSpPr>
        <p:spPr>
          <a:xfrm>
            <a:off x="2503932"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Reusable sparse numeric J / H buffers</a:t>
            </a:r>
            <a:endParaRPr lang="en-US" sz="1500" dirty="0"/>
          </a:p>
        </p:txBody>
      </p:sp>
      <p:sp>
        <p:nvSpPr>
          <p:cNvPr id="15" name="Text 13"/>
          <p:cNvSpPr/>
          <p:nvPr/>
        </p:nvSpPr>
        <p:spPr>
          <a:xfrm>
            <a:off x="2503932"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Cache structure; refresh numeric values.</a:t>
            </a:r>
            <a:endParaRPr lang="en-US" sz="1250" dirty="0"/>
          </a:p>
        </p:txBody>
      </p:sp>
      <p:sp>
        <p:nvSpPr>
          <p:cNvPr id="16" name="Shape 14"/>
          <p:cNvSpPr/>
          <p:nvPr/>
        </p:nvSpPr>
        <p:spPr>
          <a:xfrm>
            <a:off x="4152900" y="2258568"/>
            <a:ext cx="118872" cy="274320"/>
          </a:xfrm>
          <a:prstGeom prst="chevron">
            <a:avLst/>
          </a:prstGeom>
          <a:solidFill>
            <a:srgbClr val="9AA8B6"/>
          </a:solidFill>
          <a:ln w="12700">
            <a:solidFill>
              <a:srgbClr val="9AA8B6"/>
            </a:solidFill>
            <a:prstDash val="solid"/>
          </a:ln>
        </p:spPr>
      </p:sp>
      <p:sp>
        <p:nvSpPr>
          <p:cNvPr id="17" name="Shape 15"/>
          <p:cNvSpPr/>
          <p:nvPr/>
        </p:nvSpPr>
        <p:spPr>
          <a:xfrm>
            <a:off x="4285488" y="1408176"/>
            <a:ext cx="1726692" cy="1975104"/>
          </a:xfrm>
          <a:prstGeom prst="rect">
            <a:avLst/>
          </a:prstGeom>
          <a:solidFill>
            <a:srgbClr val="FEF4E3"/>
          </a:solidFill>
          <a:ln w="9525">
            <a:solidFill>
              <a:srgbClr val="E7EBF0"/>
            </a:solidFill>
            <a:prstDash val="solid"/>
          </a:ln>
        </p:spPr>
      </p:sp>
      <p:sp>
        <p:nvSpPr>
          <p:cNvPr id="18" name="Shape 16"/>
          <p:cNvSpPr/>
          <p:nvPr/>
        </p:nvSpPr>
        <p:spPr>
          <a:xfrm>
            <a:off x="4285488" y="1408176"/>
            <a:ext cx="1726692" cy="91440"/>
          </a:xfrm>
          <a:prstGeom prst="rect">
            <a:avLst/>
          </a:prstGeom>
          <a:solidFill>
            <a:srgbClr val="F2A23A"/>
          </a:solidFill>
          <a:ln w="12700">
            <a:solidFill>
              <a:srgbClr val="F2A23A"/>
            </a:solidFill>
            <a:prstDash val="solid"/>
          </a:ln>
        </p:spPr>
      </p:sp>
      <p:sp>
        <p:nvSpPr>
          <p:cNvPr id="19" name="Text 17"/>
          <p:cNvSpPr/>
          <p:nvPr/>
        </p:nvSpPr>
        <p:spPr>
          <a:xfrm>
            <a:off x="4395216"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H2D</a:t>
            </a:r>
            <a:endParaRPr lang="en-US" sz="1500" dirty="0"/>
          </a:p>
        </p:txBody>
      </p:sp>
      <p:sp>
        <p:nvSpPr>
          <p:cNvPr id="20" name="Text 18"/>
          <p:cNvSpPr/>
          <p:nvPr/>
        </p:nvSpPr>
        <p:spPr>
          <a:xfrm>
            <a:off x="4395216"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Upload generic linear-system numeric data.</a:t>
            </a:r>
            <a:endParaRPr lang="en-US" sz="1250" dirty="0"/>
          </a:p>
        </p:txBody>
      </p:sp>
      <p:sp>
        <p:nvSpPr>
          <p:cNvPr id="21" name="Shape 19"/>
          <p:cNvSpPr/>
          <p:nvPr/>
        </p:nvSpPr>
        <p:spPr>
          <a:xfrm>
            <a:off x="6044184" y="2258568"/>
            <a:ext cx="118872" cy="274320"/>
          </a:xfrm>
          <a:prstGeom prst="chevron">
            <a:avLst/>
          </a:prstGeom>
          <a:solidFill>
            <a:srgbClr val="9AA8B6"/>
          </a:solidFill>
          <a:ln w="12700">
            <a:solidFill>
              <a:srgbClr val="9AA8B6"/>
            </a:solidFill>
            <a:prstDash val="solid"/>
          </a:ln>
        </p:spPr>
      </p:sp>
      <p:sp>
        <p:nvSpPr>
          <p:cNvPr id="22" name="Shape 20"/>
          <p:cNvSpPr/>
          <p:nvPr/>
        </p:nvSpPr>
        <p:spPr>
          <a:xfrm>
            <a:off x="6176772" y="1408176"/>
            <a:ext cx="1726692" cy="1975104"/>
          </a:xfrm>
          <a:prstGeom prst="rect">
            <a:avLst/>
          </a:prstGeom>
          <a:solidFill>
            <a:srgbClr val="EAF7EF"/>
          </a:solidFill>
          <a:ln w="9525">
            <a:solidFill>
              <a:srgbClr val="E7EBF0"/>
            </a:solidFill>
            <a:prstDash val="solid"/>
          </a:ln>
        </p:spPr>
      </p:sp>
      <p:sp>
        <p:nvSpPr>
          <p:cNvPr id="23" name="Shape 21"/>
          <p:cNvSpPr/>
          <p:nvPr/>
        </p:nvSpPr>
        <p:spPr>
          <a:xfrm>
            <a:off x="6176772" y="1408176"/>
            <a:ext cx="1726692" cy="91440"/>
          </a:xfrm>
          <a:prstGeom prst="rect">
            <a:avLst/>
          </a:prstGeom>
          <a:solidFill>
            <a:srgbClr val="46A06F"/>
          </a:solidFill>
          <a:ln w="12700">
            <a:solidFill>
              <a:srgbClr val="46A06F"/>
            </a:solidFill>
            <a:prstDash val="solid"/>
          </a:ln>
        </p:spPr>
      </p:sp>
      <p:sp>
        <p:nvSpPr>
          <p:cNvPr id="24" name="Text 22"/>
          <p:cNvSpPr/>
          <p:nvPr/>
        </p:nvSpPr>
        <p:spPr>
          <a:xfrm>
            <a:off x="6286500"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GPU linear solve</a:t>
            </a:r>
            <a:endParaRPr lang="en-US" sz="1500" dirty="0"/>
          </a:p>
        </p:txBody>
      </p:sp>
      <p:sp>
        <p:nvSpPr>
          <p:cNvPr id="25" name="Text 23"/>
          <p:cNvSpPr/>
          <p:nvPr/>
        </p:nvSpPr>
        <p:spPr>
          <a:xfrm>
            <a:off x="6286500"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Normal equations plus cuDSS or dense solver.</a:t>
            </a:r>
            <a:endParaRPr lang="en-US" sz="1250" dirty="0"/>
          </a:p>
        </p:txBody>
      </p:sp>
      <p:sp>
        <p:nvSpPr>
          <p:cNvPr id="26" name="Shape 24"/>
          <p:cNvSpPr/>
          <p:nvPr/>
        </p:nvSpPr>
        <p:spPr>
          <a:xfrm>
            <a:off x="7935468" y="2258568"/>
            <a:ext cx="118872" cy="274320"/>
          </a:xfrm>
          <a:prstGeom prst="chevron">
            <a:avLst/>
          </a:prstGeom>
          <a:solidFill>
            <a:srgbClr val="9AA8B6"/>
          </a:solidFill>
          <a:ln w="12700">
            <a:solidFill>
              <a:srgbClr val="9AA8B6"/>
            </a:solidFill>
            <a:prstDash val="solid"/>
          </a:ln>
        </p:spPr>
      </p:sp>
      <p:sp>
        <p:nvSpPr>
          <p:cNvPr id="27" name="Shape 25"/>
          <p:cNvSpPr/>
          <p:nvPr/>
        </p:nvSpPr>
        <p:spPr>
          <a:xfrm>
            <a:off x="8068056" y="1408176"/>
            <a:ext cx="1726692" cy="1975104"/>
          </a:xfrm>
          <a:prstGeom prst="rect">
            <a:avLst/>
          </a:prstGeom>
          <a:solidFill>
            <a:srgbClr val="FEF4E3"/>
          </a:solidFill>
          <a:ln w="9525">
            <a:solidFill>
              <a:srgbClr val="E7EBF0"/>
            </a:solidFill>
            <a:prstDash val="solid"/>
          </a:ln>
        </p:spPr>
      </p:sp>
      <p:sp>
        <p:nvSpPr>
          <p:cNvPr id="28" name="Shape 26"/>
          <p:cNvSpPr/>
          <p:nvPr/>
        </p:nvSpPr>
        <p:spPr>
          <a:xfrm>
            <a:off x="8068056" y="1408176"/>
            <a:ext cx="1726692" cy="91440"/>
          </a:xfrm>
          <a:prstGeom prst="rect">
            <a:avLst/>
          </a:prstGeom>
          <a:solidFill>
            <a:srgbClr val="F2A23A"/>
          </a:solidFill>
          <a:ln w="12700">
            <a:solidFill>
              <a:srgbClr val="F2A23A"/>
            </a:solidFill>
            <a:prstDash val="solid"/>
          </a:ln>
        </p:spPr>
      </p:sp>
      <p:sp>
        <p:nvSpPr>
          <p:cNvPr id="29" name="Text 27"/>
          <p:cNvSpPr/>
          <p:nvPr/>
        </p:nvSpPr>
        <p:spPr>
          <a:xfrm>
            <a:off x="8177784"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D2H delta</a:t>
            </a:r>
            <a:endParaRPr lang="en-US" sz="1500" dirty="0"/>
          </a:p>
        </p:txBody>
      </p:sp>
      <p:sp>
        <p:nvSpPr>
          <p:cNvPr id="30" name="Text 28"/>
          <p:cNvSpPr/>
          <p:nvPr/>
        </p:nvSpPr>
        <p:spPr>
          <a:xfrm>
            <a:off x="8177784"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Return only the solved update.</a:t>
            </a:r>
            <a:endParaRPr lang="en-US" sz="1250" dirty="0"/>
          </a:p>
        </p:txBody>
      </p:sp>
      <p:sp>
        <p:nvSpPr>
          <p:cNvPr id="31" name="Shape 29"/>
          <p:cNvSpPr/>
          <p:nvPr/>
        </p:nvSpPr>
        <p:spPr>
          <a:xfrm>
            <a:off x="9826752" y="2258568"/>
            <a:ext cx="118872" cy="274320"/>
          </a:xfrm>
          <a:prstGeom prst="chevron">
            <a:avLst/>
          </a:prstGeom>
          <a:solidFill>
            <a:srgbClr val="9AA8B6"/>
          </a:solidFill>
          <a:ln w="12700">
            <a:solidFill>
              <a:srgbClr val="9AA8B6"/>
            </a:solidFill>
            <a:prstDash val="solid"/>
          </a:ln>
        </p:spPr>
      </p:sp>
      <p:sp>
        <p:nvSpPr>
          <p:cNvPr id="32" name="Shape 30"/>
          <p:cNvSpPr/>
          <p:nvPr/>
        </p:nvSpPr>
        <p:spPr>
          <a:xfrm>
            <a:off x="9959340" y="1408176"/>
            <a:ext cx="1726692" cy="1975104"/>
          </a:xfrm>
          <a:prstGeom prst="rect">
            <a:avLst/>
          </a:prstGeom>
          <a:solidFill>
            <a:srgbClr val="FBEDEB"/>
          </a:solidFill>
          <a:ln w="9525">
            <a:solidFill>
              <a:srgbClr val="E7EBF0"/>
            </a:solidFill>
            <a:prstDash val="solid"/>
          </a:ln>
        </p:spPr>
      </p:sp>
      <p:sp>
        <p:nvSpPr>
          <p:cNvPr id="33" name="Shape 31"/>
          <p:cNvSpPr/>
          <p:nvPr/>
        </p:nvSpPr>
        <p:spPr>
          <a:xfrm>
            <a:off x="9959340" y="1408176"/>
            <a:ext cx="1726692" cy="91440"/>
          </a:xfrm>
          <a:prstGeom prst="rect">
            <a:avLst/>
          </a:prstGeom>
          <a:solidFill>
            <a:srgbClr val="D95D54"/>
          </a:solidFill>
          <a:ln w="12700">
            <a:solidFill>
              <a:srgbClr val="D95D54"/>
            </a:solidFill>
            <a:prstDash val="solid"/>
          </a:ln>
        </p:spPr>
      </p:sp>
      <p:sp>
        <p:nvSpPr>
          <p:cNvPr id="34" name="Text 32"/>
          <p:cNvSpPr/>
          <p:nvPr/>
        </p:nvSpPr>
        <p:spPr>
          <a:xfrm>
            <a:off x="10069068" y="1600200"/>
            <a:ext cx="1507236" cy="292608"/>
          </a:xfrm>
          <a:prstGeom prst="rect">
            <a:avLst/>
          </a:prstGeom>
          <a:noFill/>
          <a:ln/>
        </p:spPr>
        <p:txBody>
          <a:bodyPr wrap="square" lIns="0" tIns="0" rIns="0" bIns="0" rtlCol="0" anchor="ctr">
            <a:normAutofit/>
          </a:bodyPr>
          <a:lstStyle/>
          <a:p>
            <a:pPr algn="ctr" indent="0" marL="0">
              <a:buNone/>
            </a:pPr>
            <a:r>
              <a:rPr lang="en-US" sz="1500" b="1" dirty="0">
                <a:solidFill>
                  <a:srgbClr val="18212F"/>
                </a:solidFill>
              </a:rPr>
              <a:t>CPU Values retract + trial decision</a:t>
            </a:r>
            <a:endParaRPr lang="en-US" sz="1500" dirty="0"/>
          </a:p>
        </p:txBody>
      </p:sp>
      <p:sp>
        <p:nvSpPr>
          <p:cNvPr id="35" name="Text 33"/>
          <p:cNvSpPr/>
          <p:nvPr/>
        </p:nvSpPr>
        <p:spPr>
          <a:xfrm>
            <a:off x="10069068" y="2066544"/>
            <a:ext cx="1507236" cy="1197864"/>
          </a:xfrm>
          <a:prstGeom prst="rect">
            <a:avLst/>
          </a:prstGeom>
          <a:noFill/>
          <a:ln/>
        </p:spPr>
        <p:txBody>
          <a:bodyPr wrap="square" lIns="0" tIns="0" rIns="0" bIns="0" rtlCol="0" anchor="ctr">
            <a:normAutofit/>
          </a:bodyPr>
          <a:lstStyle/>
          <a:p>
            <a:pPr algn="ctr" indent="0" marL="0">
              <a:buNone/>
            </a:pPr>
            <a:r>
              <a:rPr lang="en-US" sz="1250" dirty="0">
                <a:solidFill>
                  <a:srgbClr val="5A6472"/>
                </a:solidFill>
              </a:rPr>
              <a:t>Manifold retract, error, and trust-region decision.</a:t>
            </a:r>
            <a:endParaRPr lang="en-US" sz="1250" dirty="0"/>
          </a:p>
        </p:txBody>
      </p:sp>
      <p:sp>
        <p:nvSpPr>
          <p:cNvPr id="36" name="Shape 34"/>
          <p:cNvSpPr/>
          <p:nvPr/>
        </p:nvSpPr>
        <p:spPr>
          <a:xfrm>
            <a:off x="658368" y="4041648"/>
            <a:ext cx="5212080" cy="1325880"/>
          </a:xfrm>
          <a:prstGeom prst="rect">
            <a:avLst/>
          </a:prstGeom>
          <a:solidFill>
            <a:srgbClr val="F1F4F8"/>
          </a:solidFill>
          <a:ln w="9525">
            <a:solidFill>
              <a:srgbClr val="E7EBF0"/>
            </a:solidFill>
            <a:prstDash val="solid"/>
          </a:ln>
        </p:spPr>
      </p:sp>
      <p:sp>
        <p:nvSpPr>
          <p:cNvPr id="37" name="Shape 35"/>
          <p:cNvSpPr/>
          <p:nvPr/>
        </p:nvSpPr>
        <p:spPr>
          <a:xfrm>
            <a:off x="658368" y="4041648"/>
            <a:ext cx="64008" cy="1325880"/>
          </a:xfrm>
          <a:prstGeom prst="rect">
            <a:avLst/>
          </a:prstGeom>
          <a:solidFill>
            <a:srgbClr val="1F2A44"/>
          </a:solidFill>
          <a:ln w="12700">
            <a:solidFill>
              <a:srgbClr val="1F2A44"/>
            </a:solidFill>
            <a:prstDash val="solid"/>
          </a:ln>
        </p:spPr>
      </p:sp>
      <p:sp>
        <p:nvSpPr>
          <p:cNvPr id="38" name="Text 36"/>
          <p:cNvSpPr/>
          <p:nvPr/>
        </p:nvSpPr>
        <p:spPr>
          <a:xfrm>
            <a:off x="914400" y="4315968"/>
            <a:ext cx="4663440" cy="201168"/>
          </a:xfrm>
          <a:prstGeom prst="rect">
            <a:avLst/>
          </a:prstGeom>
          <a:noFill/>
          <a:ln/>
        </p:spPr>
        <p:txBody>
          <a:bodyPr wrap="square" lIns="0" tIns="0" rIns="0" bIns="0" rtlCol="0" anchor="ctr"/>
          <a:lstStyle/>
          <a:p>
            <a:pPr algn="ctr" indent="0" marL="0">
              <a:buNone/>
            </a:pPr>
            <a:r>
              <a:rPr lang="en-US" sz="1700" b="1" dirty="0">
                <a:solidFill>
                  <a:srgbClr val="1F2A44"/>
                </a:solidFill>
              </a:rPr>
              <a:t>Why this is general</a:t>
            </a:r>
            <a:endParaRPr lang="en-US" sz="1700" dirty="0"/>
          </a:p>
        </p:txBody>
      </p:sp>
      <p:sp>
        <p:nvSpPr>
          <p:cNvPr id="39" name="Text 37"/>
          <p:cNvSpPr/>
          <p:nvPr/>
        </p:nvSpPr>
        <p:spPr>
          <a:xfrm>
            <a:off x="914400" y="4663440"/>
            <a:ext cx="4663440" cy="438912"/>
          </a:xfrm>
          <a:prstGeom prst="rect">
            <a:avLst/>
          </a:prstGeom>
          <a:noFill/>
          <a:ln/>
        </p:spPr>
        <p:txBody>
          <a:bodyPr wrap="square" lIns="0" tIns="0" rIns="0" bIns="0" rtlCol="0" anchor="ctr">
            <a:normAutofit/>
          </a:bodyPr>
          <a:lstStyle/>
          <a:p>
            <a:pPr algn="ctr" indent="0" marL="0">
              <a:buNone/>
            </a:pPr>
            <a:r>
              <a:rPr lang="en-US" sz="1450" dirty="0">
                <a:solidFill>
                  <a:srgbClr val="18212F"/>
                </a:solidFill>
              </a:rPr>
              <a:t>Arbitrary GTSAM factors remain in the CPU nonlinear layer. The GPU receives a generic linear system rather than an SFM-specific graph representation.</a:t>
            </a:r>
            <a:endParaRPr lang="en-US" sz="1450" dirty="0"/>
          </a:p>
        </p:txBody>
      </p:sp>
      <p:sp>
        <p:nvSpPr>
          <p:cNvPr id="40" name="Shape 38"/>
          <p:cNvSpPr/>
          <p:nvPr/>
        </p:nvSpPr>
        <p:spPr>
          <a:xfrm>
            <a:off x="6172200" y="4041648"/>
            <a:ext cx="5257800" cy="1325880"/>
          </a:xfrm>
          <a:prstGeom prst="rect">
            <a:avLst/>
          </a:prstGeom>
          <a:solidFill>
            <a:srgbClr val="FEF4E3"/>
          </a:solidFill>
          <a:ln w="9525">
            <a:solidFill>
              <a:srgbClr val="E7EBF0"/>
            </a:solidFill>
            <a:prstDash val="solid"/>
          </a:ln>
        </p:spPr>
      </p:sp>
      <p:sp>
        <p:nvSpPr>
          <p:cNvPr id="41" name="Shape 39"/>
          <p:cNvSpPr/>
          <p:nvPr/>
        </p:nvSpPr>
        <p:spPr>
          <a:xfrm>
            <a:off x="6172200" y="4041648"/>
            <a:ext cx="64008" cy="1325880"/>
          </a:xfrm>
          <a:prstGeom prst="rect">
            <a:avLst/>
          </a:prstGeom>
          <a:solidFill>
            <a:srgbClr val="F2A23A"/>
          </a:solidFill>
          <a:ln w="12700">
            <a:solidFill>
              <a:srgbClr val="F2A23A"/>
            </a:solidFill>
            <a:prstDash val="solid"/>
          </a:ln>
        </p:spPr>
      </p:sp>
      <p:sp>
        <p:nvSpPr>
          <p:cNvPr id="42" name="Text 40"/>
          <p:cNvSpPr/>
          <p:nvPr/>
        </p:nvSpPr>
        <p:spPr>
          <a:xfrm>
            <a:off x="6446520" y="4315968"/>
            <a:ext cx="4709160" cy="201168"/>
          </a:xfrm>
          <a:prstGeom prst="rect">
            <a:avLst/>
          </a:prstGeom>
          <a:noFill/>
          <a:ln/>
        </p:spPr>
        <p:txBody>
          <a:bodyPr wrap="square" lIns="0" tIns="0" rIns="0" bIns="0" rtlCol="0" anchor="ctr"/>
          <a:lstStyle/>
          <a:p>
            <a:pPr algn="ctr" indent="0" marL="0">
              <a:buNone/>
            </a:pPr>
            <a:r>
              <a:rPr lang="en-US" sz="1700" b="1" dirty="0">
                <a:solidFill>
                  <a:srgbClr val="F2A23A"/>
                </a:solidFill>
              </a:rPr>
              <a:t>What remains a hypothesis</a:t>
            </a:r>
            <a:endParaRPr lang="en-US" sz="1700" dirty="0"/>
          </a:p>
        </p:txBody>
      </p:sp>
      <p:sp>
        <p:nvSpPr>
          <p:cNvPr id="43" name="Text 41"/>
          <p:cNvSpPr/>
          <p:nvPr/>
        </p:nvSpPr>
        <p:spPr>
          <a:xfrm>
            <a:off x="6446520" y="4663440"/>
            <a:ext cx="4709160" cy="438912"/>
          </a:xfrm>
          <a:prstGeom prst="rect">
            <a:avLst/>
          </a:prstGeom>
          <a:noFill/>
          <a:ln/>
        </p:spPr>
        <p:txBody>
          <a:bodyPr wrap="square" lIns="0" tIns="0" rIns="0" bIns="0" rtlCol="0" anchor="ctr">
            <a:normAutofit/>
          </a:bodyPr>
          <a:lstStyle/>
          <a:p>
            <a:pPr algn="ctr" indent="0" marL="0">
              <a:buNone/>
            </a:pPr>
            <a:r>
              <a:rPr lang="en-US" sz="1450" dirty="0">
                <a:solidFill>
                  <a:srgbClr val="18212F"/>
                </a:solidFill>
              </a:rPr>
              <a:t>Sparse packing, repeated numeric upload, delta mapping, and end-to-end convergence must be measured in the actual prototype.</a:t>
            </a:r>
            <a:endParaRPr lang="en-US" sz="1450" dirty="0"/>
          </a:p>
        </p:txBody>
      </p:sp>
      <p:sp>
        <p:nvSpPr>
          <p:cNvPr id="44" name="Text 42"/>
          <p:cNvSpPr/>
          <p:nvPr/>
        </p:nvSpPr>
        <p:spPr>
          <a:xfrm>
            <a:off x="658368" y="5989320"/>
            <a:ext cx="10789920" cy="155448"/>
          </a:xfrm>
          <a:prstGeom prst="rect">
            <a:avLst/>
          </a:prstGeom>
          <a:noFill/>
          <a:ln/>
        </p:spPr>
        <p:txBody>
          <a:bodyPr wrap="square" lIns="0" tIns="0" rIns="0" bIns="0" rtlCol="0" anchor="ctr">
            <a:normAutofit/>
          </a:bodyPr>
          <a:lstStyle/>
          <a:p>
            <a:pPr indent="0" marL="0">
              <a:buNone/>
            </a:pPr>
            <a:r>
              <a:rPr lang="en-US" sz="950" dirty="0">
                <a:solidFill>
                  <a:srgbClr val="5A6472"/>
                </a:solidFill>
              </a:rPr>
              <a:t>Sources: https://ceres-solver.readthedocs.io/latest/installation.html | https://ceres-solver.readthedocs.io/latest/nnls_solving.html</a:t>
            </a:r>
            <a:endParaRPr lang="en-US" sz="950" dirty="0"/>
          </a:p>
        </p:txBody>
      </p:sp>
      <p:sp>
        <p:nvSpPr>
          <p:cNvPr id="45" name="Text 43"/>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CUDA SFM LM progress | Dubrovnik 135 | 7</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Baseline feasibility timing</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Separately timed, synthetic per-candidate lower-bound arithmetic. Repeat-0-excluded sensitivity view.</a:t>
            </a:r>
            <a:endParaRPr lang="en-US" sz="1450" dirty="0"/>
          </a:p>
        </p:txBody>
      </p:sp>
      <p:sp>
        <p:nvSpPr>
          <p:cNvPr id="5" name="Shape 3"/>
          <p:cNvSpPr/>
          <p:nvPr/>
        </p:nvSpPr>
        <p:spPr>
          <a:xfrm>
            <a:off x="9464040" y="438912"/>
            <a:ext cx="1069848" cy="274320"/>
          </a:xfrm>
          <a:prstGeom prst="rect">
            <a:avLst/>
          </a:prstGeom>
          <a:solidFill>
            <a:srgbClr val="0E7C86"/>
          </a:solidFill>
          <a:ln w="12700">
            <a:solidFill>
              <a:srgbClr val="0E7C86"/>
            </a:solidFill>
            <a:prstDash val="solid"/>
          </a:ln>
        </p:spPr>
      </p:sp>
      <p:sp>
        <p:nvSpPr>
          <p:cNvPr id="6" name="Text 4"/>
          <p:cNvSpPr/>
          <p:nvPr/>
        </p:nvSpPr>
        <p:spPr>
          <a:xfrm>
            <a:off x="953719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10469880" y="438912"/>
            <a:ext cx="1152144" cy="274320"/>
          </a:xfrm>
          <a:prstGeom prst="rect">
            <a:avLst/>
          </a:prstGeom>
          <a:solidFill>
            <a:srgbClr val="F2A23A"/>
          </a:solidFill>
          <a:ln w="12700">
            <a:solidFill>
              <a:srgbClr val="F2A23A"/>
            </a:solidFill>
            <a:prstDash val="solid"/>
          </a:ln>
        </p:spPr>
      </p:sp>
      <p:sp>
        <p:nvSpPr>
          <p:cNvPr id="8" name="Text 6"/>
          <p:cNvSpPr/>
          <p:nvPr/>
        </p:nvSpPr>
        <p:spPr>
          <a:xfrm>
            <a:off x="10543032" y="507492"/>
            <a:ext cx="1005840"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Estimated</a:t>
            </a:r>
            <a:endParaRPr lang="en-US" sz="950" dirty="0"/>
          </a:p>
        </p:txBody>
      </p:sp>
      <p:sp>
        <p:nvSpPr>
          <p:cNvPr id="9" name="Shape 7"/>
          <p:cNvSpPr/>
          <p:nvPr/>
        </p:nvSpPr>
        <p:spPr>
          <a:xfrm>
            <a:off x="658368" y="1335024"/>
            <a:ext cx="3383280" cy="411480"/>
          </a:xfrm>
          <a:prstGeom prst="rect">
            <a:avLst/>
          </a:prstGeom>
          <a:solidFill>
            <a:srgbClr val="0E7C86"/>
          </a:solidFill>
          <a:ln w="5715">
            <a:solidFill>
              <a:srgbClr val="F7F8FA"/>
            </a:solidFill>
            <a:prstDash val="solid"/>
          </a:ln>
        </p:spPr>
      </p:sp>
      <p:sp>
        <p:nvSpPr>
          <p:cNvPr id="10" name="Text 8"/>
          <p:cNvSpPr/>
          <p:nvPr/>
        </p:nvSpPr>
        <p:spPr>
          <a:xfrm>
            <a:off x="722376" y="1421892"/>
            <a:ext cx="3255264" cy="274320"/>
          </a:xfrm>
          <a:prstGeom prst="rect">
            <a:avLst/>
          </a:prstGeom>
          <a:noFill/>
          <a:ln/>
        </p:spPr>
        <p:txBody>
          <a:bodyPr wrap="square" lIns="0" tIns="0" rIns="0" bIns="0" rtlCol="0" anchor="ctr">
            <a:normAutofit/>
          </a:bodyPr>
          <a:lstStyle/>
          <a:p>
            <a:pPr algn="l" indent="0" marL="0">
              <a:buNone/>
            </a:pPr>
            <a:r>
              <a:rPr lang="en-US" sz="1300" b="1" dirty="0">
                <a:solidFill>
                  <a:srgbClr val="FFFFFF"/>
                </a:solidFill>
              </a:rPr>
              <a:t>Measured CPU operation</a:t>
            </a:r>
            <a:endParaRPr lang="en-US" sz="1300" dirty="0"/>
          </a:p>
        </p:txBody>
      </p:sp>
      <p:sp>
        <p:nvSpPr>
          <p:cNvPr id="11" name="Shape 9"/>
          <p:cNvSpPr/>
          <p:nvPr/>
        </p:nvSpPr>
        <p:spPr>
          <a:xfrm>
            <a:off x="4041648" y="1335024"/>
            <a:ext cx="1554480" cy="411480"/>
          </a:xfrm>
          <a:prstGeom prst="rect">
            <a:avLst/>
          </a:prstGeom>
          <a:solidFill>
            <a:srgbClr val="0E7C86"/>
          </a:solidFill>
          <a:ln w="5715">
            <a:solidFill>
              <a:srgbClr val="F7F8FA"/>
            </a:solidFill>
            <a:prstDash val="solid"/>
          </a:ln>
        </p:spPr>
      </p:sp>
      <p:sp>
        <p:nvSpPr>
          <p:cNvPr id="12" name="Text 10"/>
          <p:cNvSpPr/>
          <p:nvPr/>
        </p:nvSpPr>
        <p:spPr>
          <a:xfrm>
            <a:off x="4105656" y="1421892"/>
            <a:ext cx="1426464" cy="274320"/>
          </a:xfrm>
          <a:prstGeom prst="rect">
            <a:avLst/>
          </a:prstGeom>
          <a:noFill/>
          <a:ln/>
        </p:spPr>
        <p:txBody>
          <a:bodyPr wrap="square" lIns="0" tIns="0" rIns="0" bIns="0" rtlCol="0" anchor="ctr">
            <a:normAutofit/>
          </a:bodyPr>
          <a:lstStyle/>
          <a:p>
            <a:pPr algn="r" indent="0" marL="0">
              <a:buNone/>
            </a:pPr>
            <a:r>
              <a:rPr lang="en-US" sz="1300" b="1" dirty="0">
                <a:solidFill>
                  <a:srgbClr val="FFFFFF"/>
                </a:solidFill>
              </a:rPr>
              <a:t>Mean</a:t>
            </a:r>
            <a:endParaRPr lang="en-US" sz="1300" dirty="0"/>
          </a:p>
        </p:txBody>
      </p:sp>
      <p:sp>
        <p:nvSpPr>
          <p:cNvPr id="13" name="Shape 11"/>
          <p:cNvSpPr/>
          <p:nvPr/>
        </p:nvSpPr>
        <p:spPr>
          <a:xfrm>
            <a:off x="5596128" y="1335024"/>
            <a:ext cx="2971800" cy="411480"/>
          </a:xfrm>
          <a:prstGeom prst="rect">
            <a:avLst/>
          </a:prstGeom>
          <a:solidFill>
            <a:srgbClr val="0E7C86"/>
          </a:solidFill>
          <a:ln w="5715">
            <a:solidFill>
              <a:srgbClr val="F7F8FA"/>
            </a:solidFill>
            <a:prstDash val="solid"/>
          </a:ln>
        </p:spPr>
      </p:sp>
      <p:sp>
        <p:nvSpPr>
          <p:cNvPr id="14" name="Text 12"/>
          <p:cNvSpPr/>
          <p:nvPr/>
        </p:nvSpPr>
        <p:spPr>
          <a:xfrm>
            <a:off x="5660136" y="1421892"/>
            <a:ext cx="2843784" cy="274320"/>
          </a:xfrm>
          <a:prstGeom prst="rect">
            <a:avLst/>
          </a:prstGeom>
          <a:noFill/>
          <a:ln/>
        </p:spPr>
        <p:txBody>
          <a:bodyPr wrap="square" lIns="0" tIns="0" rIns="0" bIns="0" rtlCol="0" anchor="ctr">
            <a:normAutofit/>
          </a:bodyPr>
          <a:lstStyle/>
          <a:p>
            <a:pPr algn="l" indent="0" marL="0">
              <a:buNone/>
            </a:pPr>
            <a:r>
              <a:rPr lang="en-US" sz="1300" b="1" dirty="0">
                <a:solidFill>
                  <a:srgbClr val="FFFFFF"/>
                </a:solidFill>
              </a:rPr>
              <a:t>Role</a:t>
            </a:r>
            <a:endParaRPr lang="en-US" sz="1300" dirty="0"/>
          </a:p>
        </p:txBody>
      </p:sp>
      <p:sp>
        <p:nvSpPr>
          <p:cNvPr id="15" name="Shape 13"/>
          <p:cNvSpPr/>
          <p:nvPr/>
        </p:nvSpPr>
        <p:spPr>
          <a:xfrm>
            <a:off x="658368" y="1746504"/>
            <a:ext cx="3383280" cy="411480"/>
          </a:xfrm>
          <a:prstGeom prst="rect">
            <a:avLst/>
          </a:prstGeom>
          <a:solidFill>
            <a:srgbClr val="FFFFFF"/>
          </a:solidFill>
          <a:ln w="5715">
            <a:solidFill>
              <a:srgbClr val="F7F8FA"/>
            </a:solidFill>
            <a:prstDash val="solid"/>
          </a:ln>
        </p:spPr>
      </p:sp>
      <p:sp>
        <p:nvSpPr>
          <p:cNvPr id="16" name="Text 14"/>
          <p:cNvSpPr/>
          <p:nvPr/>
        </p:nvSpPr>
        <p:spPr>
          <a:xfrm>
            <a:off x="722376" y="1833372"/>
            <a:ext cx="3255264" cy="274320"/>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CPU / TBB linearize</a:t>
            </a:r>
            <a:endParaRPr lang="en-US" sz="1300" dirty="0"/>
          </a:p>
        </p:txBody>
      </p:sp>
      <p:sp>
        <p:nvSpPr>
          <p:cNvPr id="17" name="Shape 15"/>
          <p:cNvSpPr/>
          <p:nvPr/>
        </p:nvSpPr>
        <p:spPr>
          <a:xfrm>
            <a:off x="4041648" y="1746504"/>
            <a:ext cx="1554480" cy="411480"/>
          </a:xfrm>
          <a:prstGeom prst="rect">
            <a:avLst/>
          </a:prstGeom>
          <a:solidFill>
            <a:srgbClr val="FFFFFF"/>
          </a:solidFill>
          <a:ln w="5715">
            <a:solidFill>
              <a:srgbClr val="F7F8FA"/>
            </a:solidFill>
            <a:prstDash val="solid"/>
          </a:ln>
        </p:spPr>
      </p:sp>
      <p:sp>
        <p:nvSpPr>
          <p:cNvPr id="18" name="Text 16"/>
          <p:cNvSpPr/>
          <p:nvPr/>
        </p:nvSpPr>
        <p:spPr>
          <a:xfrm>
            <a:off x="4105656" y="1833372"/>
            <a:ext cx="1426464" cy="274320"/>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28.316 ms</a:t>
            </a:r>
            <a:endParaRPr lang="en-US" sz="1300" dirty="0"/>
          </a:p>
        </p:txBody>
      </p:sp>
      <p:sp>
        <p:nvSpPr>
          <p:cNvPr id="19" name="Shape 17"/>
          <p:cNvSpPr/>
          <p:nvPr/>
        </p:nvSpPr>
        <p:spPr>
          <a:xfrm>
            <a:off x="5596128" y="1746504"/>
            <a:ext cx="2971800" cy="411480"/>
          </a:xfrm>
          <a:prstGeom prst="rect">
            <a:avLst/>
          </a:prstGeom>
          <a:solidFill>
            <a:srgbClr val="FFFFFF"/>
          </a:solidFill>
          <a:ln w="5715">
            <a:solidFill>
              <a:srgbClr val="F7F8FA"/>
            </a:solidFill>
            <a:prstDash val="solid"/>
          </a:ln>
        </p:spPr>
      </p:sp>
      <p:sp>
        <p:nvSpPr>
          <p:cNvPr id="20" name="Text 18"/>
          <p:cNvSpPr/>
          <p:nvPr/>
        </p:nvSpPr>
        <p:spPr>
          <a:xfrm>
            <a:off x="5660136" y="1833372"/>
            <a:ext cx="2843784" cy="274320"/>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Factor evaluation and linearization</a:t>
            </a:r>
            <a:endParaRPr lang="en-US" sz="1300" dirty="0"/>
          </a:p>
        </p:txBody>
      </p:sp>
      <p:sp>
        <p:nvSpPr>
          <p:cNvPr id="21" name="Shape 19"/>
          <p:cNvSpPr/>
          <p:nvPr/>
        </p:nvSpPr>
        <p:spPr>
          <a:xfrm>
            <a:off x="658368" y="2157984"/>
            <a:ext cx="3383280" cy="411480"/>
          </a:xfrm>
          <a:prstGeom prst="rect">
            <a:avLst/>
          </a:prstGeom>
          <a:solidFill>
            <a:srgbClr val="F0F4F7"/>
          </a:solidFill>
          <a:ln w="5715">
            <a:solidFill>
              <a:srgbClr val="F7F8FA"/>
            </a:solidFill>
            <a:prstDash val="solid"/>
          </a:ln>
        </p:spPr>
      </p:sp>
      <p:sp>
        <p:nvSpPr>
          <p:cNvPr id="22" name="Text 20"/>
          <p:cNvSpPr/>
          <p:nvPr/>
        </p:nvSpPr>
        <p:spPr>
          <a:xfrm>
            <a:off x="722376" y="2244852"/>
            <a:ext cx="3255264" cy="274320"/>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Values retract</a:t>
            </a:r>
            <a:endParaRPr lang="en-US" sz="1300" dirty="0"/>
          </a:p>
        </p:txBody>
      </p:sp>
      <p:sp>
        <p:nvSpPr>
          <p:cNvPr id="23" name="Shape 21"/>
          <p:cNvSpPr/>
          <p:nvPr/>
        </p:nvSpPr>
        <p:spPr>
          <a:xfrm>
            <a:off x="4041648" y="2157984"/>
            <a:ext cx="1554480" cy="411480"/>
          </a:xfrm>
          <a:prstGeom prst="rect">
            <a:avLst/>
          </a:prstGeom>
          <a:solidFill>
            <a:srgbClr val="F0F4F7"/>
          </a:solidFill>
          <a:ln w="5715">
            <a:solidFill>
              <a:srgbClr val="F7F8FA"/>
            </a:solidFill>
            <a:prstDash val="solid"/>
          </a:ln>
        </p:spPr>
      </p:sp>
      <p:sp>
        <p:nvSpPr>
          <p:cNvPr id="24" name="Text 22"/>
          <p:cNvSpPr/>
          <p:nvPr/>
        </p:nvSpPr>
        <p:spPr>
          <a:xfrm>
            <a:off x="4105656" y="2244852"/>
            <a:ext cx="1426464" cy="274320"/>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14.332 ms</a:t>
            </a:r>
            <a:endParaRPr lang="en-US" sz="1300" dirty="0"/>
          </a:p>
        </p:txBody>
      </p:sp>
      <p:sp>
        <p:nvSpPr>
          <p:cNvPr id="25" name="Shape 23"/>
          <p:cNvSpPr/>
          <p:nvPr/>
        </p:nvSpPr>
        <p:spPr>
          <a:xfrm>
            <a:off x="5596128" y="2157984"/>
            <a:ext cx="2971800" cy="411480"/>
          </a:xfrm>
          <a:prstGeom prst="rect">
            <a:avLst/>
          </a:prstGeom>
          <a:solidFill>
            <a:srgbClr val="F0F4F7"/>
          </a:solidFill>
          <a:ln w="5715">
            <a:solidFill>
              <a:srgbClr val="F7F8FA"/>
            </a:solidFill>
            <a:prstDash val="solid"/>
          </a:ln>
        </p:spPr>
      </p:sp>
      <p:sp>
        <p:nvSpPr>
          <p:cNvPr id="26" name="Text 24"/>
          <p:cNvSpPr/>
          <p:nvPr/>
        </p:nvSpPr>
        <p:spPr>
          <a:xfrm>
            <a:off x="5660136" y="2244852"/>
            <a:ext cx="2843784" cy="274320"/>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Apply a prebuilt compatible delta</a:t>
            </a:r>
            <a:endParaRPr lang="en-US" sz="1300" dirty="0"/>
          </a:p>
        </p:txBody>
      </p:sp>
      <p:sp>
        <p:nvSpPr>
          <p:cNvPr id="27" name="Shape 25"/>
          <p:cNvSpPr/>
          <p:nvPr/>
        </p:nvSpPr>
        <p:spPr>
          <a:xfrm>
            <a:off x="658368" y="2569464"/>
            <a:ext cx="3383280" cy="411480"/>
          </a:xfrm>
          <a:prstGeom prst="rect">
            <a:avLst/>
          </a:prstGeom>
          <a:solidFill>
            <a:srgbClr val="FFFFFF"/>
          </a:solidFill>
          <a:ln w="5715">
            <a:solidFill>
              <a:srgbClr val="F7F8FA"/>
            </a:solidFill>
            <a:prstDash val="solid"/>
          </a:ln>
        </p:spPr>
      </p:sp>
      <p:sp>
        <p:nvSpPr>
          <p:cNvPr id="28" name="Text 26"/>
          <p:cNvSpPr/>
          <p:nvPr/>
        </p:nvSpPr>
        <p:spPr>
          <a:xfrm>
            <a:off x="722376" y="2656332"/>
            <a:ext cx="3255264" cy="274320"/>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Trial graph.error</a:t>
            </a:r>
            <a:endParaRPr lang="en-US" sz="1300" dirty="0"/>
          </a:p>
        </p:txBody>
      </p:sp>
      <p:sp>
        <p:nvSpPr>
          <p:cNvPr id="29" name="Shape 27"/>
          <p:cNvSpPr/>
          <p:nvPr/>
        </p:nvSpPr>
        <p:spPr>
          <a:xfrm>
            <a:off x="4041648" y="2569464"/>
            <a:ext cx="1554480" cy="411480"/>
          </a:xfrm>
          <a:prstGeom prst="rect">
            <a:avLst/>
          </a:prstGeom>
          <a:solidFill>
            <a:srgbClr val="FFFFFF"/>
          </a:solidFill>
          <a:ln w="5715">
            <a:solidFill>
              <a:srgbClr val="F7F8FA"/>
            </a:solidFill>
            <a:prstDash val="solid"/>
          </a:ln>
        </p:spPr>
      </p:sp>
      <p:sp>
        <p:nvSpPr>
          <p:cNvPr id="30" name="Text 28"/>
          <p:cNvSpPr/>
          <p:nvPr/>
        </p:nvSpPr>
        <p:spPr>
          <a:xfrm>
            <a:off x="4105656" y="2656332"/>
            <a:ext cx="1426464" cy="274320"/>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11.440 ms</a:t>
            </a:r>
            <a:endParaRPr lang="en-US" sz="1300" dirty="0"/>
          </a:p>
        </p:txBody>
      </p:sp>
      <p:sp>
        <p:nvSpPr>
          <p:cNvPr id="31" name="Shape 29"/>
          <p:cNvSpPr/>
          <p:nvPr/>
        </p:nvSpPr>
        <p:spPr>
          <a:xfrm>
            <a:off x="5596128" y="2569464"/>
            <a:ext cx="2971800" cy="411480"/>
          </a:xfrm>
          <a:prstGeom prst="rect">
            <a:avLst/>
          </a:prstGeom>
          <a:solidFill>
            <a:srgbClr val="FFFFFF"/>
          </a:solidFill>
          <a:ln w="5715">
            <a:solidFill>
              <a:srgbClr val="F7F8FA"/>
            </a:solidFill>
            <a:prstDash val="solid"/>
          </a:ln>
        </p:spPr>
      </p:sp>
      <p:sp>
        <p:nvSpPr>
          <p:cNvPr id="32" name="Text 30"/>
          <p:cNvSpPr/>
          <p:nvPr/>
        </p:nvSpPr>
        <p:spPr>
          <a:xfrm>
            <a:off x="5660136" y="2656332"/>
            <a:ext cx="2843784" cy="274320"/>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Evaluate trial state</a:t>
            </a:r>
            <a:endParaRPr lang="en-US" sz="1300" dirty="0"/>
          </a:p>
        </p:txBody>
      </p:sp>
      <p:sp>
        <p:nvSpPr>
          <p:cNvPr id="33" name="Shape 31"/>
          <p:cNvSpPr/>
          <p:nvPr/>
        </p:nvSpPr>
        <p:spPr>
          <a:xfrm>
            <a:off x="658368" y="2980944"/>
            <a:ext cx="3383280" cy="411480"/>
          </a:xfrm>
          <a:prstGeom prst="rect">
            <a:avLst/>
          </a:prstGeom>
          <a:solidFill>
            <a:srgbClr val="F0F4F7"/>
          </a:solidFill>
          <a:ln w="5715">
            <a:solidFill>
              <a:srgbClr val="F7F8FA"/>
            </a:solidFill>
            <a:prstDash val="solid"/>
          </a:ln>
        </p:spPr>
      </p:sp>
      <p:sp>
        <p:nvSpPr>
          <p:cNvPr id="34" name="Text 32"/>
          <p:cNvSpPr/>
          <p:nvPr/>
        </p:nvSpPr>
        <p:spPr>
          <a:xfrm>
            <a:off x="722376" y="3067812"/>
            <a:ext cx="3255264" cy="274320"/>
          </a:xfrm>
          <a:prstGeom prst="rect">
            <a:avLst/>
          </a:prstGeom>
          <a:noFill/>
          <a:ln/>
        </p:spPr>
        <p:txBody>
          <a:bodyPr wrap="square" lIns="0" tIns="0" rIns="0" bIns="0" rtlCol="0" anchor="ctr">
            <a:normAutofit/>
          </a:bodyPr>
          <a:lstStyle/>
          <a:p>
            <a:pPr algn="l" indent="0" marL="0">
              <a:buNone/>
            </a:pPr>
            <a:r>
              <a:rPr lang="en-US" sz="1300" b="1" dirty="0">
                <a:solidFill>
                  <a:srgbClr val="18212F"/>
                </a:solidFill>
              </a:rPr>
              <a:t>CPU subtotal</a:t>
            </a:r>
            <a:endParaRPr lang="en-US" sz="1300" dirty="0"/>
          </a:p>
        </p:txBody>
      </p:sp>
      <p:sp>
        <p:nvSpPr>
          <p:cNvPr id="35" name="Shape 33"/>
          <p:cNvSpPr/>
          <p:nvPr/>
        </p:nvSpPr>
        <p:spPr>
          <a:xfrm>
            <a:off x="4041648" y="2980944"/>
            <a:ext cx="1554480" cy="411480"/>
          </a:xfrm>
          <a:prstGeom prst="rect">
            <a:avLst/>
          </a:prstGeom>
          <a:solidFill>
            <a:srgbClr val="F0F4F7"/>
          </a:solidFill>
          <a:ln w="5715">
            <a:solidFill>
              <a:srgbClr val="F7F8FA"/>
            </a:solidFill>
            <a:prstDash val="solid"/>
          </a:ln>
        </p:spPr>
      </p:sp>
      <p:sp>
        <p:nvSpPr>
          <p:cNvPr id="36" name="Text 34"/>
          <p:cNvSpPr/>
          <p:nvPr/>
        </p:nvSpPr>
        <p:spPr>
          <a:xfrm>
            <a:off x="4105656" y="3067812"/>
            <a:ext cx="1426464" cy="274320"/>
          </a:xfrm>
          <a:prstGeom prst="rect">
            <a:avLst/>
          </a:prstGeom>
          <a:noFill/>
          <a:ln/>
        </p:spPr>
        <p:txBody>
          <a:bodyPr wrap="square" lIns="0" tIns="0" rIns="0" bIns="0" rtlCol="0" anchor="ctr">
            <a:normAutofit/>
          </a:bodyPr>
          <a:lstStyle/>
          <a:p>
            <a:pPr algn="r" indent="0" marL="0">
              <a:buNone/>
            </a:pPr>
            <a:r>
              <a:rPr lang="en-US" sz="1300" dirty="0">
                <a:solidFill>
                  <a:srgbClr val="18212F"/>
                </a:solidFill>
              </a:rPr>
              <a:t>54.088 ms</a:t>
            </a:r>
            <a:endParaRPr lang="en-US" sz="1300" dirty="0"/>
          </a:p>
        </p:txBody>
      </p:sp>
      <p:sp>
        <p:nvSpPr>
          <p:cNvPr id="37" name="Shape 35"/>
          <p:cNvSpPr/>
          <p:nvPr/>
        </p:nvSpPr>
        <p:spPr>
          <a:xfrm>
            <a:off x="5596128" y="2980944"/>
            <a:ext cx="2971800" cy="411480"/>
          </a:xfrm>
          <a:prstGeom prst="rect">
            <a:avLst/>
          </a:prstGeom>
          <a:solidFill>
            <a:srgbClr val="F0F4F7"/>
          </a:solidFill>
          <a:ln w="5715">
            <a:solidFill>
              <a:srgbClr val="F7F8FA"/>
            </a:solidFill>
            <a:prstDash val="solid"/>
          </a:ln>
        </p:spPr>
      </p:sp>
      <p:sp>
        <p:nvSpPr>
          <p:cNvPr id="38" name="Text 36"/>
          <p:cNvSpPr/>
          <p:nvPr/>
        </p:nvSpPr>
        <p:spPr>
          <a:xfrm>
            <a:off x="5660136" y="3067812"/>
            <a:ext cx="2843784" cy="274320"/>
          </a:xfrm>
          <a:prstGeom prst="rect">
            <a:avLst/>
          </a:prstGeom>
          <a:noFill/>
          <a:ln/>
        </p:spPr>
        <p:txBody>
          <a:bodyPr wrap="square" lIns="0" tIns="0" rIns="0" bIns="0" rtlCol="0" anchor="ctr">
            <a:normAutofit/>
          </a:bodyPr>
          <a:lstStyle/>
          <a:p>
            <a:pPr algn="l" indent="0" marL="0">
              <a:buNone/>
            </a:pPr>
            <a:r>
              <a:rPr lang="en-US" sz="1300" dirty="0">
                <a:solidFill>
                  <a:srgbClr val="18212F"/>
                </a:solidFill>
              </a:rPr>
              <a:t>Illustrative arithmetic, separately timed</a:t>
            </a:r>
            <a:endParaRPr lang="en-US" sz="1300" dirty="0"/>
          </a:p>
        </p:txBody>
      </p:sp>
      <p:sp>
        <p:nvSpPr>
          <p:cNvPr id="39" name="Shape 37"/>
          <p:cNvSpPr/>
          <p:nvPr/>
        </p:nvSpPr>
        <p:spPr>
          <a:xfrm>
            <a:off x="8229600" y="1335024"/>
            <a:ext cx="3182112" cy="2011680"/>
          </a:xfrm>
          <a:prstGeom prst="rect">
            <a:avLst/>
          </a:prstGeom>
          <a:solidFill>
            <a:srgbClr val="EAF7EF"/>
          </a:solidFill>
          <a:ln w="9525">
            <a:solidFill>
              <a:srgbClr val="E7EBF0"/>
            </a:solidFill>
            <a:prstDash val="solid"/>
          </a:ln>
        </p:spPr>
      </p:sp>
      <p:sp>
        <p:nvSpPr>
          <p:cNvPr id="40" name="Shape 38"/>
          <p:cNvSpPr/>
          <p:nvPr/>
        </p:nvSpPr>
        <p:spPr>
          <a:xfrm>
            <a:off x="8229600" y="1335024"/>
            <a:ext cx="64008" cy="2011680"/>
          </a:xfrm>
          <a:prstGeom prst="rect">
            <a:avLst/>
          </a:prstGeom>
          <a:solidFill>
            <a:srgbClr val="46A06F"/>
          </a:solidFill>
          <a:ln w="12700">
            <a:solidFill>
              <a:srgbClr val="46A06F"/>
            </a:solidFill>
            <a:prstDash val="solid"/>
          </a:ln>
        </p:spPr>
      </p:sp>
      <p:sp>
        <p:nvSpPr>
          <p:cNvPr id="41" name="Text 39"/>
          <p:cNvSpPr/>
          <p:nvPr/>
        </p:nvSpPr>
        <p:spPr>
          <a:xfrm>
            <a:off x="8485632" y="1627632"/>
            <a:ext cx="2670048" cy="182880"/>
          </a:xfrm>
          <a:prstGeom prst="rect">
            <a:avLst/>
          </a:prstGeom>
          <a:noFill/>
          <a:ln/>
        </p:spPr>
        <p:txBody>
          <a:bodyPr wrap="square" lIns="0" tIns="0" rIns="0" bIns="0" rtlCol="0" anchor="ctr"/>
          <a:lstStyle/>
          <a:p>
            <a:pPr algn="ctr" indent="0" marL="0">
              <a:buNone/>
            </a:pPr>
            <a:r>
              <a:rPr lang="en-US" sz="1500" b="1" dirty="0">
                <a:solidFill>
                  <a:srgbClr val="46A06F"/>
                </a:solidFill>
              </a:rPr>
              <a:t>Synthetic GPU reference</a:t>
            </a:r>
            <a:endParaRPr lang="en-US" sz="1500" dirty="0"/>
          </a:p>
        </p:txBody>
      </p:sp>
      <p:sp>
        <p:nvSpPr>
          <p:cNvPr id="42" name="Text 40"/>
          <p:cNvSpPr/>
          <p:nvPr/>
        </p:nvSpPr>
        <p:spPr>
          <a:xfrm>
            <a:off x="8485632" y="1993392"/>
            <a:ext cx="2670048" cy="310896"/>
          </a:xfrm>
          <a:prstGeom prst="rect">
            <a:avLst/>
          </a:prstGeom>
          <a:noFill/>
          <a:ln/>
        </p:spPr>
        <p:txBody>
          <a:bodyPr wrap="square" lIns="0" tIns="0" rIns="0" bIns="0" rtlCol="0" anchor="ctr"/>
          <a:lstStyle/>
          <a:p>
            <a:pPr algn="ctr" indent="0" marL="0">
              <a:buNone/>
            </a:pPr>
            <a:r>
              <a:rPr lang="en-US" sz="2700" b="1" dirty="0">
                <a:solidFill>
                  <a:srgbClr val="46A06F"/>
                </a:solidFill>
              </a:rPr>
              <a:t>8.051 ms</a:t>
            </a:r>
            <a:endParaRPr lang="en-US" sz="2700" dirty="0"/>
          </a:p>
        </p:txBody>
      </p:sp>
      <p:sp>
        <p:nvSpPr>
          <p:cNvPr id="43" name="Text 41"/>
          <p:cNvSpPr/>
          <p:nvPr/>
        </p:nvSpPr>
        <p:spPr>
          <a:xfrm>
            <a:off x="8485632" y="2505456"/>
            <a:ext cx="2670048" cy="365760"/>
          </a:xfrm>
          <a:prstGeom prst="rect">
            <a:avLst/>
          </a:prstGeom>
          <a:noFill/>
          <a:ln/>
        </p:spPr>
        <p:txBody>
          <a:bodyPr wrap="square" lIns="0" tIns="0" rIns="0" bIns="0" rtlCol="0" anchor="ctr">
            <a:normAutofit/>
          </a:bodyPr>
          <a:lstStyle/>
          <a:p>
            <a:pPr algn="ctr" indent="0" marL="0">
              <a:buNone/>
            </a:pPr>
            <a:r>
              <a:rPr lang="en-US" sz="1220" dirty="0">
                <a:solidFill>
                  <a:srgbClr val="18212F"/>
                </a:solidFill>
              </a:rPr>
              <a:t>Hessian diagonal + dense Schur combined - projection</a:t>
            </a:r>
            <a:endParaRPr lang="en-US" sz="1220" dirty="0"/>
          </a:p>
        </p:txBody>
      </p:sp>
      <p:sp>
        <p:nvSpPr>
          <p:cNvPr id="44" name="Shape 42"/>
          <p:cNvSpPr/>
          <p:nvPr/>
        </p:nvSpPr>
        <p:spPr>
          <a:xfrm>
            <a:off x="658368" y="3794760"/>
            <a:ext cx="3383280" cy="978408"/>
          </a:xfrm>
          <a:prstGeom prst="rect">
            <a:avLst/>
          </a:prstGeom>
          <a:solidFill>
            <a:srgbClr val="FFFFFF"/>
          </a:solidFill>
          <a:ln w="9525">
            <a:solidFill>
              <a:srgbClr val="E7EBF0"/>
            </a:solidFill>
            <a:prstDash val="solid"/>
          </a:ln>
        </p:spPr>
      </p:sp>
      <p:sp>
        <p:nvSpPr>
          <p:cNvPr id="45" name="Shape 43"/>
          <p:cNvSpPr/>
          <p:nvPr/>
        </p:nvSpPr>
        <p:spPr>
          <a:xfrm>
            <a:off x="658368" y="3794760"/>
            <a:ext cx="64008" cy="978408"/>
          </a:xfrm>
          <a:prstGeom prst="rect">
            <a:avLst/>
          </a:prstGeom>
          <a:solidFill>
            <a:srgbClr val="46A06F"/>
          </a:solidFill>
          <a:ln w="12700">
            <a:solidFill>
              <a:srgbClr val="46A06F"/>
            </a:solidFill>
            <a:prstDash val="solid"/>
          </a:ln>
        </p:spPr>
      </p:sp>
      <p:sp>
        <p:nvSpPr>
          <p:cNvPr id="46" name="Text 44"/>
          <p:cNvSpPr/>
          <p:nvPr/>
        </p:nvSpPr>
        <p:spPr>
          <a:xfrm>
            <a:off x="841248" y="3913632"/>
            <a:ext cx="3072384" cy="310896"/>
          </a:xfrm>
          <a:prstGeom prst="rect">
            <a:avLst/>
          </a:prstGeom>
          <a:noFill/>
          <a:ln/>
        </p:spPr>
        <p:txBody>
          <a:bodyPr wrap="square" lIns="0" tIns="0" rIns="0" bIns="0" rtlCol="0" anchor="ctr">
            <a:normAutofit/>
          </a:bodyPr>
          <a:lstStyle/>
          <a:p>
            <a:pPr indent="0" marL="0">
              <a:buNone/>
            </a:pPr>
            <a:r>
              <a:rPr lang="en-US" sz="2500" b="1" dirty="0">
                <a:solidFill>
                  <a:srgbClr val="46A06F"/>
                </a:solidFill>
              </a:rPr>
              <a:t>62.139 ms</a:t>
            </a:r>
            <a:endParaRPr lang="en-US" sz="2500" dirty="0"/>
          </a:p>
        </p:txBody>
      </p:sp>
      <p:sp>
        <p:nvSpPr>
          <p:cNvPr id="47" name="Text 45"/>
          <p:cNvSpPr/>
          <p:nvPr/>
        </p:nvSpPr>
        <p:spPr>
          <a:xfrm>
            <a:off x="841248" y="4315968"/>
            <a:ext cx="307238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Synthetic lower bound</a:t>
            </a:r>
            <a:endParaRPr lang="en-US" sz="1350" dirty="0"/>
          </a:p>
        </p:txBody>
      </p:sp>
      <p:sp>
        <p:nvSpPr>
          <p:cNvPr id="48" name="Text 46"/>
          <p:cNvSpPr/>
          <p:nvPr/>
        </p:nvSpPr>
        <p:spPr>
          <a:xfrm>
            <a:off x="841248" y="4535424"/>
            <a:ext cx="307238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54.088 ms CPU + 8.051 ms GPU</a:t>
            </a:r>
            <a:endParaRPr lang="en-US" sz="1050" dirty="0"/>
          </a:p>
        </p:txBody>
      </p:sp>
      <p:sp>
        <p:nvSpPr>
          <p:cNvPr id="49" name="Shape 47"/>
          <p:cNvSpPr/>
          <p:nvPr/>
        </p:nvSpPr>
        <p:spPr>
          <a:xfrm>
            <a:off x="4343400" y="3794760"/>
            <a:ext cx="3246120" cy="978408"/>
          </a:xfrm>
          <a:prstGeom prst="rect">
            <a:avLst/>
          </a:prstGeom>
          <a:solidFill>
            <a:srgbClr val="FFFFFF"/>
          </a:solidFill>
          <a:ln w="9525">
            <a:solidFill>
              <a:srgbClr val="E7EBF0"/>
            </a:solidFill>
            <a:prstDash val="solid"/>
          </a:ln>
        </p:spPr>
      </p:sp>
      <p:sp>
        <p:nvSpPr>
          <p:cNvPr id="50" name="Shape 48"/>
          <p:cNvSpPr/>
          <p:nvPr/>
        </p:nvSpPr>
        <p:spPr>
          <a:xfrm>
            <a:off x="4343400" y="3794760"/>
            <a:ext cx="64008" cy="978408"/>
          </a:xfrm>
          <a:prstGeom prst="rect">
            <a:avLst/>
          </a:prstGeom>
          <a:solidFill>
            <a:srgbClr val="F2A23A"/>
          </a:solidFill>
          <a:ln w="12700">
            <a:solidFill>
              <a:srgbClr val="F2A23A"/>
            </a:solidFill>
            <a:prstDash val="solid"/>
          </a:ln>
        </p:spPr>
      </p:sp>
      <p:sp>
        <p:nvSpPr>
          <p:cNvPr id="51" name="Text 49"/>
          <p:cNvSpPr/>
          <p:nvPr/>
        </p:nvSpPr>
        <p:spPr>
          <a:xfrm>
            <a:off x="4526280" y="3913632"/>
            <a:ext cx="2935224" cy="310896"/>
          </a:xfrm>
          <a:prstGeom prst="rect">
            <a:avLst/>
          </a:prstGeom>
          <a:noFill/>
          <a:ln/>
        </p:spPr>
        <p:txBody>
          <a:bodyPr wrap="square" lIns="0" tIns="0" rIns="0" bIns="0" rtlCol="0" anchor="ctr">
            <a:normAutofit/>
          </a:bodyPr>
          <a:lstStyle/>
          <a:p>
            <a:pPr indent="0" marL="0">
              <a:buNone/>
            </a:pPr>
            <a:r>
              <a:rPr lang="en-US" sz="2500" b="1" dirty="0">
                <a:solidFill>
                  <a:srgbClr val="F2A23A"/>
                </a:solidFill>
              </a:rPr>
              <a:t>+11.284 ms</a:t>
            </a:r>
            <a:endParaRPr lang="en-US" sz="2500" dirty="0"/>
          </a:p>
        </p:txBody>
      </p:sp>
      <p:sp>
        <p:nvSpPr>
          <p:cNvPr id="52" name="Text 50"/>
          <p:cNvSpPr/>
          <p:nvPr/>
        </p:nvSpPr>
        <p:spPr>
          <a:xfrm>
            <a:off x="4526280" y="4315968"/>
            <a:ext cx="293522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Estimated generic transfer</a:t>
            </a:r>
            <a:endParaRPr lang="en-US" sz="1350" dirty="0"/>
          </a:p>
        </p:txBody>
      </p:sp>
      <p:sp>
        <p:nvSpPr>
          <p:cNvPr id="53" name="Text 51"/>
          <p:cNvSpPr/>
          <p:nvPr/>
        </p:nvSpPr>
        <p:spPr>
          <a:xfrm>
            <a:off x="4526280" y="4535424"/>
            <a:ext cx="293522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115.1 MB / 9.50 GiB/s</a:t>
            </a:r>
            <a:endParaRPr lang="en-US" sz="1050" dirty="0"/>
          </a:p>
        </p:txBody>
      </p:sp>
      <p:sp>
        <p:nvSpPr>
          <p:cNvPr id="54" name="Shape 52"/>
          <p:cNvSpPr/>
          <p:nvPr/>
        </p:nvSpPr>
        <p:spPr>
          <a:xfrm>
            <a:off x="7891272" y="3794760"/>
            <a:ext cx="3383280" cy="978408"/>
          </a:xfrm>
          <a:prstGeom prst="rect">
            <a:avLst/>
          </a:prstGeom>
          <a:solidFill>
            <a:srgbClr val="FFFFFF"/>
          </a:solidFill>
          <a:ln w="9525">
            <a:solidFill>
              <a:srgbClr val="E7EBF0"/>
            </a:solidFill>
            <a:prstDash val="solid"/>
          </a:ln>
        </p:spPr>
      </p:sp>
      <p:sp>
        <p:nvSpPr>
          <p:cNvPr id="55" name="Shape 53"/>
          <p:cNvSpPr/>
          <p:nvPr/>
        </p:nvSpPr>
        <p:spPr>
          <a:xfrm>
            <a:off x="7891272" y="3794760"/>
            <a:ext cx="64008" cy="978408"/>
          </a:xfrm>
          <a:prstGeom prst="rect">
            <a:avLst/>
          </a:prstGeom>
          <a:solidFill>
            <a:srgbClr val="D95D54"/>
          </a:solidFill>
          <a:ln w="12700">
            <a:solidFill>
              <a:srgbClr val="D95D54"/>
            </a:solidFill>
            <a:prstDash val="solid"/>
          </a:ln>
        </p:spPr>
      </p:sp>
      <p:sp>
        <p:nvSpPr>
          <p:cNvPr id="56" name="Text 54"/>
          <p:cNvSpPr/>
          <p:nvPr/>
        </p:nvSpPr>
        <p:spPr>
          <a:xfrm>
            <a:off x="8074152" y="3913632"/>
            <a:ext cx="3072384" cy="310896"/>
          </a:xfrm>
          <a:prstGeom prst="rect">
            <a:avLst/>
          </a:prstGeom>
          <a:noFill/>
          <a:ln/>
        </p:spPr>
        <p:txBody>
          <a:bodyPr wrap="square" lIns="0" tIns="0" rIns="0" bIns="0" rtlCol="0" anchor="ctr">
            <a:normAutofit/>
          </a:bodyPr>
          <a:lstStyle/>
          <a:p>
            <a:pPr indent="0" marL="0">
              <a:buNone/>
            </a:pPr>
            <a:r>
              <a:rPr lang="en-US" sz="2500" b="1" dirty="0">
                <a:solidFill>
                  <a:srgbClr val="D95D54"/>
                </a:solidFill>
              </a:rPr>
              <a:t>73.422 ms</a:t>
            </a:r>
            <a:endParaRPr lang="en-US" sz="2500" dirty="0"/>
          </a:p>
        </p:txBody>
      </p:sp>
      <p:sp>
        <p:nvSpPr>
          <p:cNvPr id="57" name="Text 55"/>
          <p:cNvSpPr/>
          <p:nvPr/>
        </p:nvSpPr>
        <p:spPr>
          <a:xfrm>
            <a:off x="8074152" y="4315968"/>
            <a:ext cx="3072384" cy="146304"/>
          </a:xfrm>
          <a:prstGeom prst="rect">
            <a:avLst/>
          </a:prstGeom>
          <a:noFill/>
          <a:ln/>
        </p:spPr>
        <p:txBody>
          <a:bodyPr wrap="square" lIns="0" tIns="0" rIns="0" bIns="0" rtlCol="0" anchor="ctr">
            <a:normAutofit/>
          </a:bodyPr>
          <a:lstStyle/>
          <a:p>
            <a:pPr indent="0" marL="0">
              <a:buNone/>
            </a:pPr>
            <a:r>
              <a:rPr lang="en-US" sz="1350" b="1" dirty="0">
                <a:solidFill>
                  <a:srgbClr val="18212F"/>
                </a:solidFill>
              </a:rPr>
              <a:t>Lower bound + estimate</a:t>
            </a:r>
            <a:endParaRPr lang="en-US" sz="1350" dirty="0"/>
          </a:p>
        </p:txBody>
      </p:sp>
      <p:sp>
        <p:nvSpPr>
          <p:cNvPr id="58" name="Text 56"/>
          <p:cNvSpPr/>
          <p:nvPr/>
        </p:nvSpPr>
        <p:spPr>
          <a:xfrm>
            <a:off x="8074152" y="4535424"/>
            <a:ext cx="3072384" cy="118872"/>
          </a:xfrm>
          <a:prstGeom prst="rect">
            <a:avLst/>
          </a:prstGeom>
          <a:noFill/>
          <a:ln/>
        </p:spPr>
        <p:txBody>
          <a:bodyPr wrap="square" lIns="0" tIns="0" rIns="0" bIns="0" rtlCol="0" anchor="ctr">
            <a:normAutofit/>
          </a:bodyPr>
          <a:lstStyle/>
          <a:p>
            <a:pPr indent="0" marL="0">
              <a:buNone/>
            </a:pPr>
            <a:r>
              <a:rPr lang="en-US" sz="1050" dirty="0">
                <a:solidFill>
                  <a:srgbClr val="5A6472"/>
                </a:solidFill>
              </a:rPr>
              <a:t>still not end-to-end</a:t>
            </a:r>
            <a:endParaRPr lang="en-US" sz="1050" dirty="0"/>
          </a:p>
        </p:txBody>
      </p:sp>
      <p:sp>
        <p:nvSpPr>
          <p:cNvPr id="59" name="Shape 57"/>
          <p:cNvSpPr/>
          <p:nvPr/>
        </p:nvSpPr>
        <p:spPr>
          <a:xfrm>
            <a:off x="658368" y="5148072"/>
            <a:ext cx="10607040" cy="658368"/>
          </a:xfrm>
          <a:prstGeom prst="rect">
            <a:avLst/>
          </a:prstGeom>
          <a:solidFill>
            <a:srgbClr val="FBEDEB"/>
          </a:solidFill>
          <a:ln w="9525">
            <a:solidFill>
              <a:srgbClr val="E7EBF0"/>
            </a:solidFill>
            <a:prstDash val="solid"/>
          </a:ln>
        </p:spPr>
      </p:sp>
      <p:sp>
        <p:nvSpPr>
          <p:cNvPr id="60" name="Shape 58"/>
          <p:cNvSpPr/>
          <p:nvPr/>
        </p:nvSpPr>
        <p:spPr>
          <a:xfrm>
            <a:off x="658368" y="5148072"/>
            <a:ext cx="64008" cy="658368"/>
          </a:xfrm>
          <a:prstGeom prst="rect">
            <a:avLst/>
          </a:prstGeom>
          <a:solidFill>
            <a:srgbClr val="D95D54"/>
          </a:solidFill>
          <a:ln w="12700">
            <a:solidFill>
              <a:srgbClr val="D95D54"/>
            </a:solidFill>
            <a:prstDash val="solid"/>
          </a:ln>
        </p:spPr>
      </p:sp>
      <p:sp>
        <p:nvSpPr>
          <p:cNvPr id="61" name="Text 59"/>
          <p:cNvSpPr/>
          <p:nvPr/>
        </p:nvSpPr>
        <p:spPr>
          <a:xfrm>
            <a:off x="896112" y="5358384"/>
            <a:ext cx="10104120" cy="201168"/>
          </a:xfrm>
          <a:prstGeom prst="rect">
            <a:avLst/>
          </a:prstGeom>
          <a:noFill/>
          <a:ln/>
        </p:spPr>
        <p:txBody>
          <a:bodyPr wrap="square" lIns="0" tIns="0" rIns="0" bIns="0" rtlCol="0" anchor="ctr">
            <a:normAutofit/>
          </a:bodyPr>
          <a:lstStyle/>
          <a:p>
            <a:pPr algn="ctr" indent="0" marL="0">
              <a:buNone/>
            </a:pPr>
            <a:r>
              <a:rPr lang="en-US" sz="1320" b="1" dirty="0">
                <a:solidFill>
                  <a:srgbClr val="18212F"/>
                </a:solidFill>
              </a:rPr>
              <a:t>Caveat: not end-to-end. Sparse packing/layout, repeated upload, delta mapping, and convergence remain unmeasured. Do not compare these per-candidate synthetic figures directly to the 426.223 ms three-iteration API total.</a:t>
            </a:r>
            <a:endParaRPr lang="en-US" sz="1320" dirty="0"/>
          </a:p>
        </p:txBody>
      </p:sp>
      <p:sp>
        <p:nvSpPr>
          <p:cNvPr id="62" name="Text 60"/>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Hybrid feasibility | Dubrovnik 135 | 8</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2A44"/>
        </a:solidFill>
      </p:bgPr>
    </p:bg>
    <p:spTree>
      <p:nvGrpSpPr>
        <p:cNvPr id="1" name=""/>
        <p:cNvGrpSpPr/>
        <p:nvPr/>
      </p:nvGrpSpPr>
      <p:grpSpPr>
        <a:xfrm>
          <a:off x="0" y="0"/>
          <a:ext cx="0" cy="0"/>
          <a:chOff x="0" y="0"/>
          <a:chExt cx="0" cy="0"/>
        </a:xfrm>
      </p:grpSpPr>
      <p:sp>
        <p:nvSpPr>
          <p:cNvPr id="2" name="Shape 0"/>
          <p:cNvSpPr/>
          <p:nvPr/>
        </p:nvSpPr>
        <p:spPr>
          <a:xfrm>
            <a:off x="10378440" y="429768"/>
            <a:ext cx="1234440" cy="274320"/>
          </a:xfrm>
          <a:prstGeom prst="rect">
            <a:avLst/>
          </a:prstGeom>
          <a:solidFill>
            <a:srgbClr val="0E7C86"/>
          </a:solidFill>
          <a:ln w="12700">
            <a:solidFill>
              <a:srgbClr val="0E7C86"/>
            </a:solidFill>
            <a:prstDash val="solid"/>
          </a:ln>
        </p:spPr>
      </p:sp>
      <p:sp>
        <p:nvSpPr>
          <p:cNvPr id="3" name="Text 1"/>
          <p:cNvSpPr/>
          <p:nvPr/>
        </p:nvSpPr>
        <p:spPr>
          <a:xfrm>
            <a:off x="10451592" y="498348"/>
            <a:ext cx="1088136"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Assessment</a:t>
            </a:r>
            <a:endParaRPr lang="en-US" sz="950" dirty="0"/>
          </a:p>
        </p:txBody>
      </p:sp>
      <p:sp>
        <p:nvSpPr>
          <p:cNvPr id="4" name="Shape 2"/>
          <p:cNvSpPr/>
          <p:nvPr/>
        </p:nvSpPr>
        <p:spPr>
          <a:xfrm>
            <a:off x="11201400" y="429768"/>
            <a:ext cx="1069848" cy="274320"/>
          </a:xfrm>
          <a:prstGeom prst="rect">
            <a:avLst/>
          </a:prstGeom>
          <a:solidFill>
            <a:srgbClr val="F2A23A"/>
          </a:solidFill>
          <a:ln w="12700">
            <a:solidFill>
              <a:srgbClr val="F2A23A"/>
            </a:solidFill>
            <a:prstDash val="solid"/>
          </a:ln>
        </p:spPr>
      </p:sp>
      <p:sp>
        <p:nvSpPr>
          <p:cNvPr id="5" name="Text 3"/>
          <p:cNvSpPr/>
          <p:nvPr/>
        </p:nvSpPr>
        <p:spPr>
          <a:xfrm>
            <a:off x="11274552" y="498348"/>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Proposed</a:t>
            </a:r>
            <a:endParaRPr lang="en-US" sz="950" dirty="0"/>
          </a:p>
        </p:txBody>
      </p:sp>
      <p:sp>
        <p:nvSpPr>
          <p:cNvPr id="6" name="Text 4"/>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FFFFFF"/>
                </a:solidFill>
                <a:latin typeface="Aptos Display" pitchFamily="34" charset="0"/>
                <a:ea typeface="Aptos Display" pitchFamily="34" charset="-122"/>
                <a:cs typeface="Aptos Display" pitchFamily="34" charset="-120"/>
              </a:rPr>
              <a:t>Current assessment and next work</a:t>
            </a:r>
            <a:endParaRPr lang="en-US" sz="2900" dirty="0"/>
          </a:p>
        </p:txBody>
      </p:sp>
      <p:sp>
        <p:nvSpPr>
          <p:cNvPr id="7" name="Text 5"/>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D9E5EA"/>
                </a:solidFill>
              </a:rPr>
              <a:t>Measured evidence justifies a hybrid baseline experiment, not a performance claim.</a:t>
            </a:r>
            <a:endParaRPr lang="en-US" sz="1450" dirty="0"/>
          </a:p>
        </p:txBody>
      </p:sp>
      <p:sp>
        <p:nvSpPr>
          <p:cNvPr id="8" name="Shape 6"/>
          <p:cNvSpPr/>
          <p:nvPr/>
        </p:nvSpPr>
        <p:spPr>
          <a:xfrm>
            <a:off x="658368" y="1417320"/>
            <a:ext cx="5212080" cy="2468880"/>
          </a:xfrm>
          <a:prstGeom prst="rect">
            <a:avLst/>
          </a:prstGeom>
          <a:solidFill>
            <a:srgbClr val="263956"/>
          </a:solidFill>
          <a:ln w="9525">
            <a:solidFill>
              <a:srgbClr val="E7EBF0"/>
            </a:solidFill>
            <a:prstDash val="solid"/>
          </a:ln>
        </p:spPr>
      </p:sp>
      <p:sp>
        <p:nvSpPr>
          <p:cNvPr id="9" name="Shape 7"/>
          <p:cNvSpPr/>
          <p:nvPr/>
        </p:nvSpPr>
        <p:spPr>
          <a:xfrm>
            <a:off x="658368" y="1417320"/>
            <a:ext cx="64008" cy="2468880"/>
          </a:xfrm>
          <a:prstGeom prst="rect">
            <a:avLst/>
          </a:prstGeom>
          <a:solidFill>
            <a:srgbClr val="0E7C86"/>
          </a:solidFill>
          <a:ln w="12700">
            <a:solidFill>
              <a:srgbClr val="0E7C86"/>
            </a:solidFill>
            <a:prstDash val="solid"/>
          </a:ln>
        </p:spPr>
      </p:sp>
      <p:sp>
        <p:nvSpPr>
          <p:cNvPr id="10" name="Text 8"/>
          <p:cNvSpPr/>
          <p:nvPr/>
        </p:nvSpPr>
        <p:spPr>
          <a:xfrm>
            <a:off x="914400" y="1737360"/>
            <a:ext cx="4663440" cy="219456"/>
          </a:xfrm>
          <a:prstGeom prst="rect">
            <a:avLst/>
          </a:prstGeom>
          <a:noFill/>
          <a:ln/>
        </p:spPr>
        <p:txBody>
          <a:bodyPr wrap="square" lIns="0" tIns="0" rIns="0" bIns="0" rtlCol="0" anchor="ctr"/>
          <a:lstStyle/>
          <a:p>
            <a:pPr algn="ctr" indent="0" marL="0">
              <a:buNone/>
            </a:pPr>
            <a:r>
              <a:rPr lang="en-US" sz="1900" b="1" dirty="0">
                <a:solidFill>
                  <a:srgbClr val="0E7C86"/>
                </a:solidFill>
              </a:rPr>
              <a:t>Current assessment</a:t>
            </a:r>
            <a:endParaRPr lang="en-US" sz="1900" dirty="0"/>
          </a:p>
        </p:txBody>
      </p:sp>
      <p:sp>
        <p:nvSpPr>
          <p:cNvPr id="11" name="Text 9"/>
          <p:cNvSpPr/>
          <p:nvPr/>
        </p:nvSpPr>
        <p:spPr>
          <a:xfrm>
            <a:off x="941832" y="2121408"/>
            <a:ext cx="4617720" cy="1115568"/>
          </a:xfrm>
          <a:prstGeom prst="rect">
            <a:avLst/>
          </a:prstGeom>
          <a:noFill/>
          <a:ln/>
        </p:spPr>
        <p:txBody>
          <a:bodyPr wrap="square" lIns="0" tIns="0" rIns="0" bIns="0" rtlCol="0" anchor="ctr">
            <a:normAutofit/>
          </a:bodyPr>
          <a:lstStyle/>
          <a:p>
            <a:pPr algn="ctr" indent="0" marL="0">
              <a:buNone/>
            </a:pPr>
            <a:r>
              <a:rPr lang="en-US" sz="1600" b="1" dirty="0">
                <a:solidFill>
                  <a:srgbClr val="FFFFFF"/>
                </a:solidFill>
              </a:rPr>
              <a:t>Separately timed CPU nonlinear subtotal is tens of milliseconds per candidate versus the prior 0.426 s three-iteration API run. Scopes differ, so this supports feasibility, not a speedup claim. Expected benefit: generality and removal of specialized graph conversion.</a:t>
            </a:r>
            <a:endParaRPr lang="en-US" sz="1600" dirty="0"/>
          </a:p>
        </p:txBody>
      </p:sp>
      <p:sp>
        <p:nvSpPr>
          <p:cNvPr id="12" name="Text 10"/>
          <p:cNvSpPr/>
          <p:nvPr/>
        </p:nvSpPr>
        <p:spPr>
          <a:xfrm>
            <a:off x="941832" y="3429000"/>
            <a:ext cx="4617720" cy="155448"/>
          </a:xfrm>
          <a:prstGeom prst="rect">
            <a:avLst/>
          </a:prstGeom>
          <a:noFill/>
          <a:ln/>
        </p:spPr>
        <p:txBody>
          <a:bodyPr wrap="square" lIns="0" tIns="0" rIns="0" bIns="0" rtlCol="0" anchor="ctr"/>
          <a:lstStyle/>
          <a:p>
            <a:pPr algn="ctr" indent="0" marL="0">
              <a:buNone/>
            </a:pPr>
            <a:r>
              <a:rPr lang="en-US" sz="1200" dirty="0">
                <a:solidFill>
                  <a:srgbClr val="D9E5EA"/>
                </a:solidFill>
              </a:rPr>
              <a:t>Measured conclusion</a:t>
            </a:r>
            <a:endParaRPr lang="en-US" sz="1200" dirty="0"/>
          </a:p>
        </p:txBody>
      </p:sp>
      <p:sp>
        <p:nvSpPr>
          <p:cNvPr id="13" name="Text 11"/>
          <p:cNvSpPr/>
          <p:nvPr/>
        </p:nvSpPr>
        <p:spPr>
          <a:xfrm>
            <a:off x="6355080" y="1554480"/>
            <a:ext cx="4389120" cy="228600"/>
          </a:xfrm>
          <a:prstGeom prst="rect">
            <a:avLst/>
          </a:prstGeom>
          <a:noFill/>
          <a:ln/>
        </p:spPr>
        <p:txBody>
          <a:bodyPr wrap="square" lIns="0" tIns="0" rIns="0" bIns="0" rtlCol="0" anchor="ctr"/>
          <a:lstStyle/>
          <a:p>
            <a:pPr indent="0" marL="0">
              <a:buNone/>
            </a:pPr>
            <a:r>
              <a:rPr lang="en-US" sz="1900" b="1" dirty="0">
                <a:solidFill>
                  <a:srgbClr val="FFFFFF"/>
                </a:solidFill>
              </a:rPr>
              <a:t>Next work</a:t>
            </a:r>
            <a:endParaRPr lang="en-US" sz="1900" dirty="0"/>
          </a:p>
        </p:txBody>
      </p:sp>
      <p:sp>
        <p:nvSpPr>
          <p:cNvPr id="14" name="Shape 12"/>
          <p:cNvSpPr/>
          <p:nvPr/>
        </p:nvSpPr>
        <p:spPr>
          <a:xfrm>
            <a:off x="6382512" y="2066544"/>
            <a:ext cx="155448" cy="155448"/>
          </a:xfrm>
          <a:prstGeom prst="rect">
            <a:avLst/>
          </a:prstGeom>
          <a:solidFill>
            <a:srgbClr val="0E7C86"/>
          </a:solidFill>
          <a:ln w="12700">
            <a:solidFill>
              <a:srgbClr val="0E7C86"/>
            </a:solidFill>
            <a:prstDash val="solid"/>
          </a:ln>
        </p:spPr>
      </p:sp>
      <p:sp>
        <p:nvSpPr>
          <p:cNvPr id="15" name="Text 13"/>
          <p:cNvSpPr/>
          <p:nvPr/>
        </p:nvSpPr>
        <p:spPr>
          <a:xfrm>
            <a:off x="6720840" y="1993392"/>
            <a:ext cx="4480560" cy="246888"/>
          </a:xfrm>
          <a:prstGeom prst="rect">
            <a:avLst/>
          </a:prstGeom>
          <a:noFill/>
          <a:ln/>
        </p:spPr>
        <p:txBody>
          <a:bodyPr wrap="square" lIns="0" tIns="0" rIns="0" bIns="0" rtlCol="0" anchor="ctr">
            <a:normAutofit/>
          </a:bodyPr>
          <a:lstStyle/>
          <a:p>
            <a:pPr indent="0" marL="0">
              <a:buNone/>
            </a:pPr>
            <a:r>
              <a:rPr lang="en-US" sz="1600" b="1" dirty="0">
                <a:solidFill>
                  <a:srgbClr val="FFFFFF"/>
                </a:solidFill>
              </a:rPr>
              <a:t>Cache sparse structure.</a:t>
            </a:r>
            <a:endParaRPr lang="en-US" sz="1600" dirty="0"/>
          </a:p>
        </p:txBody>
      </p:sp>
      <p:sp>
        <p:nvSpPr>
          <p:cNvPr id="16" name="Shape 14"/>
          <p:cNvSpPr/>
          <p:nvPr/>
        </p:nvSpPr>
        <p:spPr>
          <a:xfrm>
            <a:off x="6382512" y="2633472"/>
            <a:ext cx="155448" cy="155448"/>
          </a:xfrm>
          <a:prstGeom prst="rect">
            <a:avLst/>
          </a:prstGeom>
          <a:solidFill>
            <a:srgbClr val="0E7C86"/>
          </a:solidFill>
          <a:ln w="12700">
            <a:solidFill>
              <a:srgbClr val="0E7C86"/>
            </a:solidFill>
            <a:prstDash val="solid"/>
          </a:ln>
        </p:spPr>
      </p:sp>
      <p:sp>
        <p:nvSpPr>
          <p:cNvPr id="17" name="Text 15"/>
          <p:cNvSpPr/>
          <p:nvPr/>
        </p:nvSpPr>
        <p:spPr>
          <a:xfrm>
            <a:off x="6720840" y="2560320"/>
            <a:ext cx="4480560" cy="246888"/>
          </a:xfrm>
          <a:prstGeom prst="rect">
            <a:avLst/>
          </a:prstGeom>
          <a:noFill/>
          <a:ln/>
        </p:spPr>
        <p:txBody>
          <a:bodyPr wrap="square" lIns="0" tIns="0" rIns="0" bIns="0" rtlCol="0" anchor="ctr">
            <a:normAutofit/>
          </a:bodyPr>
          <a:lstStyle/>
          <a:p>
            <a:pPr indent="0" marL="0">
              <a:buNone/>
            </a:pPr>
            <a:r>
              <a:rPr lang="en-US" sz="1600" b="1" dirty="0">
                <a:solidFill>
                  <a:srgbClr val="FFFFFF"/>
                </a:solidFill>
              </a:rPr>
              <a:t>Direct TBB numeric fill.</a:t>
            </a:r>
            <a:endParaRPr lang="en-US" sz="1600" dirty="0"/>
          </a:p>
        </p:txBody>
      </p:sp>
      <p:sp>
        <p:nvSpPr>
          <p:cNvPr id="18" name="Shape 16"/>
          <p:cNvSpPr/>
          <p:nvPr/>
        </p:nvSpPr>
        <p:spPr>
          <a:xfrm>
            <a:off x="6382512" y="3200400"/>
            <a:ext cx="155448" cy="155448"/>
          </a:xfrm>
          <a:prstGeom prst="rect">
            <a:avLst/>
          </a:prstGeom>
          <a:solidFill>
            <a:srgbClr val="0E7C86"/>
          </a:solidFill>
          <a:ln w="12700">
            <a:solidFill>
              <a:srgbClr val="0E7C86"/>
            </a:solidFill>
            <a:prstDash val="solid"/>
          </a:ln>
        </p:spPr>
      </p:sp>
      <p:sp>
        <p:nvSpPr>
          <p:cNvPr id="19" name="Text 17"/>
          <p:cNvSpPr/>
          <p:nvPr/>
        </p:nvSpPr>
        <p:spPr>
          <a:xfrm>
            <a:off x="6720840" y="3127248"/>
            <a:ext cx="4480560" cy="246888"/>
          </a:xfrm>
          <a:prstGeom prst="rect">
            <a:avLst/>
          </a:prstGeom>
          <a:noFill/>
          <a:ln/>
        </p:spPr>
        <p:txBody>
          <a:bodyPr wrap="square" lIns="0" tIns="0" rIns="0" bIns="0" rtlCol="0" anchor="ctr">
            <a:normAutofit/>
          </a:bodyPr>
          <a:lstStyle/>
          <a:p>
            <a:pPr indent="0" marL="0">
              <a:buNone/>
            </a:pPr>
            <a:r>
              <a:rPr lang="en-US" sz="1600" b="1" dirty="0">
                <a:solidFill>
                  <a:srgbClr val="FFFFFF"/>
                </a:solidFill>
              </a:rPr>
              <a:t>Upload only numeric values.</a:t>
            </a:r>
            <a:endParaRPr lang="en-US" sz="1600" dirty="0"/>
          </a:p>
        </p:txBody>
      </p:sp>
      <p:sp>
        <p:nvSpPr>
          <p:cNvPr id="20" name="Shape 18"/>
          <p:cNvSpPr/>
          <p:nvPr/>
        </p:nvSpPr>
        <p:spPr>
          <a:xfrm>
            <a:off x="6382512" y="3767328"/>
            <a:ext cx="155448" cy="155448"/>
          </a:xfrm>
          <a:prstGeom prst="rect">
            <a:avLst/>
          </a:prstGeom>
          <a:solidFill>
            <a:srgbClr val="F2A23A"/>
          </a:solidFill>
          <a:ln w="12700">
            <a:solidFill>
              <a:srgbClr val="F2A23A"/>
            </a:solidFill>
            <a:prstDash val="solid"/>
          </a:ln>
        </p:spPr>
      </p:sp>
      <p:sp>
        <p:nvSpPr>
          <p:cNvPr id="21" name="Text 19"/>
          <p:cNvSpPr/>
          <p:nvPr/>
        </p:nvSpPr>
        <p:spPr>
          <a:xfrm>
            <a:off x="6720840" y="3694176"/>
            <a:ext cx="4480560" cy="246888"/>
          </a:xfrm>
          <a:prstGeom prst="rect">
            <a:avLst/>
          </a:prstGeom>
          <a:noFill/>
          <a:ln/>
        </p:spPr>
        <p:txBody>
          <a:bodyPr wrap="square" lIns="0" tIns="0" rIns="0" bIns="0" rtlCol="0" anchor="ctr">
            <a:normAutofit/>
          </a:bodyPr>
          <a:lstStyle/>
          <a:p>
            <a:pPr indent="0" marL="0">
              <a:buNone/>
            </a:pPr>
            <a:r>
              <a:rPr lang="en-US" sz="1600" b="1" dirty="0">
                <a:solidFill>
                  <a:srgbClr val="FFFFFF"/>
                </a:solidFill>
              </a:rPr>
              <a:t>GPU normal equations + cuDSS/dense solver.</a:t>
            </a:r>
            <a:endParaRPr lang="en-US" sz="1600" dirty="0"/>
          </a:p>
        </p:txBody>
      </p:sp>
      <p:sp>
        <p:nvSpPr>
          <p:cNvPr id="22" name="Shape 20"/>
          <p:cNvSpPr/>
          <p:nvPr/>
        </p:nvSpPr>
        <p:spPr>
          <a:xfrm>
            <a:off x="6382512" y="4334256"/>
            <a:ext cx="155448" cy="155448"/>
          </a:xfrm>
          <a:prstGeom prst="rect">
            <a:avLst/>
          </a:prstGeom>
          <a:solidFill>
            <a:srgbClr val="F2A23A"/>
          </a:solidFill>
          <a:ln w="12700">
            <a:solidFill>
              <a:srgbClr val="F2A23A"/>
            </a:solidFill>
            <a:prstDash val="solid"/>
          </a:ln>
        </p:spPr>
      </p:sp>
      <p:sp>
        <p:nvSpPr>
          <p:cNvPr id="23" name="Text 21"/>
          <p:cNvSpPr/>
          <p:nvPr/>
        </p:nvSpPr>
        <p:spPr>
          <a:xfrm>
            <a:off x="6720840" y="4261104"/>
            <a:ext cx="4480560" cy="246888"/>
          </a:xfrm>
          <a:prstGeom prst="rect">
            <a:avLst/>
          </a:prstGeom>
          <a:noFill/>
          <a:ln/>
        </p:spPr>
        <p:txBody>
          <a:bodyPr wrap="square" lIns="0" tIns="0" rIns="0" bIns="0" rtlCol="0" anchor="ctr">
            <a:normAutofit/>
          </a:bodyPr>
          <a:lstStyle/>
          <a:p>
            <a:pPr indent="0" marL="0">
              <a:buNone/>
            </a:pPr>
            <a:r>
              <a:rPr lang="en-US" sz="1600" b="1" dirty="0">
                <a:solidFill>
                  <a:srgbClr val="FFFFFF"/>
                </a:solidFill>
              </a:rPr>
              <a:t>Download delta, then CPU retract/error.</a:t>
            </a:r>
            <a:endParaRPr lang="en-US" sz="1600" dirty="0"/>
          </a:p>
        </p:txBody>
      </p:sp>
      <p:sp>
        <p:nvSpPr>
          <p:cNvPr id="24" name="Shape 22"/>
          <p:cNvSpPr/>
          <p:nvPr/>
        </p:nvSpPr>
        <p:spPr>
          <a:xfrm>
            <a:off x="6382512" y="4901184"/>
            <a:ext cx="155448" cy="155448"/>
          </a:xfrm>
          <a:prstGeom prst="rect">
            <a:avLst/>
          </a:prstGeom>
          <a:solidFill>
            <a:srgbClr val="F2A23A"/>
          </a:solidFill>
          <a:ln w="12700">
            <a:solidFill>
              <a:srgbClr val="F2A23A"/>
            </a:solidFill>
            <a:prstDash val="solid"/>
          </a:ln>
        </p:spPr>
      </p:sp>
      <p:sp>
        <p:nvSpPr>
          <p:cNvPr id="25" name="Text 23"/>
          <p:cNvSpPr/>
          <p:nvPr/>
        </p:nvSpPr>
        <p:spPr>
          <a:xfrm>
            <a:off x="6720840" y="4828032"/>
            <a:ext cx="4480560" cy="246888"/>
          </a:xfrm>
          <a:prstGeom prst="rect">
            <a:avLst/>
          </a:prstGeom>
          <a:noFill/>
          <a:ln/>
        </p:spPr>
        <p:txBody>
          <a:bodyPr wrap="square" lIns="0" tIns="0" rIns="0" bIns="0" rtlCol="0" anchor="ctr">
            <a:normAutofit/>
          </a:bodyPr>
          <a:lstStyle/>
          <a:p>
            <a:pPr indent="0" marL="0">
              <a:buNone/>
            </a:pPr>
            <a:r>
              <a:rPr lang="en-US" sz="1600" b="1" dirty="0">
                <a:solidFill>
                  <a:srgbClr val="FFFFFF"/>
                </a:solidFill>
              </a:rPr>
              <a:t>Measure full LM convergence.</a:t>
            </a:r>
            <a:endParaRPr lang="en-US" sz="1600" dirty="0"/>
          </a:p>
        </p:txBody>
      </p:sp>
      <p:sp>
        <p:nvSpPr>
          <p:cNvPr id="26" name="Text 24"/>
          <p:cNvSpPr/>
          <p:nvPr/>
        </p:nvSpPr>
        <p:spPr>
          <a:xfrm>
            <a:off x="6382512" y="5742432"/>
            <a:ext cx="4892040" cy="274320"/>
          </a:xfrm>
          <a:prstGeom prst="rect">
            <a:avLst/>
          </a:prstGeom>
          <a:noFill/>
          <a:ln/>
        </p:spPr>
        <p:txBody>
          <a:bodyPr wrap="square" lIns="0" tIns="0" rIns="0" bIns="0" rtlCol="0" anchor="ctr">
            <a:normAutofit/>
          </a:bodyPr>
          <a:lstStyle/>
          <a:p>
            <a:pPr indent="0" marL="0">
              <a:buNone/>
            </a:pPr>
            <a:r>
              <a:rPr lang="en-US" sz="1300" dirty="0">
                <a:solidFill>
                  <a:srgbClr val="D9E5EA"/>
                </a:solidFill>
              </a:rPr>
              <a:t>Success criterion: a measured end-to-end LM comparison with the same problem, convergence policy, and accounting scope.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Appendix: full dense-Schur breakdown</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mean, Dubrovnik 135, warm-up excluded, 3 runs. Times in milliseconds.</a:t>
            </a:r>
            <a:endParaRPr lang="en-US" sz="1450" dirty="0"/>
          </a:p>
        </p:txBody>
      </p:sp>
      <p:sp>
        <p:nvSpPr>
          <p:cNvPr id="5" name="Shape 3"/>
          <p:cNvSpPr/>
          <p:nvPr/>
        </p:nvSpPr>
        <p:spPr>
          <a:xfrm>
            <a:off x="10652760" y="438912"/>
            <a:ext cx="1069848" cy="274320"/>
          </a:xfrm>
          <a:prstGeom prst="rect">
            <a:avLst/>
          </a:prstGeom>
          <a:solidFill>
            <a:srgbClr val="0E7C86"/>
          </a:solidFill>
          <a:ln w="12700">
            <a:solidFill>
              <a:srgbClr val="0E7C86"/>
            </a:solidFill>
            <a:prstDash val="solid"/>
          </a:ln>
        </p:spPr>
      </p:sp>
      <p:sp>
        <p:nvSpPr>
          <p:cNvPr id="6" name="Text 4"/>
          <p:cNvSpPr/>
          <p:nvPr/>
        </p:nvSpPr>
        <p:spPr>
          <a:xfrm>
            <a:off x="1072591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502920" y="1234440"/>
            <a:ext cx="1143000" cy="288036"/>
          </a:xfrm>
          <a:prstGeom prst="rect">
            <a:avLst/>
          </a:prstGeom>
          <a:solidFill>
            <a:srgbClr val="1F2A44"/>
          </a:solidFill>
          <a:ln w="5715">
            <a:solidFill>
              <a:srgbClr val="F7F8FA"/>
            </a:solidFill>
            <a:prstDash val="solid"/>
          </a:ln>
        </p:spPr>
      </p:sp>
      <p:sp>
        <p:nvSpPr>
          <p:cNvPr id="8" name="Text 6"/>
          <p:cNvSpPr/>
          <p:nvPr/>
        </p:nvSpPr>
        <p:spPr>
          <a:xfrm>
            <a:off x="566928" y="1321308"/>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FFFFFF"/>
                </a:solidFill>
              </a:rPr>
              <a:t>Level</a:t>
            </a:r>
            <a:endParaRPr lang="en-US" sz="1080" dirty="0"/>
          </a:p>
        </p:txBody>
      </p:sp>
      <p:sp>
        <p:nvSpPr>
          <p:cNvPr id="9" name="Shape 7"/>
          <p:cNvSpPr/>
          <p:nvPr/>
        </p:nvSpPr>
        <p:spPr>
          <a:xfrm>
            <a:off x="1645920" y="1234440"/>
            <a:ext cx="4251960" cy="288036"/>
          </a:xfrm>
          <a:prstGeom prst="rect">
            <a:avLst/>
          </a:prstGeom>
          <a:solidFill>
            <a:srgbClr val="1F2A44"/>
          </a:solidFill>
          <a:ln w="5715">
            <a:solidFill>
              <a:srgbClr val="F7F8FA"/>
            </a:solidFill>
            <a:prstDash val="solid"/>
          </a:ln>
        </p:spPr>
      </p:sp>
      <p:sp>
        <p:nvSpPr>
          <p:cNvPr id="10" name="Text 8"/>
          <p:cNvSpPr/>
          <p:nvPr/>
        </p:nvSpPr>
        <p:spPr>
          <a:xfrm>
            <a:off x="1709928" y="1321308"/>
            <a:ext cx="4123944" cy="150876"/>
          </a:xfrm>
          <a:prstGeom prst="rect">
            <a:avLst/>
          </a:prstGeom>
          <a:noFill/>
          <a:ln/>
        </p:spPr>
        <p:txBody>
          <a:bodyPr wrap="square" lIns="0" tIns="0" rIns="0" bIns="0" rtlCol="0" anchor="ctr">
            <a:normAutofit/>
          </a:bodyPr>
          <a:lstStyle/>
          <a:p>
            <a:pPr algn="r" indent="0" marL="0">
              <a:buNone/>
            </a:pPr>
            <a:r>
              <a:rPr lang="en-US" sz="1080" b="1" dirty="0">
                <a:solidFill>
                  <a:srgbClr val="FFFFFF"/>
                </a:solidFill>
              </a:rPr>
              <a:t>Component</a:t>
            </a:r>
            <a:endParaRPr lang="en-US" sz="1080" dirty="0"/>
          </a:p>
        </p:txBody>
      </p:sp>
      <p:sp>
        <p:nvSpPr>
          <p:cNvPr id="11" name="Shape 9"/>
          <p:cNvSpPr/>
          <p:nvPr/>
        </p:nvSpPr>
        <p:spPr>
          <a:xfrm>
            <a:off x="5897880" y="1234440"/>
            <a:ext cx="1234440" cy="288036"/>
          </a:xfrm>
          <a:prstGeom prst="rect">
            <a:avLst/>
          </a:prstGeom>
          <a:solidFill>
            <a:srgbClr val="1F2A44"/>
          </a:solidFill>
          <a:ln w="5715">
            <a:solidFill>
              <a:srgbClr val="F7F8FA"/>
            </a:solidFill>
            <a:prstDash val="solid"/>
          </a:ln>
        </p:spPr>
      </p:sp>
      <p:sp>
        <p:nvSpPr>
          <p:cNvPr id="12" name="Text 10"/>
          <p:cNvSpPr/>
          <p:nvPr/>
        </p:nvSpPr>
        <p:spPr>
          <a:xfrm>
            <a:off x="5961888" y="1321308"/>
            <a:ext cx="1106424" cy="150876"/>
          </a:xfrm>
          <a:prstGeom prst="rect">
            <a:avLst/>
          </a:prstGeom>
          <a:noFill/>
          <a:ln/>
        </p:spPr>
        <p:txBody>
          <a:bodyPr wrap="square" lIns="0" tIns="0" rIns="0" bIns="0" rtlCol="0" anchor="ctr">
            <a:normAutofit/>
          </a:bodyPr>
          <a:lstStyle/>
          <a:p>
            <a:pPr algn="r" indent="0" marL="0">
              <a:buNone/>
            </a:pPr>
            <a:r>
              <a:rPr lang="en-US" sz="1080" b="1" dirty="0">
                <a:solidFill>
                  <a:srgbClr val="FFFFFF"/>
                </a:solidFill>
              </a:rPr>
              <a:t>Time</a:t>
            </a:r>
            <a:endParaRPr lang="en-US" sz="1080" dirty="0"/>
          </a:p>
        </p:txBody>
      </p:sp>
      <p:sp>
        <p:nvSpPr>
          <p:cNvPr id="13" name="Shape 11"/>
          <p:cNvSpPr/>
          <p:nvPr/>
        </p:nvSpPr>
        <p:spPr>
          <a:xfrm>
            <a:off x="7132320" y="1234440"/>
            <a:ext cx="1417320" cy="288036"/>
          </a:xfrm>
          <a:prstGeom prst="rect">
            <a:avLst/>
          </a:prstGeom>
          <a:solidFill>
            <a:srgbClr val="1F2A44"/>
          </a:solidFill>
          <a:ln w="5715">
            <a:solidFill>
              <a:srgbClr val="F7F8FA"/>
            </a:solidFill>
            <a:prstDash val="solid"/>
          </a:ln>
        </p:spPr>
      </p:sp>
      <p:sp>
        <p:nvSpPr>
          <p:cNvPr id="14" name="Text 12"/>
          <p:cNvSpPr/>
          <p:nvPr/>
        </p:nvSpPr>
        <p:spPr>
          <a:xfrm>
            <a:off x="7196328" y="1321308"/>
            <a:ext cx="1289304" cy="150876"/>
          </a:xfrm>
          <a:prstGeom prst="rect">
            <a:avLst/>
          </a:prstGeom>
          <a:noFill/>
          <a:ln/>
        </p:spPr>
        <p:txBody>
          <a:bodyPr wrap="square" lIns="0" tIns="0" rIns="0" bIns="0" rtlCol="0" anchor="ctr">
            <a:normAutofit/>
          </a:bodyPr>
          <a:lstStyle/>
          <a:p>
            <a:pPr algn="r" indent="0" marL="0">
              <a:buNone/>
            </a:pPr>
            <a:r>
              <a:rPr lang="en-US" sz="1080" b="1" dirty="0">
                <a:solidFill>
                  <a:srgbClr val="FFFFFF"/>
                </a:solidFill>
              </a:rPr>
              <a:t>% graph API</a:t>
            </a:r>
            <a:endParaRPr lang="en-US" sz="1080" dirty="0"/>
          </a:p>
        </p:txBody>
      </p:sp>
      <p:sp>
        <p:nvSpPr>
          <p:cNvPr id="15" name="Shape 13"/>
          <p:cNvSpPr/>
          <p:nvPr/>
        </p:nvSpPr>
        <p:spPr>
          <a:xfrm>
            <a:off x="8549640" y="1234440"/>
            <a:ext cx="1325880" cy="288036"/>
          </a:xfrm>
          <a:prstGeom prst="rect">
            <a:avLst/>
          </a:prstGeom>
          <a:solidFill>
            <a:srgbClr val="1F2A44"/>
          </a:solidFill>
          <a:ln w="5715">
            <a:solidFill>
              <a:srgbClr val="F7F8FA"/>
            </a:solidFill>
            <a:prstDash val="solid"/>
          </a:ln>
        </p:spPr>
      </p:sp>
      <p:sp>
        <p:nvSpPr>
          <p:cNvPr id="16" name="Text 14"/>
          <p:cNvSpPr/>
          <p:nvPr/>
        </p:nvSpPr>
        <p:spPr>
          <a:xfrm>
            <a:off x="8613648" y="1321308"/>
            <a:ext cx="1197864" cy="150876"/>
          </a:xfrm>
          <a:prstGeom prst="rect">
            <a:avLst/>
          </a:prstGeom>
          <a:noFill/>
          <a:ln/>
        </p:spPr>
        <p:txBody>
          <a:bodyPr wrap="square" lIns="0" tIns="0" rIns="0" bIns="0" rtlCol="0" anchor="ctr">
            <a:normAutofit/>
          </a:bodyPr>
          <a:lstStyle/>
          <a:p>
            <a:pPr algn="r" indent="0" marL="0">
              <a:buNone/>
            </a:pPr>
            <a:r>
              <a:rPr lang="en-US" sz="1080" b="1" dirty="0">
                <a:solidFill>
                  <a:srgbClr val="FFFFFF"/>
                </a:solidFill>
              </a:rPr>
              <a:t>% parent</a:t>
            </a:r>
            <a:endParaRPr lang="en-US" sz="1080" dirty="0"/>
          </a:p>
        </p:txBody>
      </p:sp>
      <p:sp>
        <p:nvSpPr>
          <p:cNvPr id="17" name="Shape 15"/>
          <p:cNvSpPr/>
          <p:nvPr/>
        </p:nvSpPr>
        <p:spPr>
          <a:xfrm>
            <a:off x="502920" y="1522476"/>
            <a:ext cx="1143000" cy="288036"/>
          </a:xfrm>
          <a:prstGeom prst="rect">
            <a:avLst/>
          </a:prstGeom>
          <a:solidFill>
            <a:srgbClr val="FFFFFF"/>
          </a:solidFill>
          <a:ln w="5715">
            <a:solidFill>
              <a:srgbClr val="F7F8FA"/>
            </a:solidFill>
            <a:prstDash val="solid"/>
          </a:ln>
        </p:spPr>
      </p:sp>
      <p:sp>
        <p:nvSpPr>
          <p:cNvPr id="18" name="Text 16"/>
          <p:cNvSpPr/>
          <p:nvPr/>
        </p:nvSpPr>
        <p:spPr>
          <a:xfrm>
            <a:off x="566928" y="1609344"/>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Graph API</a:t>
            </a:r>
            <a:endParaRPr lang="en-US" sz="1080" dirty="0"/>
          </a:p>
        </p:txBody>
      </p:sp>
      <p:sp>
        <p:nvSpPr>
          <p:cNvPr id="19" name="Shape 17"/>
          <p:cNvSpPr/>
          <p:nvPr/>
        </p:nvSpPr>
        <p:spPr>
          <a:xfrm>
            <a:off x="1645920" y="1522476"/>
            <a:ext cx="4251960" cy="288036"/>
          </a:xfrm>
          <a:prstGeom prst="rect">
            <a:avLst/>
          </a:prstGeom>
          <a:solidFill>
            <a:srgbClr val="FFFFFF"/>
          </a:solidFill>
          <a:ln w="5715">
            <a:solidFill>
              <a:srgbClr val="F7F8FA"/>
            </a:solidFill>
            <a:prstDash val="solid"/>
          </a:ln>
        </p:spPr>
      </p:sp>
      <p:sp>
        <p:nvSpPr>
          <p:cNvPr id="20" name="Text 18"/>
          <p:cNvSpPr/>
          <p:nvPr/>
        </p:nvSpPr>
        <p:spPr>
          <a:xfrm>
            <a:off x="1709928" y="1609344"/>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Optimizer construction</a:t>
            </a:r>
            <a:endParaRPr lang="en-US" sz="1080" dirty="0"/>
          </a:p>
        </p:txBody>
      </p:sp>
      <p:sp>
        <p:nvSpPr>
          <p:cNvPr id="21" name="Shape 19"/>
          <p:cNvSpPr/>
          <p:nvPr/>
        </p:nvSpPr>
        <p:spPr>
          <a:xfrm>
            <a:off x="5897880" y="1522476"/>
            <a:ext cx="1234440" cy="288036"/>
          </a:xfrm>
          <a:prstGeom prst="rect">
            <a:avLst/>
          </a:prstGeom>
          <a:solidFill>
            <a:srgbClr val="FFFFFF"/>
          </a:solidFill>
          <a:ln w="5715">
            <a:solidFill>
              <a:srgbClr val="F7F8FA"/>
            </a:solidFill>
            <a:prstDash val="solid"/>
          </a:ln>
        </p:spPr>
      </p:sp>
      <p:sp>
        <p:nvSpPr>
          <p:cNvPr id="22" name="Text 20"/>
          <p:cNvSpPr/>
          <p:nvPr/>
        </p:nvSpPr>
        <p:spPr>
          <a:xfrm>
            <a:off x="5961888" y="1609344"/>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36.203</a:t>
            </a:r>
            <a:endParaRPr lang="en-US" sz="1080" dirty="0"/>
          </a:p>
        </p:txBody>
      </p:sp>
      <p:sp>
        <p:nvSpPr>
          <p:cNvPr id="23" name="Shape 21"/>
          <p:cNvSpPr/>
          <p:nvPr/>
        </p:nvSpPr>
        <p:spPr>
          <a:xfrm>
            <a:off x="7132320" y="1522476"/>
            <a:ext cx="1417320" cy="288036"/>
          </a:xfrm>
          <a:prstGeom prst="rect">
            <a:avLst/>
          </a:prstGeom>
          <a:solidFill>
            <a:srgbClr val="FFFFFF"/>
          </a:solidFill>
          <a:ln w="5715">
            <a:solidFill>
              <a:srgbClr val="F7F8FA"/>
            </a:solidFill>
            <a:prstDash val="solid"/>
          </a:ln>
        </p:spPr>
      </p:sp>
      <p:sp>
        <p:nvSpPr>
          <p:cNvPr id="24" name="Text 22"/>
          <p:cNvSpPr/>
          <p:nvPr/>
        </p:nvSpPr>
        <p:spPr>
          <a:xfrm>
            <a:off x="7196328" y="1609344"/>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8.49%</a:t>
            </a:r>
            <a:endParaRPr lang="en-US" sz="1080" dirty="0"/>
          </a:p>
        </p:txBody>
      </p:sp>
      <p:sp>
        <p:nvSpPr>
          <p:cNvPr id="25" name="Shape 23"/>
          <p:cNvSpPr/>
          <p:nvPr/>
        </p:nvSpPr>
        <p:spPr>
          <a:xfrm>
            <a:off x="8549640" y="1522476"/>
            <a:ext cx="1325880" cy="288036"/>
          </a:xfrm>
          <a:prstGeom prst="rect">
            <a:avLst/>
          </a:prstGeom>
          <a:solidFill>
            <a:srgbClr val="FFFFFF"/>
          </a:solidFill>
          <a:ln w="5715">
            <a:solidFill>
              <a:srgbClr val="F7F8FA"/>
            </a:solidFill>
            <a:prstDash val="solid"/>
          </a:ln>
        </p:spPr>
      </p:sp>
      <p:sp>
        <p:nvSpPr>
          <p:cNvPr id="26" name="Text 24"/>
          <p:cNvSpPr/>
          <p:nvPr/>
        </p:nvSpPr>
        <p:spPr>
          <a:xfrm>
            <a:off x="8613648" y="1609344"/>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a:t>
            </a:r>
            <a:endParaRPr lang="en-US" sz="1080" dirty="0"/>
          </a:p>
        </p:txBody>
      </p:sp>
      <p:sp>
        <p:nvSpPr>
          <p:cNvPr id="27" name="Shape 25"/>
          <p:cNvSpPr/>
          <p:nvPr/>
        </p:nvSpPr>
        <p:spPr>
          <a:xfrm>
            <a:off x="502920" y="1810512"/>
            <a:ext cx="1143000" cy="288036"/>
          </a:xfrm>
          <a:prstGeom prst="rect">
            <a:avLst/>
          </a:prstGeom>
          <a:solidFill>
            <a:srgbClr val="F0F4F7"/>
          </a:solidFill>
          <a:ln w="5715">
            <a:solidFill>
              <a:srgbClr val="F7F8FA"/>
            </a:solidFill>
            <a:prstDash val="solid"/>
          </a:ln>
        </p:spPr>
      </p:sp>
      <p:sp>
        <p:nvSpPr>
          <p:cNvPr id="28" name="Text 26"/>
          <p:cNvSpPr/>
          <p:nvPr/>
        </p:nvSpPr>
        <p:spPr>
          <a:xfrm>
            <a:off x="566928" y="1897380"/>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Graph API</a:t>
            </a:r>
            <a:endParaRPr lang="en-US" sz="1080" dirty="0"/>
          </a:p>
        </p:txBody>
      </p:sp>
      <p:sp>
        <p:nvSpPr>
          <p:cNvPr id="29" name="Shape 27"/>
          <p:cNvSpPr/>
          <p:nvPr/>
        </p:nvSpPr>
        <p:spPr>
          <a:xfrm>
            <a:off x="1645920" y="1810512"/>
            <a:ext cx="4251960" cy="288036"/>
          </a:xfrm>
          <a:prstGeom prst="rect">
            <a:avLst/>
          </a:prstGeom>
          <a:solidFill>
            <a:srgbClr val="F0F4F7"/>
          </a:solidFill>
          <a:ln w="5715">
            <a:solidFill>
              <a:srgbClr val="F7F8FA"/>
            </a:solidFill>
            <a:prstDash val="solid"/>
          </a:ln>
        </p:spPr>
      </p:sp>
      <p:sp>
        <p:nvSpPr>
          <p:cNvPr id="30" name="Text 28"/>
          <p:cNvSpPr/>
          <p:nvPr/>
        </p:nvSpPr>
        <p:spPr>
          <a:xfrm>
            <a:off x="1709928" y="1897380"/>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optimize()</a:t>
            </a:r>
            <a:endParaRPr lang="en-US" sz="1080" dirty="0"/>
          </a:p>
        </p:txBody>
      </p:sp>
      <p:sp>
        <p:nvSpPr>
          <p:cNvPr id="31" name="Shape 29"/>
          <p:cNvSpPr/>
          <p:nvPr/>
        </p:nvSpPr>
        <p:spPr>
          <a:xfrm>
            <a:off x="5897880" y="1810512"/>
            <a:ext cx="1234440" cy="288036"/>
          </a:xfrm>
          <a:prstGeom prst="rect">
            <a:avLst/>
          </a:prstGeom>
          <a:solidFill>
            <a:srgbClr val="F0F4F7"/>
          </a:solidFill>
          <a:ln w="5715">
            <a:solidFill>
              <a:srgbClr val="F7F8FA"/>
            </a:solidFill>
            <a:prstDash val="solid"/>
          </a:ln>
        </p:spPr>
      </p:sp>
      <p:sp>
        <p:nvSpPr>
          <p:cNvPr id="32" name="Text 30"/>
          <p:cNvSpPr/>
          <p:nvPr/>
        </p:nvSpPr>
        <p:spPr>
          <a:xfrm>
            <a:off x="5961888" y="1897380"/>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376.192</a:t>
            </a:r>
            <a:endParaRPr lang="en-US" sz="1080" dirty="0"/>
          </a:p>
        </p:txBody>
      </p:sp>
      <p:sp>
        <p:nvSpPr>
          <p:cNvPr id="33" name="Shape 31"/>
          <p:cNvSpPr/>
          <p:nvPr/>
        </p:nvSpPr>
        <p:spPr>
          <a:xfrm>
            <a:off x="7132320" y="1810512"/>
            <a:ext cx="1417320" cy="288036"/>
          </a:xfrm>
          <a:prstGeom prst="rect">
            <a:avLst/>
          </a:prstGeom>
          <a:solidFill>
            <a:srgbClr val="F0F4F7"/>
          </a:solidFill>
          <a:ln w="5715">
            <a:solidFill>
              <a:srgbClr val="F7F8FA"/>
            </a:solidFill>
            <a:prstDash val="solid"/>
          </a:ln>
        </p:spPr>
      </p:sp>
      <p:sp>
        <p:nvSpPr>
          <p:cNvPr id="34" name="Text 32"/>
          <p:cNvSpPr/>
          <p:nvPr/>
        </p:nvSpPr>
        <p:spPr>
          <a:xfrm>
            <a:off x="7196328" y="1897380"/>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88.26%</a:t>
            </a:r>
            <a:endParaRPr lang="en-US" sz="1080" dirty="0"/>
          </a:p>
        </p:txBody>
      </p:sp>
      <p:sp>
        <p:nvSpPr>
          <p:cNvPr id="35" name="Shape 33"/>
          <p:cNvSpPr/>
          <p:nvPr/>
        </p:nvSpPr>
        <p:spPr>
          <a:xfrm>
            <a:off x="8549640" y="1810512"/>
            <a:ext cx="1325880" cy="288036"/>
          </a:xfrm>
          <a:prstGeom prst="rect">
            <a:avLst/>
          </a:prstGeom>
          <a:solidFill>
            <a:srgbClr val="F0F4F7"/>
          </a:solidFill>
          <a:ln w="5715">
            <a:solidFill>
              <a:srgbClr val="F7F8FA"/>
            </a:solidFill>
            <a:prstDash val="solid"/>
          </a:ln>
        </p:spPr>
      </p:sp>
      <p:sp>
        <p:nvSpPr>
          <p:cNvPr id="36" name="Text 34"/>
          <p:cNvSpPr/>
          <p:nvPr/>
        </p:nvSpPr>
        <p:spPr>
          <a:xfrm>
            <a:off x="8613648" y="1897380"/>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a:t>
            </a:r>
            <a:endParaRPr lang="en-US" sz="1080" dirty="0"/>
          </a:p>
        </p:txBody>
      </p:sp>
      <p:sp>
        <p:nvSpPr>
          <p:cNvPr id="37" name="Shape 35"/>
          <p:cNvSpPr/>
          <p:nvPr/>
        </p:nvSpPr>
        <p:spPr>
          <a:xfrm>
            <a:off x="502920" y="2098548"/>
            <a:ext cx="1143000" cy="288036"/>
          </a:xfrm>
          <a:prstGeom prst="rect">
            <a:avLst/>
          </a:prstGeom>
          <a:solidFill>
            <a:srgbClr val="FFFFFF"/>
          </a:solidFill>
          <a:ln w="5715">
            <a:solidFill>
              <a:srgbClr val="F7F8FA"/>
            </a:solidFill>
            <a:prstDash val="solid"/>
          </a:ln>
        </p:spPr>
      </p:sp>
      <p:sp>
        <p:nvSpPr>
          <p:cNvPr id="38" name="Text 36"/>
          <p:cNvSpPr/>
          <p:nvPr/>
        </p:nvSpPr>
        <p:spPr>
          <a:xfrm>
            <a:off x="566928" y="2185416"/>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Graph API</a:t>
            </a:r>
            <a:endParaRPr lang="en-US" sz="1080" dirty="0"/>
          </a:p>
        </p:txBody>
      </p:sp>
      <p:sp>
        <p:nvSpPr>
          <p:cNvPr id="39" name="Shape 37"/>
          <p:cNvSpPr/>
          <p:nvPr/>
        </p:nvSpPr>
        <p:spPr>
          <a:xfrm>
            <a:off x="1645920" y="2098548"/>
            <a:ext cx="4251960" cy="288036"/>
          </a:xfrm>
          <a:prstGeom prst="rect">
            <a:avLst/>
          </a:prstGeom>
          <a:solidFill>
            <a:srgbClr val="FFFFFF"/>
          </a:solidFill>
          <a:ln w="5715">
            <a:solidFill>
              <a:srgbClr val="F7F8FA"/>
            </a:solidFill>
            <a:prstDash val="solid"/>
          </a:ln>
        </p:spPr>
      </p:sp>
      <p:sp>
        <p:nvSpPr>
          <p:cNvPr id="40" name="Text 38"/>
          <p:cNvSpPr/>
          <p:nvPr/>
        </p:nvSpPr>
        <p:spPr>
          <a:xfrm>
            <a:off x="1709928" y="2185416"/>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Result/error queries</a:t>
            </a:r>
            <a:endParaRPr lang="en-US" sz="1080" dirty="0"/>
          </a:p>
        </p:txBody>
      </p:sp>
      <p:sp>
        <p:nvSpPr>
          <p:cNvPr id="41" name="Shape 39"/>
          <p:cNvSpPr/>
          <p:nvPr/>
        </p:nvSpPr>
        <p:spPr>
          <a:xfrm>
            <a:off x="5897880" y="2098548"/>
            <a:ext cx="1234440" cy="288036"/>
          </a:xfrm>
          <a:prstGeom prst="rect">
            <a:avLst/>
          </a:prstGeom>
          <a:solidFill>
            <a:srgbClr val="FFFFFF"/>
          </a:solidFill>
          <a:ln w="5715">
            <a:solidFill>
              <a:srgbClr val="F7F8FA"/>
            </a:solidFill>
            <a:prstDash val="solid"/>
          </a:ln>
        </p:spPr>
      </p:sp>
      <p:sp>
        <p:nvSpPr>
          <p:cNvPr id="42" name="Text 40"/>
          <p:cNvSpPr/>
          <p:nvPr/>
        </p:nvSpPr>
        <p:spPr>
          <a:xfrm>
            <a:off x="5961888" y="2185416"/>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13.828</a:t>
            </a:r>
            <a:endParaRPr lang="en-US" sz="1080" dirty="0"/>
          </a:p>
        </p:txBody>
      </p:sp>
      <p:sp>
        <p:nvSpPr>
          <p:cNvPr id="43" name="Shape 41"/>
          <p:cNvSpPr/>
          <p:nvPr/>
        </p:nvSpPr>
        <p:spPr>
          <a:xfrm>
            <a:off x="7132320" y="2098548"/>
            <a:ext cx="1417320" cy="288036"/>
          </a:xfrm>
          <a:prstGeom prst="rect">
            <a:avLst/>
          </a:prstGeom>
          <a:solidFill>
            <a:srgbClr val="FFFFFF"/>
          </a:solidFill>
          <a:ln w="5715">
            <a:solidFill>
              <a:srgbClr val="F7F8FA"/>
            </a:solidFill>
            <a:prstDash val="solid"/>
          </a:ln>
        </p:spPr>
      </p:sp>
      <p:sp>
        <p:nvSpPr>
          <p:cNvPr id="44" name="Text 42"/>
          <p:cNvSpPr/>
          <p:nvPr/>
        </p:nvSpPr>
        <p:spPr>
          <a:xfrm>
            <a:off x="7196328" y="2185416"/>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3.24%</a:t>
            </a:r>
            <a:endParaRPr lang="en-US" sz="1080" dirty="0"/>
          </a:p>
        </p:txBody>
      </p:sp>
      <p:sp>
        <p:nvSpPr>
          <p:cNvPr id="45" name="Shape 43"/>
          <p:cNvSpPr/>
          <p:nvPr/>
        </p:nvSpPr>
        <p:spPr>
          <a:xfrm>
            <a:off x="8549640" y="2098548"/>
            <a:ext cx="1325880" cy="288036"/>
          </a:xfrm>
          <a:prstGeom prst="rect">
            <a:avLst/>
          </a:prstGeom>
          <a:solidFill>
            <a:srgbClr val="FFFFFF"/>
          </a:solidFill>
          <a:ln w="5715">
            <a:solidFill>
              <a:srgbClr val="F7F8FA"/>
            </a:solidFill>
            <a:prstDash val="solid"/>
          </a:ln>
        </p:spPr>
      </p:sp>
      <p:sp>
        <p:nvSpPr>
          <p:cNvPr id="46" name="Text 44"/>
          <p:cNvSpPr/>
          <p:nvPr/>
        </p:nvSpPr>
        <p:spPr>
          <a:xfrm>
            <a:off x="8613648" y="2185416"/>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a:t>
            </a:r>
            <a:endParaRPr lang="en-US" sz="1080" dirty="0"/>
          </a:p>
        </p:txBody>
      </p:sp>
      <p:sp>
        <p:nvSpPr>
          <p:cNvPr id="47" name="Shape 45"/>
          <p:cNvSpPr/>
          <p:nvPr/>
        </p:nvSpPr>
        <p:spPr>
          <a:xfrm>
            <a:off x="502920" y="2386584"/>
            <a:ext cx="1143000" cy="288036"/>
          </a:xfrm>
          <a:prstGeom prst="rect">
            <a:avLst/>
          </a:prstGeom>
          <a:solidFill>
            <a:srgbClr val="F0F4F7"/>
          </a:solidFill>
          <a:ln w="5715">
            <a:solidFill>
              <a:srgbClr val="F7F8FA"/>
            </a:solidFill>
            <a:prstDash val="solid"/>
          </a:ln>
        </p:spPr>
      </p:sp>
      <p:sp>
        <p:nvSpPr>
          <p:cNvPr id="48" name="Text 46"/>
          <p:cNvSpPr/>
          <p:nvPr/>
        </p:nvSpPr>
        <p:spPr>
          <a:xfrm>
            <a:off x="566928" y="2473452"/>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optimize</a:t>
            </a:r>
            <a:endParaRPr lang="en-US" sz="1080" dirty="0"/>
          </a:p>
        </p:txBody>
      </p:sp>
      <p:sp>
        <p:nvSpPr>
          <p:cNvPr id="49" name="Shape 47"/>
          <p:cNvSpPr/>
          <p:nvPr/>
        </p:nvSpPr>
        <p:spPr>
          <a:xfrm>
            <a:off x="1645920" y="2386584"/>
            <a:ext cx="4251960" cy="288036"/>
          </a:xfrm>
          <a:prstGeom prst="rect">
            <a:avLst/>
          </a:prstGeom>
          <a:solidFill>
            <a:srgbClr val="F0F4F7"/>
          </a:solidFill>
          <a:ln w="5715">
            <a:solidFill>
              <a:srgbClr val="F7F8FA"/>
            </a:solidFill>
            <a:prstDash val="solid"/>
          </a:ln>
        </p:spPr>
      </p:sp>
      <p:sp>
        <p:nvSpPr>
          <p:cNvPr id="50" name="Text 48"/>
          <p:cNvSpPr/>
          <p:nvPr/>
        </p:nvSpPr>
        <p:spPr>
          <a:xfrm>
            <a:off x="1709928" y="2473452"/>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Graph conversion</a:t>
            </a:r>
            <a:endParaRPr lang="en-US" sz="1080" dirty="0"/>
          </a:p>
        </p:txBody>
      </p:sp>
      <p:sp>
        <p:nvSpPr>
          <p:cNvPr id="51" name="Shape 49"/>
          <p:cNvSpPr/>
          <p:nvPr/>
        </p:nvSpPr>
        <p:spPr>
          <a:xfrm>
            <a:off x="5897880" y="2386584"/>
            <a:ext cx="1234440" cy="288036"/>
          </a:xfrm>
          <a:prstGeom prst="rect">
            <a:avLst/>
          </a:prstGeom>
          <a:solidFill>
            <a:srgbClr val="F0F4F7"/>
          </a:solidFill>
          <a:ln w="5715">
            <a:solidFill>
              <a:srgbClr val="F7F8FA"/>
            </a:solidFill>
            <a:prstDash val="solid"/>
          </a:ln>
        </p:spPr>
      </p:sp>
      <p:sp>
        <p:nvSpPr>
          <p:cNvPr id="52" name="Text 50"/>
          <p:cNvSpPr/>
          <p:nvPr/>
        </p:nvSpPr>
        <p:spPr>
          <a:xfrm>
            <a:off x="5961888" y="2473452"/>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114.246</a:t>
            </a:r>
            <a:endParaRPr lang="en-US" sz="1080" dirty="0"/>
          </a:p>
        </p:txBody>
      </p:sp>
      <p:sp>
        <p:nvSpPr>
          <p:cNvPr id="53" name="Shape 51"/>
          <p:cNvSpPr/>
          <p:nvPr/>
        </p:nvSpPr>
        <p:spPr>
          <a:xfrm>
            <a:off x="7132320" y="2386584"/>
            <a:ext cx="1417320" cy="288036"/>
          </a:xfrm>
          <a:prstGeom prst="rect">
            <a:avLst/>
          </a:prstGeom>
          <a:solidFill>
            <a:srgbClr val="F0F4F7"/>
          </a:solidFill>
          <a:ln w="5715">
            <a:solidFill>
              <a:srgbClr val="F7F8FA"/>
            </a:solidFill>
            <a:prstDash val="solid"/>
          </a:ln>
        </p:spPr>
      </p:sp>
      <p:sp>
        <p:nvSpPr>
          <p:cNvPr id="54" name="Text 52"/>
          <p:cNvSpPr/>
          <p:nvPr/>
        </p:nvSpPr>
        <p:spPr>
          <a:xfrm>
            <a:off x="7196328" y="2473452"/>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26.80%</a:t>
            </a:r>
            <a:endParaRPr lang="en-US" sz="1080" dirty="0"/>
          </a:p>
        </p:txBody>
      </p:sp>
      <p:sp>
        <p:nvSpPr>
          <p:cNvPr id="55" name="Shape 53"/>
          <p:cNvSpPr/>
          <p:nvPr/>
        </p:nvSpPr>
        <p:spPr>
          <a:xfrm>
            <a:off x="8549640" y="2386584"/>
            <a:ext cx="1325880" cy="288036"/>
          </a:xfrm>
          <a:prstGeom prst="rect">
            <a:avLst/>
          </a:prstGeom>
          <a:solidFill>
            <a:srgbClr val="F0F4F7"/>
          </a:solidFill>
          <a:ln w="5715">
            <a:solidFill>
              <a:srgbClr val="F7F8FA"/>
            </a:solidFill>
            <a:prstDash val="solid"/>
          </a:ln>
        </p:spPr>
      </p:sp>
      <p:sp>
        <p:nvSpPr>
          <p:cNvPr id="56" name="Text 54"/>
          <p:cNvSpPr/>
          <p:nvPr/>
        </p:nvSpPr>
        <p:spPr>
          <a:xfrm>
            <a:off x="8613648" y="2473452"/>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30.37%</a:t>
            </a:r>
            <a:endParaRPr lang="en-US" sz="1080" dirty="0"/>
          </a:p>
        </p:txBody>
      </p:sp>
      <p:sp>
        <p:nvSpPr>
          <p:cNvPr id="57" name="Shape 55"/>
          <p:cNvSpPr/>
          <p:nvPr/>
        </p:nvSpPr>
        <p:spPr>
          <a:xfrm>
            <a:off x="502920" y="2674620"/>
            <a:ext cx="1143000" cy="288036"/>
          </a:xfrm>
          <a:prstGeom prst="rect">
            <a:avLst/>
          </a:prstGeom>
          <a:solidFill>
            <a:srgbClr val="FFFFFF"/>
          </a:solidFill>
          <a:ln w="5715">
            <a:solidFill>
              <a:srgbClr val="F7F8FA"/>
            </a:solidFill>
            <a:prstDash val="solid"/>
          </a:ln>
        </p:spPr>
      </p:sp>
      <p:sp>
        <p:nvSpPr>
          <p:cNvPr id="58" name="Text 56"/>
          <p:cNvSpPr/>
          <p:nvPr/>
        </p:nvSpPr>
        <p:spPr>
          <a:xfrm>
            <a:off x="566928" y="2761488"/>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optimize</a:t>
            </a:r>
            <a:endParaRPr lang="en-US" sz="1080" dirty="0"/>
          </a:p>
        </p:txBody>
      </p:sp>
      <p:sp>
        <p:nvSpPr>
          <p:cNvPr id="59" name="Shape 57"/>
          <p:cNvSpPr/>
          <p:nvPr/>
        </p:nvSpPr>
        <p:spPr>
          <a:xfrm>
            <a:off x="1645920" y="2674620"/>
            <a:ext cx="4251960" cy="288036"/>
          </a:xfrm>
          <a:prstGeom prst="rect">
            <a:avLst/>
          </a:prstGeom>
          <a:solidFill>
            <a:srgbClr val="FFFFFF"/>
          </a:solidFill>
          <a:ln w="5715">
            <a:solidFill>
              <a:srgbClr val="F7F8FA"/>
            </a:solidFill>
            <a:prstDash val="solid"/>
          </a:ln>
        </p:spPr>
      </p:sp>
      <p:sp>
        <p:nvSpPr>
          <p:cNvPr id="60" name="Text 58"/>
          <p:cNvSpPr/>
          <p:nvPr/>
        </p:nvSpPr>
        <p:spPr>
          <a:xfrm>
            <a:off x="1709928" y="2761488"/>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CUDA backend</a:t>
            </a:r>
            <a:endParaRPr lang="en-US" sz="1080" dirty="0"/>
          </a:p>
        </p:txBody>
      </p:sp>
      <p:sp>
        <p:nvSpPr>
          <p:cNvPr id="61" name="Shape 59"/>
          <p:cNvSpPr/>
          <p:nvPr/>
        </p:nvSpPr>
        <p:spPr>
          <a:xfrm>
            <a:off x="5897880" y="2674620"/>
            <a:ext cx="1234440" cy="288036"/>
          </a:xfrm>
          <a:prstGeom prst="rect">
            <a:avLst/>
          </a:prstGeom>
          <a:solidFill>
            <a:srgbClr val="FFFFFF"/>
          </a:solidFill>
          <a:ln w="5715">
            <a:solidFill>
              <a:srgbClr val="F7F8FA"/>
            </a:solidFill>
            <a:prstDash val="solid"/>
          </a:ln>
        </p:spPr>
      </p:sp>
      <p:sp>
        <p:nvSpPr>
          <p:cNvPr id="62" name="Text 60"/>
          <p:cNvSpPr/>
          <p:nvPr/>
        </p:nvSpPr>
        <p:spPr>
          <a:xfrm>
            <a:off x="5961888" y="2761488"/>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137.542</a:t>
            </a:r>
            <a:endParaRPr lang="en-US" sz="1080" dirty="0"/>
          </a:p>
        </p:txBody>
      </p:sp>
      <p:sp>
        <p:nvSpPr>
          <p:cNvPr id="63" name="Shape 61"/>
          <p:cNvSpPr/>
          <p:nvPr/>
        </p:nvSpPr>
        <p:spPr>
          <a:xfrm>
            <a:off x="7132320" y="2674620"/>
            <a:ext cx="1417320" cy="288036"/>
          </a:xfrm>
          <a:prstGeom prst="rect">
            <a:avLst/>
          </a:prstGeom>
          <a:solidFill>
            <a:srgbClr val="FFFFFF"/>
          </a:solidFill>
          <a:ln w="5715">
            <a:solidFill>
              <a:srgbClr val="F7F8FA"/>
            </a:solidFill>
            <a:prstDash val="solid"/>
          </a:ln>
        </p:spPr>
      </p:sp>
      <p:sp>
        <p:nvSpPr>
          <p:cNvPr id="64" name="Text 62"/>
          <p:cNvSpPr/>
          <p:nvPr/>
        </p:nvSpPr>
        <p:spPr>
          <a:xfrm>
            <a:off x="7196328" y="2761488"/>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32.27%</a:t>
            </a:r>
            <a:endParaRPr lang="en-US" sz="1080" dirty="0"/>
          </a:p>
        </p:txBody>
      </p:sp>
      <p:sp>
        <p:nvSpPr>
          <p:cNvPr id="65" name="Shape 63"/>
          <p:cNvSpPr/>
          <p:nvPr/>
        </p:nvSpPr>
        <p:spPr>
          <a:xfrm>
            <a:off x="8549640" y="2674620"/>
            <a:ext cx="1325880" cy="288036"/>
          </a:xfrm>
          <a:prstGeom prst="rect">
            <a:avLst/>
          </a:prstGeom>
          <a:solidFill>
            <a:srgbClr val="FFFFFF"/>
          </a:solidFill>
          <a:ln w="5715">
            <a:solidFill>
              <a:srgbClr val="F7F8FA"/>
            </a:solidFill>
            <a:prstDash val="solid"/>
          </a:ln>
        </p:spPr>
      </p:sp>
      <p:sp>
        <p:nvSpPr>
          <p:cNvPr id="66" name="Text 64"/>
          <p:cNvSpPr/>
          <p:nvPr/>
        </p:nvSpPr>
        <p:spPr>
          <a:xfrm>
            <a:off x="8613648" y="2761488"/>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36.56%</a:t>
            </a:r>
            <a:endParaRPr lang="en-US" sz="1080" dirty="0"/>
          </a:p>
        </p:txBody>
      </p:sp>
      <p:sp>
        <p:nvSpPr>
          <p:cNvPr id="67" name="Shape 65"/>
          <p:cNvSpPr/>
          <p:nvPr/>
        </p:nvSpPr>
        <p:spPr>
          <a:xfrm>
            <a:off x="502920" y="2962656"/>
            <a:ext cx="1143000" cy="288036"/>
          </a:xfrm>
          <a:prstGeom prst="rect">
            <a:avLst/>
          </a:prstGeom>
          <a:solidFill>
            <a:srgbClr val="F0F4F7"/>
          </a:solidFill>
          <a:ln w="5715">
            <a:solidFill>
              <a:srgbClr val="F7F8FA"/>
            </a:solidFill>
            <a:prstDash val="solid"/>
          </a:ln>
        </p:spPr>
      </p:sp>
      <p:sp>
        <p:nvSpPr>
          <p:cNvPr id="68" name="Text 66"/>
          <p:cNvSpPr/>
          <p:nvPr/>
        </p:nvSpPr>
        <p:spPr>
          <a:xfrm>
            <a:off x="566928" y="3049524"/>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optimize</a:t>
            </a:r>
            <a:endParaRPr lang="en-US" sz="1080" dirty="0"/>
          </a:p>
        </p:txBody>
      </p:sp>
      <p:sp>
        <p:nvSpPr>
          <p:cNvPr id="69" name="Shape 67"/>
          <p:cNvSpPr/>
          <p:nvPr/>
        </p:nvSpPr>
        <p:spPr>
          <a:xfrm>
            <a:off x="1645920" y="2962656"/>
            <a:ext cx="4251960" cy="288036"/>
          </a:xfrm>
          <a:prstGeom prst="rect">
            <a:avLst/>
          </a:prstGeom>
          <a:solidFill>
            <a:srgbClr val="F0F4F7"/>
          </a:solidFill>
          <a:ln w="5715">
            <a:solidFill>
              <a:srgbClr val="F7F8FA"/>
            </a:solidFill>
            <a:prstDash val="solid"/>
          </a:ln>
        </p:spPr>
      </p:sp>
      <p:sp>
        <p:nvSpPr>
          <p:cNvPr id="70" name="Text 68"/>
          <p:cNvSpPr/>
          <p:nvPr/>
        </p:nvSpPr>
        <p:spPr>
          <a:xfrm>
            <a:off x="1709928" y="3049524"/>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Backend return / assignment</a:t>
            </a:r>
            <a:endParaRPr lang="en-US" sz="1080" dirty="0"/>
          </a:p>
        </p:txBody>
      </p:sp>
      <p:sp>
        <p:nvSpPr>
          <p:cNvPr id="71" name="Shape 69"/>
          <p:cNvSpPr/>
          <p:nvPr/>
        </p:nvSpPr>
        <p:spPr>
          <a:xfrm>
            <a:off x="5897880" y="2962656"/>
            <a:ext cx="1234440" cy="288036"/>
          </a:xfrm>
          <a:prstGeom prst="rect">
            <a:avLst/>
          </a:prstGeom>
          <a:solidFill>
            <a:srgbClr val="F0F4F7"/>
          </a:solidFill>
          <a:ln w="5715">
            <a:solidFill>
              <a:srgbClr val="F7F8FA"/>
            </a:solidFill>
            <a:prstDash val="solid"/>
          </a:ln>
        </p:spPr>
      </p:sp>
      <p:sp>
        <p:nvSpPr>
          <p:cNvPr id="72" name="Text 70"/>
          <p:cNvSpPr/>
          <p:nvPr/>
        </p:nvSpPr>
        <p:spPr>
          <a:xfrm>
            <a:off x="5961888" y="3049524"/>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26.685</a:t>
            </a:r>
            <a:endParaRPr lang="en-US" sz="1080" dirty="0"/>
          </a:p>
        </p:txBody>
      </p:sp>
      <p:sp>
        <p:nvSpPr>
          <p:cNvPr id="73" name="Shape 71"/>
          <p:cNvSpPr/>
          <p:nvPr/>
        </p:nvSpPr>
        <p:spPr>
          <a:xfrm>
            <a:off x="7132320" y="2962656"/>
            <a:ext cx="1417320" cy="288036"/>
          </a:xfrm>
          <a:prstGeom prst="rect">
            <a:avLst/>
          </a:prstGeom>
          <a:solidFill>
            <a:srgbClr val="F0F4F7"/>
          </a:solidFill>
          <a:ln w="5715">
            <a:solidFill>
              <a:srgbClr val="F7F8FA"/>
            </a:solidFill>
            <a:prstDash val="solid"/>
          </a:ln>
        </p:spPr>
      </p:sp>
      <p:sp>
        <p:nvSpPr>
          <p:cNvPr id="74" name="Text 72"/>
          <p:cNvSpPr/>
          <p:nvPr/>
        </p:nvSpPr>
        <p:spPr>
          <a:xfrm>
            <a:off x="7196328" y="3049524"/>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6.26%</a:t>
            </a:r>
            <a:endParaRPr lang="en-US" sz="1080" dirty="0"/>
          </a:p>
        </p:txBody>
      </p:sp>
      <p:sp>
        <p:nvSpPr>
          <p:cNvPr id="75" name="Shape 73"/>
          <p:cNvSpPr/>
          <p:nvPr/>
        </p:nvSpPr>
        <p:spPr>
          <a:xfrm>
            <a:off x="8549640" y="2962656"/>
            <a:ext cx="1325880" cy="288036"/>
          </a:xfrm>
          <a:prstGeom prst="rect">
            <a:avLst/>
          </a:prstGeom>
          <a:solidFill>
            <a:srgbClr val="F0F4F7"/>
          </a:solidFill>
          <a:ln w="5715">
            <a:solidFill>
              <a:srgbClr val="F7F8FA"/>
            </a:solidFill>
            <a:prstDash val="solid"/>
          </a:ln>
        </p:spPr>
      </p:sp>
      <p:sp>
        <p:nvSpPr>
          <p:cNvPr id="76" name="Text 74"/>
          <p:cNvSpPr/>
          <p:nvPr/>
        </p:nvSpPr>
        <p:spPr>
          <a:xfrm>
            <a:off x="8613648" y="3049524"/>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7.09%</a:t>
            </a:r>
            <a:endParaRPr lang="en-US" sz="1080" dirty="0"/>
          </a:p>
        </p:txBody>
      </p:sp>
      <p:sp>
        <p:nvSpPr>
          <p:cNvPr id="77" name="Shape 75"/>
          <p:cNvSpPr/>
          <p:nvPr/>
        </p:nvSpPr>
        <p:spPr>
          <a:xfrm>
            <a:off x="502920" y="3250692"/>
            <a:ext cx="1143000" cy="288036"/>
          </a:xfrm>
          <a:prstGeom prst="rect">
            <a:avLst/>
          </a:prstGeom>
          <a:solidFill>
            <a:srgbClr val="FFFFFF"/>
          </a:solidFill>
          <a:ln w="5715">
            <a:solidFill>
              <a:srgbClr val="F7F8FA"/>
            </a:solidFill>
            <a:prstDash val="solid"/>
          </a:ln>
        </p:spPr>
      </p:sp>
      <p:sp>
        <p:nvSpPr>
          <p:cNvPr id="78" name="Text 76"/>
          <p:cNvSpPr/>
          <p:nvPr/>
        </p:nvSpPr>
        <p:spPr>
          <a:xfrm>
            <a:off x="566928" y="3337560"/>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optimize</a:t>
            </a:r>
            <a:endParaRPr lang="en-US" sz="1080" dirty="0"/>
          </a:p>
        </p:txBody>
      </p:sp>
      <p:sp>
        <p:nvSpPr>
          <p:cNvPr id="79" name="Shape 77"/>
          <p:cNvSpPr/>
          <p:nvPr/>
        </p:nvSpPr>
        <p:spPr>
          <a:xfrm>
            <a:off x="1645920" y="3250692"/>
            <a:ext cx="4251960" cy="288036"/>
          </a:xfrm>
          <a:prstGeom prst="rect">
            <a:avLst/>
          </a:prstGeom>
          <a:solidFill>
            <a:srgbClr val="FFFFFF"/>
          </a:solidFill>
          <a:ln w="5715">
            <a:solidFill>
              <a:srgbClr val="F7F8FA"/>
            </a:solidFill>
            <a:prstDash val="solid"/>
          </a:ln>
        </p:spPr>
      </p:sp>
      <p:sp>
        <p:nvSpPr>
          <p:cNvPr id="80" name="Text 78"/>
          <p:cNvSpPr/>
          <p:nvPr/>
        </p:nvSpPr>
        <p:spPr>
          <a:xfrm>
            <a:off x="1709928" y="3337560"/>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Values merge / state update</a:t>
            </a:r>
            <a:endParaRPr lang="en-US" sz="1080" dirty="0"/>
          </a:p>
        </p:txBody>
      </p:sp>
      <p:sp>
        <p:nvSpPr>
          <p:cNvPr id="81" name="Shape 79"/>
          <p:cNvSpPr/>
          <p:nvPr/>
        </p:nvSpPr>
        <p:spPr>
          <a:xfrm>
            <a:off x="5897880" y="3250692"/>
            <a:ext cx="1234440" cy="288036"/>
          </a:xfrm>
          <a:prstGeom prst="rect">
            <a:avLst/>
          </a:prstGeom>
          <a:solidFill>
            <a:srgbClr val="FFFFFF"/>
          </a:solidFill>
          <a:ln w="5715">
            <a:solidFill>
              <a:srgbClr val="F7F8FA"/>
            </a:solidFill>
            <a:prstDash val="solid"/>
          </a:ln>
        </p:spPr>
      </p:sp>
      <p:sp>
        <p:nvSpPr>
          <p:cNvPr id="82" name="Text 80"/>
          <p:cNvSpPr/>
          <p:nvPr/>
        </p:nvSpPr>
        <p:spPr>
          <a:xfrm>
            <a:off x="5961888" y="3337560"/>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67.464</a:t>
            </a:r>
            <a:endParaRPr lang="en-US" sz="1080" dirty="0"/>
          </a:p>
        </p:txBody>
      </p:sp>
      <p:sp>
        <p:nvSpPr>
          <p:cNvPr id="83" name="Shape 81"/>
          <p:cNvSpPr/>
          <p:nvPr/>
        </p:nvSpPr>
        <p:spPr>
          <a:xfrm>
            <a:off x="7132320" y="3250692"/>
            <a:ext cx="1417320" cy="288036"/>
          </a:xfrm>
          <a:prstGeom prst="rect">
            <a:avLst/>
          </a:prstGeom>
          <a:solidFill>
            <a:srgbClr val="FFFFFF"/>
          </a:solidFill>
          <a:ln w="5715">
            <a:solidFill>
              <a:srgbClr val="F7F8FA"/>
            </a:solidFill>
            <a:prstDash val="solid"/>
          </a:ln>
        </p:spPr>
      </p:sp>
      <p:sp>
        <p:nvSpPr>
          <p:cNvPr id="84" name="Text 82"/>
          <p:cNvSpPr/>
          <p:nvPr/>
        </p:nvSpPr>
        <p:spPr>
          <a:xfrm>
            <a:off x="7196328" y="3337560"/>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15.83%</a:t>
            </a:r>
            <a:endParaRPr lang="en-US" sz="1080" dirty="0"/>
          </a:p>
        </p:txBody>
      </p:sp>
      <p:sp>
        <p:nvSpPr>
          <p:cNvPr id="85" name="Shape 83"/>
          <p:cNvSpPr/>
          <p:nvPr/>
        </p:nvSpPr>
        <p:spPr>
          <a:xfrm>
            <a:off x="8549640" y="3250692"/>
            <a:ext cx="1325880" cy="288036"/>
          </a:xfrm>
          <a:prstGeom prst="rect">
            <a:avLst/>
          </a:prstGeom>
          <a:solidFill>
            <a:srgbClr val="FFFFFF"/>
          </a:solidFill>
          <a:ln w="5715">
            <a:solidFill>
              <a:srgbClr val="F7F8FA"/>
            </a:solidFill>
            <a:prstDash val="solid"/>
          </a:ln>
        </p:spPr>
      </p:sp>
      <p:sp>
        <p:nvSpPr>
          <p:cNvPr id="86" name="Text 84"/>
          <p:cNvSpPr/>
          <p:nvPr/>
        </p:nvSpPr>
        <p:spPr>
          <a:xfrm>
            <a:off x="8613648" y="3337560"/>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17.93%</a:t>
            </a:r>
            <a:endParaRPr lang="en-US" sz="1080" dirty="0"/>
          </a:p>
        </p:txBody>
      </p:sp>
      <p:sp>
        <p:nvSpPr>
          <p:cNvPr id="87" name="Shape 85"/>
          <p:cNvSpPr/>
          <p:nvPr/>
        </p:nvSpPr>
        <p:spPr>
          <a:xfrm>
            <a:off x="502920" y="3538728"/>
            <a:ext cx="1143000" cy="288036"/>
          </a:xfrm>
          <a:prstGeom prst="rect">
            <a:avLst/>
          </a:prstGeom>
          <a:solidFill>
            <a:srgbClr val="F0F4F7"/>
          </a:solidFill>
          <a:ln w="5715">
            <a:solidFill>
              <a:srgbClr val="F7F8FA"/>
            </a:solidFill>
            <a:prstDash val="solid"/>
          </a:ln>
        </p:spPr>
      </p:sp>
      <p:sp>
        <p:nvSpPr>
          <p:cNvPr id="88" name="Text 86"/>
          <p:cNvSpPr/>
          <p:nvPr/>
        </p:nvSpPr>
        <p:spPr>
          <a:xfrm>
            <a:off x="566928" y="3625596"/>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optimize</a:t>
            </a:r>
            <a:endParaRPr lang="en-US" sz="1080" dirty="0"/>
          </a:p>
        </p:txBody>
      </p:sp>
      <p:sp>
        <p:nvSpPr>
          <p:cNvPr id="89" name="Shape 87"/>
          <p:cNvSpPr/>
          <p:nvPr/>
        </p:nvSpPr>
        <p:spPr>
          <a:xfrm>
            <a:off x="1645920" y="3538728"/>
            <a:ext cx="4251960" cy="288036"/>
          </a:xfrm>
          <a:prstGeom prst="rect">
            <a:avLst/>
          </a:prstGeom>
          <a:solidFill>
            <a:srgbClr val="F0F4F7"/>
          </a:solidFill>
          <a:ln w="5715">
            <a:solidFill>
              <a:srgbClr val="F7F8FA"/>
            </a:solidFill>
            <a:prstDash val="solid"/>
          </a:ln>
        </p:spPr>
      </p:sp>
      <p:sp>
        <p:nvSpPr>
          <p:cNvPr id="90" name="Text 88"/>
          <p:cNvSpPr/>
          <p:nvPr/>
        </p:nvSpPr>
        <p:spPr>
          <a:xfrm>
            <a:off x="1709928" y="3625596"/>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Converted-data destruction</a:t>
            </a:r>
            <a:endParaRPr lang="en-US" sz="1080" dirty="0"/>
          </a:p>
        </p:txBody>
      </p:sp>
      <p:sp>
        <p:nvSpPr>
          <p:cNvPr id="91" name="Shape 89"/>
          <p:cNvSpPr/>
          <p:nvPr/>
        </p:nvSpPr>
        <p:spPr>
          <a:xfrm>
            <a:off x="5897880" y="3538728"/>
            <a:ext cx="1234440" cy="288036"/>
          </a:xfrm>
          <a:prstGeom prst="rect">
            <a:avLst/>
          </a:prstGeom>
          <a:solidFill>
            <a:srgbClr val="F0F4F7"/>
          </a:solidFill>
          <a:ln w="5715">
            <a:solidFill>
              <a:srgbClr val="F7F8FA"/>
            </a:solidFill>
            <a:prstDash val="solid"/>
          </a:ln>
        </p:spPr>
      </p:sp>
      <p:sp>
        <p:nvSpPr>
          <p:cNvPr id="92" name="Text 90"/>
          <p:cNvSpPr/>
          <p:nvPr/>
        </p:nvSpPr>
        <p:spPr>
          <a:xfrm>
            <a:off x="5961888" y="3625596"/>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30.247</a:t>
            </a:r>
            <a:endParaRPr lang="en-US" sz="1080" dirty="0"/>
          </a:p>
        </p:txBody>
      </p:sp>
      <p:sp>
        <p:nvSpPr>
          <p:cNvPr id="93" name="Shape 91"/>
          <p:cNvSpPr/>
          <p:nvPr/>
        </p:nvSpPr>
        <p:spPr>
          <a:xfrm>
            <a:off x="7132320" y="3538728"/>
            <a:ext cx="1417320" cy="288036"/>
          </a:xfrm>
          <a:prstGeom prst="rect">
            <a:avLst/>
          </a:prstGeom>
          <a:solidFill>
            <a:srgbClr val="F0F4F7"/>
          </a:solidFill>
          <a:ln w="5715">
            <a:solidFill>
              <a:srgbClr val="F7F8FA"/>
            </a:solidFill>
            <a:prstDash val="solid"/>
          </a:ln>
        </p:spPr>
      </p:sp>
      <p:sp>
        <p:nvSpPr>
          <p:cNvPr id="94" name="Text 92"/>
          <p:cNvSpPr/>
          <p:nvPr/>
        </p:nvSpPr>
        <p:spPr>
          <a:xfrm>
            <a:off x="7196328" y="3625596"/>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7.10%</a:t>
            </a:r>
            <a:endParaRPr lang="en-US" sz="1080" dirty="0"/>
          </a:p>
        </p:txBody>
      </p:sp>
      <p:sp>
        <p:nvSpPr>
          <p:cNvPr id="95" name="Shape 93"/>
          <p:cNvSpPr/>
          <p:nvPr/>
        </p:nvSpPr>
        <p:spPr>
          <a:xfrm>
            <a:off x="8549640" y="3538728"/>
            <a:ext cx="1325880" cy="288036"/>
          </a:xfrm>
          <a:prstGeom prst="rect">
            <a:avLst/>
          </a:prstGeom>
          <a:solidFill>
            <a:srgbClr val="F0F4F7"/>
          </a:solidFill>
          <a:ln w="5715">
            <a:solidFill>
              <a:srgbClr val="F7F8FA"/>
            </a:solidFill>
            <a:prstDash val="solid"/>
          </a:ln>
        </p:spPr>
      </p:sp>
      <p:sp>
        <p:nvSpPr>
          <p:cNvPr id="96" name="Text 94"/>
          <p:cNvSpPr/>
          <p:nvPr/>
        </p:nvSpPr>
        <p:spPr>
          <a:xfrm>
            <a:off x="8613648" y="3625596"/>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8.04%</a:t>
            </a:r>
            <a:endParaRPr lang="en-US" sz="1080" dirty="0"/>
          </a:p>
        </p:txBody>
      </p:sp>
      <p:sp>
        <p:nvSpPr>
          <p:cNvPr id="97" name="Shape 95"/>
          <p:cNvSpPr/>
          <p:nvPr/>
        </p:nvSpPr>
        <p:spPr>
          <a:xfrm>
            <a:off x="502920" y="3826764"/>
            <a:ext cx="1143000" cy="288036"/>
          </a:xfrm>
          <a:prstGeom prst="rect">
            <a:avLst/>
          </a:prstGeom>
          <a:solidFill>
            <a:srgbClr val="FFFFFF"/>
          </a:solidFill>
          <a:ln w="5715">
            <a:solidFill>
              <a:srgbClr val="F7F8FA"/>
            </a:solidFill>
            <a:prstDash val="solid"/>
          </a:ln>
        </p:spPr>
      </p:sp>
      <p:sp>
        <p:nvSpPr>
          <p:cNvPr id="98" name="Text 96"/>
          <p:cNvSpPr/>
          <p:nvPr/>
        </p:nvSpPr>
        <p:spPr>
          <a:xfrm>
            <a:off x="566928" y="3913632"/>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backend</a:t>
            </a:r>
            <a:endParaRPr lang="en-US" sz="1080" dirty="0"/>
          </a:p>
        </p:txBody>
      </p:sp>
      <p:sp>
        <p:nvSpPr>
          <p:cNvPr id="99" name="Shape 97"/>
          <p:cNvSpPr/>
          <p:nvPr/>
        </p:nvSpPr>
        <p:spPr>
          <a:xfrm>
            <a:off x="1645920" y="3826764"/>
            <a:ext cx="4251960" cy="288036"/>
          </a:xfrm>
          <a:prstGeom prst="rect">
            <a:avLst/>
          </a:prstGeom>
          <a:solidFill>
            <a:srgbClr val="FFFFFF"/>
          </a:solidFill>
          <a:ln w="5715">
            <a:solidFill>
              <a:srgbClr val="F7F8FA"/>
            </a:solidFill>
            <a:prstDash val="solid"/>
          </a:ln>
        </p:spPr>
      </p:sp>
      <p:sp>
        <p:nvSpPr>
          <p:cNvPr id="100" name="Text 98"/>
          <p:cNvSpPr/>
          <p:nvPr/>
        </p:nvSpPr>
        <p:spPr>
          <a:xfrm>
            <a:off x="1709928" y="3913632"/>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Setup</a:t>
            </a:r>
            <a:endParaRPr lang="en-US" sz="1080" dirty="0"/>
          </a:p>
        </p:txBody>
      </p:sp>
      <p:sp>
        <p:nvSpPr>
          <p:cNvPr id="101" name="Shape 99"/>
          <p:cNvSpPr/>
          <p:nvPr/>
        </p:nvSpPr>
        <p:spPr>
          <a:xfrm>
            <a:off x="5897880" y="3826764"/>
            <a:ext cx="1234440" cy="288036"/>
          </a:xfrm>
          <a:prstGeom prst="rect">
            <a:avLst/>
          </a:prstGeom>
          <a:solidFill>
            <a:srgbClr val="FFFFFF"/>
          </a:solidFill>
          <a:ln w="5715">
            <a:solidFill>
              <a:srgbClr val="F7F8FA"/>
            </a:solidFill>
            <a:prstDash val="solid"/>
          </a:ln>
        </p:spPr>
      </p:sp>
      <p:sp>
        <p:nvSpPr>
          <p:cNvPr id="102" name="Text 100"/>
          <p:cNvSpPr/>
          <p:nvPr/>
        </p:nvSpPr>
        <p:spPr>
          <a:xfrm>
            <a:off x="5961888" y="3913632"/>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67.544</a:t>
            </a:r>
            <a:endParaRPr lang="en-US" sz="1080" dirty="0"/>
          </a:p>
        </p:txBody>
      </p:sp>
      <p:sp>
        <p:nvSpPr>
          <p:cNvPr id="103" name="Shape 101"/>
          <p:cNvSpPr/>
          <p:nvPr/>
        </p:nvSpPr>
        <p:spPr>
          <a:xfrm>
            <a:off x="7132320" y="3826764"/>
            <a:ext cx="1417320" cy="288036"/>
          </a:xfrm>
          <a:prstGeom prst="rect">
            <a:avLst/>
          </a:prstGeom>
          <a:solidFill>
            <a:srgbClr val="FFFFFF"/>
          </a:solidFill>
          <a:ln w="5715">
            <a:solidFill>
              <a:srgbClr val="F7F8FA"/>
            </a:solidFill>
            <a:prstDash val="solid"/>
          </a:ln>
        </p:spPr>
      </p:sp>
      <p:sp>
        <p:nvSpPr>
          <p:cNvPr id="104" name="Text 102"/>
          <p:cNvSpPr/>
          <p:nvPr/>
        </p:nvSpPr>
        <p:spPr>
          <a:xfrm>
            <a:off x="7196328" y="3913632"/>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15.85%</a:t>
            </a:r>
            <a:endParaRPr lang="en-US" sz="1080" dirty="0"/>
          </a:p>
        </p:txBody>
      </p:sp>
      <p:sp>
        <p:nvSpPr>
          <p:cNvPr id="105" name="Shape 103"/>
          <p:cNvSpPr/>
          <p:nvPr/>
        </p:nvSpPr>
        <p:spPr>
          <a:xfrm>
            <a:off x="8549640" y="3826764"/>
            <a:ext cx="1325880" cy="288036"/>
          </a:xfrm>
          <a:prstGeom prst="rect">
            <a:avLst/>
          </a:prstGeom>
          <a:solidFill>
            <a:srgbClr val="FFFFFF"/>
          </a:solidFill>
          <a:ln w="5715">
            <a:solidFill>
              <a:srgbClr val="F7F8FA"/>
            </a:solidFill>
            <a:prstDash val="solid"/>
          </a:ln>
        </p:spPr>
      </p:sp>
      <p:sp>
        <p:nvSpPr>
          <p:cNvPr id="106" name="Text 104"/>
          <p:cNvSpPr/>
          <p:nvPr/>
        </p:nvSpPr>
        <p:spPr>
          <a:xfrm>
            <a:off x="8613648" y="3913632"/>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49.11%</a:t>
            </a:r>
            <a:endParaRPr lang="en-US" sz="1080" dirty="0"/>
          </a:p>
        </p:txBody>
      </p:sp>
      <p:sp>
        <p:nvSpPr>
          <p:cNvPr id="107" name="Shape 105"/>
          <p:cNvSpPr/>
          <p:nvPr/>
        </p:nvSpPr>
        <p:spPr>
          <a:xfrm>
            <a:off x="502920" y="4114800"/>
            <a:ext cx="1143000" cy="288036"/>
          </a:xfrm>
          <a:prstGeom prst="rect">
            <a:avLst/>
          </a:prstGeom>
          <a:solidFill>
            <a:srgbClr val="F0F4F7"/>
          </a:solidFill>
          <a:ln w="5715">
            <a:solidFill>
              <a:srgbClr val="F7F8FA"/>
            </a:solidFill>
            <a:prstDash val="solid"/>
          </a:ln>
        </p:spPr>
      </p:sp>
      <p:sp>
        <p:nvSpPr>
          <p:cNvPr id="108" name="Text 106"/>
          <p:cNvSpPr/>
          <p:nvPr/>
        </p:nvSpPr>
        <p:spPr>
          <a:xfrm>
            <a:off x="566928" y="4201668"/>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backend</a:t>
            </a:r>
            <a:endParaRPr lang="en-US" sz="1080" dirty="0"/>
          </a:p>
        </p:txBody>
      </p:sp>
      <p:sp>
        <p:nvSpPr>
          <p:cNvPr id="109" name="Shape 107"/>
          <p:cNvSpPr/>
          <p:nvPr/>
        </p:nvSpPr>
        <p:spPr>
          <a:xfrm>
            <a:off x="1645920" y="4114800"/>
            <a:ext cx="4251960" cy="288036"/>
          </a:xfrm>
          <a:prstGeom prst="rect">
            <a:avLst/>
          </a:prstGeom>
          <a:solidFill>
            <a:srgbClr val="F0F4F7"/>
          </a:solidFill>
          <a:ln w="5715">
            <a:solidFill>
              <a:srgbClr val="F7F8FA"/>
            </a:solidFill>
            <a:prstDash val="solid"/>
          </a:ln>
        </p:spPr>
      </p:sp>
      <p:sp>
        <p:nvSpPr>
          <p:cNvPr id="110" name="Text 108"/>
          <p:cNvSpPr/>
          <p:nvPr/>
        </p:nvSpPr>
        <p:spPr>
          <a:xfrm>
            <a:off x="1709928" y="4201668"/>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Solve loop</a:t>
            </a:r>
            <a:endParaRPr lang="en-US" sz="1080" dirty="0"/>
          </a:p>
        </p:txBody>
      </p:sp>
      <p:sp>
        <p:nvSpPr>
          <p:cNvPr id="111" name="Shape 109"/>
          <p:cNvSpPr/>
          <p:nvPr/>
        </p:nvSpPr>
        <p:spPr>
          <a:xfrm>
            <a:off x="5897880" y="4114800"/>
            <a:ext cx="1234440" cy="288036"/>
          </a:xfrm>
          <a:prstGeom prst="rect">
            <a:avLst/>
          </a:prstGeom>
          <a:solidFill>
            <a:srgbClr val="F0F4F7"/>
          </a:solidFill>
          <a:ln w="5715">
            <a:solidFill>
              <a:srgbClr val="F7F8FA"/>
            </a:solidFill>
            <a:prstDash val="solid"/>
          </a:ln>
        </p:spPr>
      </p:sp>
      <p:sp>
        <p:nvSpPr>
          <p:cNvPr id="112" name="Text 110"/>
          <p:cNvSpPr/>
          <p:nvPr/>
        </p:nvSpPr>
        <p:spPr>
          <a:xfrm>
            <a:off x="5961888" y="4201668"/>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29.968</a:t>
            </a:r>
            <a:endParaRPr lang="en-US" sz="1080" dirty="0"/>
          </a:p>
        </p:txBody>
      </p:sp>
      <p:sp>
        <p:nvSpPr>
          <p:cNvPr id="113" name="Shape 111"/>
          <p:cNvSpPr/>
          <p:nvPr/>
        </p:nvSpPr>
        <p:spPr>
          <a:xfrm>
            <a:off x="7132320" y="4114800"/>
            <a:ext cx="1417320" cy="288036"/>
          </a:xfrm>
          <a:prstGeom prst="rect">
            <a:avLst/>
          </a:prstGeom>
          <a:solidFill>
            <a:srgbClr val="F0F4F7"/>
          </a:solidFill>
          <a:ln w="5715">
            <a:solidFill>
              <a:srgbClr val="F7F8FA"/>
            </a:solidFill>
            <a:prstDash val="solid"/>
          </a:ln>
        </p:spPr>
      </p:sp>
      <p:sp>
        <p:nvSpPr>
          <p:cNvPr id="114" name="Text 112"/>
          <p:cNvSpPr/>
          <p:nvPr/>
        </p:nvSpPr>
        <p:spPr>
          <a:xfrm>
            <a:off x="7196328" y="4201668"/>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7.03%</a:t>
            </a:r>
            <a:endParaRPr lang="en-US" sz="1080" dirty="0"/>
          </a:p>
        </p:txBody>
      </p:sp>
      <p:sp>
        <p:nvSpPr>
          <p:cNvPr id="115" name="Shape 113"/>
          <p:cNvSpPr/>
          <p:nvPr/>
        </p:nvSpPr>
        <p:spPr>
          <a:xfrm>
            <a:off x="8549640" y="4114800"/>
            <a:ext cx="1325880" cy="288036"/>
          </a:xfrm>
          <a:prstGeom prst="rect">
            <a:avLst/>
          </a:prstGeom>
          <a:solidFill>
            <a:srgbClr val="F0F4F7"/>
          </a:solidFill>
          <a:ln w="5715">
            <a:solidFill>
              <a:srgbClr val="F7F8FA"/>
            </a:solidFill>
            <a:prstDash val="solid"/>
          </a:ln>
        </p:spPr>
      </p:sp>
      <p:sp>
        <p:nvSpPr>
          <p:cNvPr id="116" name="Text 114"/>
          <p:cNvSpPr/>
          <p:nvPr/>
        </p:nvSpPr>
        <p:spPr>
          <a:xfrm>
            <a:off x="8613648" y="4201668"/>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21.79%</a:t>
            </a:r>
            <a:endParaRPr lang="en-US" sz="1080" dirty="0"/>
          </a:p>
        </p:txBody>
      </p:sp>
      <p:sp>
        <p:nvSpPr>
          <p:cNvPr id="117" name="Shape 115"/>
          <p:cNvSpPr/>
          <p:nvPr/>
        </p:nvSpPr>
        <p:spPr>
          <a:xfrm>
            <a:off x="502920" y="4402836"/>
            <a:ext cx="1143000" cy="288036"/>
          </a:xfrm>
          <a:prstGeom prst="rect">
            <a:avLst/>
          </a:prstGeom>
          <a:solidFill>
            <a:srgbClr val="FFFFFF"/>
          </a:solidFill>
          <a:ln w="5715">
            <a:solidFill>
              <a:srgbClr val="F7F8FA"/>
            </a:solidFill>
            <a:prstDash val="solid"/>
          </a:ln>
        </p:spPr>
      </p:sp>
      <p:sp>
        <p:nvSpPr>
          <p:cNvPr id="118" name="Text 116"/>
          <p:cNvSpPr/>
          <p:nvPr/>
        </p:nvSpPr>
        <p:spPr>
          <a:xfrm>
            <a:off x="566928" y="4489704"/>
            <a:ext cx="1014984" cy="150876"/>
          </a:xfrm>
          <a:prstGeom prst="rect">
            <a:avLst/>
          </a:prstGeom>
          <a:noFill/>
          <a:ln/>
        </p:spPr>
        <p:txBody>
          <a:bodyPr wrap="square" lIns="0" tIns="0" rIns="0" bIns="0" rtlCol="0" anchor="ctr">
            <a:normAutofit/>
          </a:bodyPr>
          <a:lstStyle/>
          <a:p>
            <a:pPr algn="l" indent="0" marL="0">
              <a:buNone/>
            </a:pPr>
            <a:r>
              <a:rPr lang="en-US" sz="1080" b="1" dirty="0">
                <a:solidFill>
                  <a:srgbClr val="18212F"/>
                </a:solidFill>
              </a:rPr>
              <a:t>backend</a:t>
            </a:r>
            <a:endParaRPr lang="en-US" sz="1080" dirty="0"/>
          </a:p>
        </p:txBody>
      </p:sp>
      <p:sp>
        <p:nvSpPr>
          <p:cNvPr id="119" name="Shape 117"/>
          <p:cNvSpPr/>
          <p:nvPr/>
        </p:nvSpPr>
        <p:spPr>
          <a:xfrm>
            <a:off x="1645920" y="4402836"/>
            <a:ext cx="4251960" cy="288036"/>
          </a:xfrm>
          <a:prstGeom prst="rect">
            <a:avLst/>
          </a:prstGeom>
          <a:solidFill>
            <a:srgbClr val="FFFFFF"/>
          </a:solidFill>
          <a:ln w="5715">
            <a:solidFill>
              <a:srgbClr val="F7F8FA"/>
            </a:solidFill>
            <a:prstDash val="solid"/>
          </a:ln>
        </p:spPr>
      </p:sp>
      <p:sp>
        <p:nvSpPr>
          <p:cNvPr id="120" name="Text 118"/>
          <p:cNvSpPr/>
          <p:nvPr/>
        </p:nvSpPr>
        <p:spPr>
          <a:xfrm>
            <a:off x="1709928" y="4489704"/>
            <a:ext cx="412394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Download Values</a:t>
            </a:r>
            <a:endParaRPr lang="en-US" sz="1080" dirty="0"/>
          </a:p>
        </p:txBody>
      </p:sp>
      <p:sp>
        <p:nvSpPr>
          <p:cNvPr id="121" name="Shape 119"/>
          <p:cNvSpPr/>
          <p:nvPr/>
        </p:nvSpPr>
        <p:spPr>
          <a:xfrm>
            <a:off x="5897880" y="4402836"/>
            <a:ext cx="1234440" cy="288036"/>
          </a:xfrm>
          <a:prstGeom prst="rect">
            <a:avLst/>
          </a:prstGeom>
          <a:solidFill>
            <a:srgbClr val="FFFFFF"/>
          </a:solidFill>
          <a:ln w="5715">
            <a:solidFill>
              <a:srgbClr val="F7F8FA"/>
            </a:solidFill>
            <a:prstDash val="solid"/>
          </a:ln>
        </p:spPr>
      </p:sp>
      <p:sp>
        <p:nvSpPr>
          <p:cNvPr id="122" name="Text 120"/>
          <p:cNvSpPr/>
          <p:nvPr/>
        </p:nvSpPr>
        <p:spPr>
          <a:xfrm>
            <a:off x="5961888" y="4489704"/>
            <a:ext cx="110642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40.030</a:t>
            </a:r>
            <a:endParaRPr lang="en-US" sz="1080" dirty="0"/>
          </a:p>
        </p:txBody>
      </p:sp>
      <p:sp>
        <p:nvSpPr>
          <p:cNvPr id="123" name="Shape 121"/>
          <p:cNvSpPr/>
          <p:nvPr/>
        </p:nvSpPr>
        <p:spPr>
          <a:xfrm>
            <a:off x="7132320" y="4402836"/>
            <a:ext cx="1417320" cy="288036"/>
          </a:xfrm>
          <a:prstGeom prst="rect">
            <a:avLst/>
          </a:prstGeom>
          <a:solidFill>
            <a:srgbClr val="FFFFFF"/>
          </a:solidFill>
          <a:ln w="5715">
            <a:solidFill>
              <a:srgbClr val="F7F8FA"/>
            </a:solidFill>
            <a:prstDash val="solid"/>
          </a:ln>
        </p:spPr>
      </p:sp>
      <p:sp>
        <p:nvSpPr>
          <p:cNvPr id="124" name="Text 122"/>
          <p:cNvSpPr/>
          <p:nvPr/>
        </p:nvSpPr>
        <p:spPr>
          <a:xfrm>
            <a:off x="7196328" y="4489704"/>
            <a:ext cx="128930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9.39%</a:t>
            </a:r>
            <a:endParaRPr lang="en-US" sz="1080" dirty="0"/>
          </a:p>
        </p:txBody>
      </p:sp>
      <p:sp>
        <p:nvSpPr>
          <p:cNvPr id="125" name="Shape 123"/>
          <p:cNvSpPr/>
          <p:nvPr/>
        </p:nvSpPr>
        <p:spPr>
          <a:xfrm>
            <a:off x="8549640" y="4402836"/>
            <a:ext cx="1325880" cy="288036"/>
          </a:xfrm>
          <a:prstGeom prst="rect">
            <a:avLst/>
          </a:prstGeom>
          <a:solidFill>
            <a:srgbClr val="FFFFFF"/>
          </a:solidFill>
          <a:ln w="5715">
            <a:solidFill>
              <a:srgbClr val="F7F8FA"/>
            </a:solidFill>
            <a:prstDash val="solid"/>
          </a:ln>
        </p:spPr>
      </p:sp>
      <p:sp>
        <p:nvSpPr>
          <p:cNvPr id="126" name="Text 124"/>
          <p:cNvSpPr/>
          <p:nvPr/>
        </p:nvSpPr>
        <p:spPr>
          <a:xfrm>
            <a:off x="8613648" y="4489704"/>
            <a:ext cx="1197864" cy="150876"/>
          </a:xfrm>
          <a:prstGeom prst="rect">
            <a:avLst/>
          </a:prstGeom>
          <a:noFill/>
          <a:ln/>
        </p:spPr>
        <p:txBody>
          <a:bodyPr wrap="square" lIns="0" tIns="0" rIns="0" bIns="0" rtlCol="0" anchor="ctr">
            <a:normAutofit/>
          </a:bodyPr>
          <a:lstStyle/>
          <a:p>
            <a:pPr algn="r" indent="0" marL="0">
              <a:buNone/>
            </a:pPr>
            <a:r>
              <a:rPr lang="en-US" sz="1080" dirty="0">
                <a:solidFill>
                  <a:srgbClr val="18212F"/>
                </a:solidFill>
              </a:rPr>
              <a:t>29.10%</a:t>
            </a:r>
            <a:endParaRPr lang="en-US" sz="1080" dirty="0"/>
          </a:p>
        </p:txBody>
      </p:sp>
      <p:sp>
        <p:nvSpPr>
          <p:cNvPr id="127" name="Shape 125"/>
          <p:cNvSpPr/>
          <p:nvPr/>
        </p:nvSpPr>
        <p:spPr>
          <a:xfrm>
            <a:off x="502920" y="5010912"/>
            <a:ext cx="3520440" cy="288036"/>
          </a:xfrm>
          <a:prstGeom prst="rect">
            <a:avLst/>
          </a:prstGeom>
          <a:solidFill>
            <a:srgbClr val="0E7C86"/>
          </a:solidFill>
          <a:ln w="5715">
            <a:solidFill>
              <a:srgbClr val="F7F8FA"/>
            </a:solidFill>
            <a:prstDash val="solid"/>
          </a:ln>
        </p:spPr>
      </p:sp>
      <p:sp>
        <p:nvSpPr>
          <p:cNvPr id="128" name="Text 126"/>
          <p:cNvSpPr/>
          <p:nvPr/>
        </p:nvSpPr>
        <p:spPr>
          <a:xfrm>
            <a:off x="566928" y="5097780"/>
            <a:ext cx="3392424" cy="150876"/>
          </a:xfrm>
          <a:prstGeom prst="rect">
            <a:avLst/>
          </a:prstGeom>
          <a:noFill/>
          <a:ln/>
        </p:spPr>
        <p:txBody>
          <a:bodyPr wrap="square" lIns="0" tIns="0" rIns="0" bIns="0" rtlCol="0" anchor="ctr">
            <a:normAutofit/>
          </a:bodyPr>
          <a:lstStyle/>
          <a:p>
            <a:pPr algn="l" indent="0" marL="0">
              <a:buNone/>
            </a:pPr>
            <a:r>
              <a:rPr lang="en-US" sz="1060" b="1" dirty="0">
                <a:solidFill>
                  <a:srgbClr val="FFFFFF"/>
                </a:solidFill>
              </a:rPr>
              <a:t>Detail</a:t>
            </a:r>
            <a:endParaRPr lang="en-US" sz="1060" dirty="0"/>
          </a:p>
        </p:txBody>
      </p:sp>
      <p:sp>
        <p:nvSpPr>
          <p:cNvPr id="129" name="Shape 127"/>
          <p:cNvSpPr/>
          <p:nvPr/>
        </p:nvSpPr>
        <p:spPr>
          <a:xfrm>
            <a:off x="4023360" y="5010912"/>
            <a:ext cx="1417320" cy="288036"/>
          </a:xfrm>
          <a:prstGeom prst="rect">
            <a:avLst/>
          </a:prstGeom>
          <a:solidFill>
            <a:srgbClr val="0E7C86"/>
          </a:solidFill>
          <a:ln w="5715">
            <a:solidFill>
              <a:srgbClr val="F7F8FA"/>
            </a:solidFill>
            <a:prstDash val="solid"/>
          </a:ln>
        </p:spPr>
      </p:sp>
      <p:sp>
        <p:nvSpPr>
          <p:cNvPr id="130" name="Text 128"/>
          <p:cNvSpPr/>
          <p:nvPr/>
        </p:nvSpPr>
        <p:spPr>
          <a:xfrm>
            <a:off x="4087368" y="5097780"/>
            <a:ext cx="1289304" cy="150876"/>
          </a:xfrm>
          <a:prstGeom prst="rect">
            <a:avLst/>
          </a:prstGeom>
          <a:noFill/>
          <a:ln/>
        </p:spPr>
        <p:txBody>
          <a:bodyPr wrap="square" lIns="0" tIns="0" rIns="0" bIns="0" rtlCol="0" anchor="ctr">
            <a:normAutofit/>
          </a:bodyPr>
          <a:lstStyle/>
          <a:p>
            <a:pPr algn="r" indent="0" marL="0">
              <a:buNone/>
            </a:pPr>
            <a:r>
              <a:rPr lang="en-US" sz="1060" b="1" dirty="0">
                <a:solidFill>
                  <a:srgbClr val="FFFFFF"/>
                </a:solidFill>
              </a:rPr>
              <a:t>Time</a:t>
            </a:r>
            <a:endParaRPr lang="en-US" sz="1060" dirty="0"/>
          </a:p>
        </p:txBody>
      </p:sp>
      <p:sp>
        <p:nvSpPr>
          <p:cNvPr id="131" name="Shape 129"/>
          <p:cNvSpPr/>
          <p:nvPr/>
        </p:nvSpPr>
        <p:spPr>
          <a:xfrm>
            <a:off x="5440680" y="5010912"/>
            <a:ext cx="3520440" cy="288036"/>
          </a:xfrm>
          <a:prstGeom prst="rect">
            <a:avLst/>
          </a:prstGeom>
          <a:solidFill>
            <a:srgbClr val="0E7C86"/>
          </a:solidFill>
          <a:ln w="5715">
            <a:solidFill>
              <a:srgbClr val="F7F8FA"/>
            </a:solidFill>
            <a:prstDash val="solid"/>
          </a:ln>
        </p:spPr>
      </p:sp>
      <p:sp>
        <p:nvSpPr>
          <p:cNvPr id="132" name="Text 130"/>
          <p:cNvSpPr/>
          <p:nvPr/>
        </p:nvSpPr>
        <p:spPr>
          <a:xfrm>
            <a:off x="5504688" y="5097780"/>
            <a:ext cx="3392424" cy="150876"/>
          </a:xfrm>
          <a:prstGeom prst="rect">
            <a:avLst/>
          </a:prstGeom>
          <a:noFill/>
          <a:ln/>
        </p:spPr>
        <p:txBody>
          <a:bodyPr wrap="square" lIns="0" tIns="0" rIns="0" bIns="0" rtlCol="0" anchor="ctr">
            <a:normAutofit/>
          </a:bodyPr>
          <a:lstStyle/>
          <a:p>
            <a:pPr algn="r" indent="0" marL="0">
              <a:buNone/>
            </a:pPr>
            <a:r>
              <a:rPr lang="en-US" sz="1060" b="1" dirty="0">
                <a:solidFill>
                  <a:srgbClr val="FFFFFF"/>
                </a:solidFill>
              </a:rPr>
              <a:t>Detail</a:t>
            </a:r>
            <a:endParaRPr lang="en-US" sz="1060" dirty="0"/>
          </a:p>
        </p:txBody>
      </p:sp>
      <p:sp>
        <p:nvSpPr>
          <p:cNvPr id="133" name="Shape 131"/>
          <p:cNvSpPr/>
          <p:nvPr/>
        </p:nvSpPr>
        <p:spPr>
          <a:xfrm>
            <a:off x="8961120" y="5010912"/>
            <a:ext cx="1417320" cy="288036"/>
          </a:xfrm>
          <a:prstGeom prst="rect">
            <a:avLst/>
          </a:prstGeom>
          <a:solidFill>
            <a:srgbClr val="0E7C86"/>
          </a:solidFill>
          <a:ln w="5715">
            <a:solidFill>
              <a:srgbClr val="F7F8FA"/>
            </a:solidFill>
            <a:prstDash val="solid"/>
          </a:ln>
        </p:spPr>
      </p:sp>
      <p:sp>
        <p:nvSpPr>
          <p:cNvPr id="134" name="Text 132"/>
          <p:cNvSpPr/>
          <p:nvPr/>
        </p:nvSpPr>
        <p:spPr>
          <a:xfrm>
            <a:off x="9025128" y="5097780"/>
            <a:ext cx="1289304" cy="150876"/>
          </a:xfrm>
          <a:prstGeom prst="rect">
            <a:avLst/>
          </a:prstGeom>
          <a:noFill/>
          <a:ln/>
        </p:spPr>
        <p:txBody>
          <a:bodyPr wrap="square" lIns="0" tIns="0" rIns="0" bIns="0" rtlCol="0" anchor="ctr">
            <a:normAutofit/>
          </a:bodyPr>
          <a:lstStyle/>
          <a:p>
            <a:pPr algn="r" indent="0" marL="0">
              <a:buNone/>
            </a:pPr>
            <a:r>
              <a:rPr lang="en-US" sz="1060" b="1" dirty="0">
                <a:solidFill>
                  <a:srgbClr val="FFFFFF"/>
                </a:solidFill>
              </a:rPr>
              <a:t>Time</a:t>
            </a:r>
            <a:endParaRPr lang="en-US" sz="1060" dirty="0"/>
          </a:p>
        </p:txBody>
      </p:sp>
      <p:sp>
        <p:nvSpPr>
          <p:cNvPr id="135" name="Shape 133"/>
          <p:cNvSpPr/>
          <p:nvPr/>
        </p:nvSpPr>
        <p:spPr>
          <a:xfrm>
            <a:off x="502920" y="5298948"/>
            <a:ext cx="3520440" cy="288036"/>
          </a:xfrm>
          <a:prstGeom prst="rect">
            <a:avLst/>
          </a:prstGeom>
          <a:solidFill>
            <a:srgbClr val="FFFFFF"/>
          </a:solidFill>
          <a:ln w="5715">
            <a:solidFill>
              <a:srgbClr val="F7F8FA"/>
            </a:solidFill>
            <a:prstDash val="solid"/>
          </a:ln>
        </p:spPr>
      </p:sp>
      <p:sp>
        <p:nvSpPr>
          <p:cNvPr id="136" name="Text 134"/>
          <p:cNvSpPr/>
          <p:nvPr/>
        </p:nvSpPr>
        <p:spPr>
          <a:xfrm>
            <a:off x="566928" y="5385816"/>
            <a:ext cx="3392424" cy="150876"/>
          </a:xfrm>
          <a:prstGeom prst="rect">
            <a:avLst/>
          </a:prstGeom>
          <a:noFill/>
          <a:ln/>
        </p:spPr>
        <p:txBody>
          <a:bodyPr wrap="square" lIns="0" tIns="0" rIns="0" bIns="0" rtlCol="0" anchor="ctr">
            <a:normAutofit/>
          </a:bodyPr>
          <a:lstStyle/>
          <a:p>
            <a:pPr algn="l" indent="0" marL="0">
              <a:buNone/>
            </a:pPr>
            <a:r>
              <a:rPr lang="en-US" sz="1060" b="1" dirty="0">
                <a:solidFill>
                  <a:srgbClr val="18212F"/>
                </a:solidFill>
              </a:rPr>
              <a:t>Setup: projection host build</a:t>
            </a:r>
            <a:endParaRPr lang="en-US" sz="1060" dirty="0"/>
          </a:p>
        </p:txBody>
      </p:sp>
      <p:sp>
        <p:nvSpPr>
          <p:cNvPr id="137" name="Shape 135"/>
          <p:cNvSpPr/>
          <p:nvPr/>
        </p:nvSpPr>
        <p:spPr>
          <a:xfrm>
            <a:off x="4023360" y="5298948"/>
            <a:ext cx="1417320" cy="288036"/>
          </a:xfrm>
          <a:prstGeom prst="rect">
            <a:avLst/>
          </a:prstGeom>
          <a:solidFill>
            <a:srgbClr val="FFFFFF"/>
          </a:solidFill>
          <a:ln w="5715">
            <a:solidFill>
              <a:srgbClr val="F7F8FA"/>
            </a:solidFill>
            <a:prstDash val="solid"/>
          </a:ln>
        </p:spPr>
      </p:sp>
      <p:sp>
        <p:nvSpPr>
          <p:cNvPr id="138" name="Text 136"/>
          <p:cNvSpPr/>
          <p:nvPr/>
        </p:nvSpPr>
        <p:spPr>
          <a:xfrm>
            <a:off x="4087368" y="5385816"/>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38.686 ms</a:t>
            </a:r>
            <a:endParaRPr lang="en-US" sz="1060" dirty="0"/>
          </a:p>
        </p:txBody>
      </p:sp>
      <p:sp>
        <p:nvSpPr>
          <p:cNvPr id="139" name="Shape 137"/>
          <p:cNvSpPr/>
          <p:nvPr/>
        </p:nvSpPr>
        <p:spPr>
          <a:xfrm>
            <a:off x="5440680" y="5298948"/>
            <a:ext cx="3520440" cy="288036"/>
          </a:xfrm>
          <a:prstGeom prst="rect">
            <a:avLst/>
          </a:prstGeom>
          <a:solidFill>
            <a:srgbClr val="FFFFFF"/>
          </a:solidFill>
          <a:ln w="5715">
            <a:solidFill>
              <a:srgbClr val="F7F8FA"/>
            </a:solidFill>
            <a:prstDash val="solid"/>
          </a:ln>
        </p:spPr>
      </p:sp>
      <p:sp>
        <p:nvSpPr>
          <p:cNvPr id="140" name="Text 138"/>
          <p:cNvSpPr/>
          <p:nvPr/>
        </p:nvSpPr>
        <p:spPr>
          <a:xfrm>
            <a:off x="5504688" y="5385816"/>
            <a:ext cx="339242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Solve: dense Schur</a:t>
            </a:r>
            <a:endParaRPr lang="en-US" sz="1060" dirty="0"/>
          </a:p>
        </p:txBody>
      </p:sp>
      <p:sp>
        <p:nvSpPr>
          <p:cNvPr id="141" name="Shape 139"/>
          <p:cNvSpPr/>
          <p:nvPr/>
        </p:nvSpPr>
        <p:spPr>
          <a:xfrm>
            <a:off x="8961120" y="5298948"/>
            <a:ext cx="1417320" cy="288036"/>
          </a:xfrm>
          <a:prstGeom prst="rect">
            <a:avLst/>
          </a:prstGeom>
          <a:solidFill>
            <a:srgbClr val="FFFFFF"/>
          </a:solidFill>
          <a:ln w="5715">
            <a:solidFill>
              <a:srgbClr val="F7F8FA"/>
            </a:solidFill>
            <a:prstDash val="solid"/>
          </a:ln>
        </p:spPr>
      </p:sp>
      <p:sp>
        <p:nvSpPr>
          <p:cNvPr id="142" name="Text 140"/>
          <p:cNvSpPr/>
          <p:nvPr/>
        </p:nvSpPr>
        <p:spPr>
          <a:xfrm>
            <a:off x="9025128" y="5385816"/>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23.009 ms</a:t>
            </a:r>
            <a:endParaRPr lang="en-US" sz="1060" dirty="0"/>
          </a:p>
        </p:txBody>
      </p:sp>
      <p:sp>
        <p:nvSpPr>
          <p:cNvPr id="143" name="Shape 141"/>
          <p:cNvSpPr/>
          <p:nvPr/>
        </p:nvSpPr>
        <p:spPr>
          <a:xfrm>
            <a:off x="502920" y="5586984"/>
            <a:ext cx="3520440" cy="288036"/>
          </a:xfrm>
          <a:prstGeom prst="rect">
            <a:avLst/>
          </a:prstGeom>
          <a:solidFill>
            <a:srgbClr val="F0F4F7"/>
          </a:solidFill>
          <a:ln w="5715">
            <a:solidFill>
              <a:srgbClr val="F7F8FA"/>
            </a:solidFill>
            <a:prstDash val="solid"/>
          </a:ln>
        </p:spPr>
      </p:sp>
      <p:sp>
        <p:nvSpPr>
          <p:cNvPr id="144" name="Text 142"/>
          <p:cNvSpPr/>
          <p:nvPr/>
        </p:nvSpPr>
        <p:spPr>
          <a:xfrm>
            <a:off x="566928" y="5673852"/>
            <a:ext cx="3392424" cy="150876"/>
          </a:xfrm>
          <a:prstGeom prst="rect">
            <a:avLst/>
          </a:prstGeom>
          <a:noFill/>
          <a:ln/>
        </p:spPr>
        <p:txBody>
          <a:bodyPr wrap="square" lIns="0" tIns="0" rIns="0" bIns="0" rtlCol="0" anchor="ctr">
            <a:normAutofit/>
          </a:bodyPr>
          <a:lstStyle/>
          <a:p>
            <a:pPr algn="l" indent="0" marL="0">
              <a:buNone/>
            </a:pPr>
            <a:r>
              <a:rPr lang="en-US" sz="1060" b="1" dirty="0">
                <a:solidFill>
                  <a:srgbClr val="18212F"/>
                </a:solidFill>
              </a:rPr>
              <a:t>Setup: pack values</a:t>
            </a:r>
            <a:endParaRPr lang="en-US" sz="1060" dirty="0"/>
          </a:p>
        </p:txBody>
      </p:sp>
      <p:sp>
        <p:nvSpPr>
          <p:cNvPr id="145" name="Shape 143"/>
          <p:cNvSpPr/>
          <p:nvPr/>
        </p:nvSpPr>
        <p:spPr>
          <a:xfrm>
            <a:off x="4023360" y="5586984"/>
            <a:ext cx="1417320" cy="288036"/>
          </a:xfrm>
          <a:prstGeom prst="rect">
            <a:avLst/>
          </a:prstGeom>
          <a:solidFill>
            <a:srgbClr val="F0F4F7"/>
          </a:solidFill>
          <a:ln w="5715">
            <a:solidFill>
              <a:srgbClr val="F7F8FA"/>
            </a:solidFill>
            <a:prstDash val="solid"/>
          </a:ln>
        </p:spPr>
      </p:sp>
      <p:sp>
        <p:nvSpPr>
          <p:cNvPr id="146" name="Text 144"/>
          <p:cNvSpPr/>
          <p:nvPr/>
        </p:nvSpPr>
        <p:spPr>
          <a:xfrm>
            <a:off x="4087368" y="5673852"/>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13.688 ms</a:t>
            </a:r>
            <a:endParaRPr lang="en-US" sz="1060" dirty="0"/>
          </a:p>
        </p:txBody>
      </p:sp>
      <p:sp>
        <p:nvSpPr>
          <p:cNvPr id="147" name="Shape 145"/>
          <p:cNvSpPr/>
          <p:nvPr/>
        </p:nvSpPr>
        <p:spPr>
          <a:xfrm>
            <a:off x="5440680" y="5586984"/>
            <a:ext cx="3520440" cy="288036"/>
          </a:xfrm>
          <a:prstGeom prst="rect">
            <a:avLst/>
          </a:prstGeom>
          <a:solidFill>
            <a:srgbClr val="F0F4F7"/>
          </a:solidFill>
          <a:ln w="5715">
            <a:solidFill>
              <a:srgbClr val="F7F8FA"/>
            </a:solidFill>
            <a:prstDash val="solid"/>
          </a:ln>
        </p:spPr>
      </p:sp>
      <p:sp>
        <p:nvSpPr>
          <p:cNvPr id="148" name="Text 146"/>
          <p:cNvSpPr/>
          <p:nvPr/>
        </p:nvSpPr>
        <p:spPr>
          <a:xfrm>
            <a:off x="5504688" y="5673852"/>
            <a:ext cx="339242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Solve: damping diagonal</a:t>
            </a:r>
            <a:endParaRPr lang="en-US" sz="1060" dirty="0"/>
          </a:p>
        </p:txBody>
      </p:sp>
      <p:sp>
        <p:nvSpPr>
          <p:cNvPr id="149" name="Shape 147"/>
          <p:cNvSpPr/>
          <p:nvPr/>
        </p:nvSpPr>
        <p:spPr>
          <a:xfrm>
            <a:off x="8961120" y="5586984"/>
            <a:ext cx="1417320" cy="288036"/>
          </a:xfrm>
          <a:prstGeom prst="rect">
            <a:avLst/>
          </a:prstGeom>
          <a:solidFill>
            <a:srgbClr val="F0F4F7"/>
          </a:solidFill>
          <a:ln w="5715">
            <a:solidFill>
              <a:srgbClr val="F7F8FA"/>
            </a:solidFill>
            <a:prstDash val="solid"/>
          </a:ln>
        </p:spPr>
      </p:sp>
      <p:sp>
        <p:nvSpPr>
          <p:cNvPr id="150" name="Text 148"/>
          <p:cNvSpPr/>
          <p:nvPr/>
        </p:nvSpPr>
        <p:spPr>
          <a:xfrm>
            <a:off x="9025128" y="5673852"/>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2.979 ms</a:t>
            </a:r>
            <a:endParaRPr lang="en-US" sz="1060" dirty="0"/>
          </a:p>
        </p:txBody>
      </p:sp>
      <p:sp>
        <p:nvSpPr>
          <p:cNvPr id="151" name="Shape 149"/>
          <p:cNvSpPr/>
          <p:nvPr/>
        </p:nvSpPr>
        <p:spPr>
          <a:xfrm>
            <a:off x="502920" y="5875020"/>
            <a:ext cx="3520440" cy="288036"/>
          </a:xfrm>
          <a:prstGeom prst="rect">
            <a:avLst/>
          </a:prstGeom>
          <a:solidFill>
            <a:srgbClr val="FFFFFF"/>
          </a:solidFill>
          <a:ln w="5715">
            <a:solidFill>
              <a:srgbClr val="F7F8FA"/>
            </a:solidFill>
            <a:prstDash val="solid"/>
          </a:ln>
        </p:spPr>
      </p:sp>
      <p:sp>
        <p:nvSpPr>
          <p:cNvPr id="152" name="Text 150"/>
          <p:cNvSpPr/>
          <p:nvPr/>
        </p:nvSpPr>
        <p:spPr>
          <a:xfrm>
            <a:off x="566928" y="5961888"/>
            <a:ext cx="3392424" cy="150876"/>
          </a:xfrm>
          <a:prstGeom prst="rect">
            <a:avLst/>
          </a:prstGeom>
          <a:noFill/>
          <a:ln/>
        </p:spPr>
        <p:txBody>
          <a:bodyPr wrap="square" lIns="0" tIns="0" rIns="0" bIns="0" rtlCol="0" anchor="ctr">
            <a:normAutofit/>
          </a:bodyPr>
          <a:lstStyle/>
          <a:p>
            <a:pPr algn="l" indent="0" marL="0">
              <a:buNone/>
            </a:pPr>
            <a:r>
              <a:rPr lang="en-US" sz="1060" b="1" dirty="0">
                <a:solidFill>
                  <a:srgbClr val="18212F"/>
                </a:solidFill>
              </a:rPr>
              <a:t>Setup: allocate trial values</a:t>
            </a:r>
            <a:endParaRPr lang="en-US" sz="1060" dirty="0"/>
          </a:p>
        </p:txBody>
      </p:sp>
      <p:sp>
        <p:nvSpPr>
          <p:cNvPr id="153" name="Shape 151"/>
          <p:cNvSpPr/>
          <p:nvPr/>
        </p:nvSpPr>
        <p:spPr>
          <a:xfrm>
            <a:off x="4023360" y="5875020"/>
            <a:ext cx="1417320" cy="288036"/>
          </a:xfrm>
          <a:prstGeom prst="rect">
            <a:avLst/>
          </a:prstGeom>
          <a:solidFill>
            <a:srgbClr val="FFFFFF"/>
          </a:solidFill>
          <a:ln w="5715">
            <a:solidFill>
              <a:srgbClr val="F7F8FA"/>
            </a:solidFill>
            <a:prstDash val="solid"/>
          </a:ln>
        </p:spPr>
      </p:sp>
      <p:sp>
        <p:nvSpPr>
          <p:cNvPr id="154" name="Text 152"/>
          <p:cNvSpPr/>
          <p:nvPr/>
        </p:nvSpPr>
        <p:spPr>
          <a:xfrm>
            <a:off x="4087368" y="5961888"/>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11.769 ms</a:t>
            </a:r>
            <a:endParaRPr lang="en-US" sz="1060" dirty="0"/>
          </a:p>
        </p:txBody>
      </p:sp>
      <p:sp>
        <p:nvSpPr>
          <p:cNvPr id="155" name="Shape 153"/>
          <p:cNvSpPr/>
          <p:nvPr/>
        </p:nvSpPr>
        <p:spPr>
          <a:xfrm>
            <a:off x="5440680" y="5875020"/>
            <a:ext cx="3520440" cy="288036"/>
          </a:xfrm>
          <a:prstGeom prst="rect">
            <a:avLst/>
          </a:prstGeom>
          <a:solidFill>
            <a:srgbClr val="FFFFFF"/>
          </a:solidFill>
          <a:ln w="5715">
            <a:solidFill>
              <a:srgbClr val="F7F8FA"/>
            </a:solidFill>
            <a:prstDash val="solid"/>
          </a:ln>
        </p:spPr>
      </p:sp>
      <p:sp>
        <p:nvSpPr>
          <p:cNvPr id="156" name="Text 154"/>
          <p:cNvSpPr/>
          <p:nvPr/>
        </p:nvSpPr>
        <p:spPr>
          <a:xfrm>
            <a:off x="5504688" y="5961888"/>
            <a:ext cx="339242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Solve: linearized error change</a:t>
            </a:r>
            <a:endParaRPr lang="en-US" sz="1060" dirty="0"/>
          </a:p>
        </p:txBody>
      </p:sp>
      <p:sp>
        <p:nvSpPr>
          <p:cNvPr id="157" name="Shape 155"/>
          <p:cNvSpPr/>
          <p:nvPr/>
        </p:nvSpPr>
        <p:spPr>
          <a:xfrm>
            <a:off x="8961120" y="5875020"/>
            <a:ext cx="1417320" cy="288036"/>
          </a:xfrm>
          <a:prstGeom prst="rect">
            <a:avLst/>
          </a:prstGeom>
          <a:solidFill>
            <a:srgbClr val="FFFFFF"/>
          </a:solidFill>
          <a:ln w="5715">
            <a:solidFill>
              <a:srgbClr val="F7F8FA"/>
            </a:solidFill>
            <a:prstDash val="solid"/>
          </a:ln>
        </p:spPr>
      </p:sp>
      <p:sp>
        <p:nvSpPr>
          <p:cNvPr id="158" name="Text 156"/>
          <p:cNvSpPr/>
          <p:nvPr/>
        </p:nvSpPr>
        <p:spPr>
          <a:xfrm>
            <a:off x="9025128" y="5961888"/>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3.655 ms</a:t>
            </a:r>
            <a:endParaRPr lang="en-US" sz="1060" dirty="0"/>
          </a:p>
        </p:txBody>
      </p:sp>
      <p:sp>
        <p:nvSpPr>
          <p:cNvPr id="159" name="Shape 157"/>
          <p:cNvSpPr/>
          <p:nvPr/>
        </p:nvSpPr>
        <p:spPr>
          <a:xfrm>
            <a:off x="502920" y="6163056"/>
            <a:ext cx="3520440" cy="288036"/>
          </a:xfrm>
          <a:prstGeom prst="rect">
            <a:avLst/>
          </a:prstGeom>
          <a:solidFill>
            <a:srgbClr val="F0F4F7"/>
          </a:solidFill>
          <a:ln w="5715">
            <a:solidFill>
              <a:srgbClr val="F7F8FA"/>
            </a:solidFill>
            <a:prstDash val="solid"/>
          </a:ln>
        </p:spPr>
      </p:sp>
      <p:sp>
        <p:nvSpPr>
          <p:cNvPr id="160" name="Text 158"/>
          <p:cNvSpPr/>
          <p:nvPr/>
        </p:nvSpPr>
        <p:spPr>
          <a:xfrm>
            <a:off x="566928" y="6249924"/>
            <a:ext cx="3392424" cy="150876"/>
          </a:xfrm>
          <a:prstGeom prst="rect">
            <a:avLst/>
          </a:prstGeom>
          <a:noFill/>
          <a:ln/>
        </p:spPr>
        <p:txBody>
          <a:bodyPr wrap="square" lIns="0" tIns="0" rIns="0" bIns="0" rtlCol="0" anchor="ctr">
            <a:normAutofit/>
          </a:bodyPr>
          <a:lstStyle/>
          <a:p>
            <a:pPr algn="l" indent="0" marL="0">
              <a:buNone/>
            </a:pPr>
            <a:r>
              <a:rPr lang="en-US" sz="1060" b="1" dirty="0">
                <a:solidFill>
                  <a:srgbClr val="18212F"/>
                </a:solidFill>
              </a:rPr>
              <a:t>Transfer: total H2D memcpy</a:t>
            </a:r>
            <a:endParaRPr lang="en-US" sz="1060" dirty="0"/>
          </a:p>
        </p:txBody>
      </p:sp>
      <p:sp>
        <p:nvSpPr>
          <p:cNvPr id="161" name="Shape 159"/>
          <p:cNvSpPr/>
          <p:nvPr/>
        </p:nvSpPr>
        <p:spPr>
          <a:xfrm>
            <a:off x="4023360" y="6163056"/>
            <a:ext cx="1417320" cy="288036"/>
          </a:xfrm>
          <a:prstGeom prst="rect">
            <a:avLst/>
          </a:prstGeom>
          <a:solidFill>
            <a:srgbClr val="F0F4F7"/>
          </a:solidFill>
          <a:ln w="5715">
            <a:solidFill>
              <a:srgbClr val="F7F8FA"/>
            </a:solidFill>
            <a:prstDash val="solid"/>
          </a:ln>
        </p:spPr>
      </p:sp>
      <p:sp>
        <p:nvSpPr>
          <p:cNvPr id="162" name="Text 160"/>
          <p:cNvSpPr/>
          <p:nvPr/>
        </p:nvSpPr>
        <p:spPr>
          <a:xfrm>
            <a:off x="4087368" y="6249924"/>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1.526 ms</a:t>
            </a:r>
            <a:endParaRPr lang="en-US" sz="1060" dirty="0"/>
          </a:p>
        </p:txBody>
      </p:sp>
      <p:sp>
        <p:nvSpPr>
          <p:cNvPr id="163" name="Shape 161"/>
          <p:cNvSpPr/>
          <p:nvPr/>
        </p:nvSpPr>
        <p:spPr>
          <a:xfrm>
            <a:off x="5440680" y="6163056"/>
            <a:ext cx="3520440" cy="288036"/>
          </a:xfrm>
          <a:prstGeom prst="rect">
            <a:avLst/>
          </a:prstGeom>
          <a:solidFill>
            <a:srgbClr val="F0F4F7"/>
          </a:solidFill>
          <a:ln w="5715">
            <a:solidFill>
              <a:srgbClr val="F7F8FA"/>
            </a:solidFill>
            <a:prstDash val="solid"/>
          </a:ln>
        </p:spPr>
      </p:sp>
      <p:sp>
        <p:nvSpPr>
          <p:cNvPr id="164" name="Text 162"/>
          <p:cNvSpPr/>
          <p:nvPr/>
        </p:nvSpPr>
        <p:spPr>
          <a:xfrm>
            <a:off x="5504688" y="6249924"/>
            <a:ext cx="339242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Transfer: total D2H memcpy</a:t>
            </a:r>
            <a:endParaRPr lang="en-US" sz="1060" dirty="0"/>
          </a:p>
        </p:txBody>
      </p:sp>
      <p:sp>
        <p:nvSpPr>
          <p:cNvPr id="165" name="Shape 163"/>
          <p:cNvSpPr/>
          <p:nvPr/>
        </p:nvSpPr>
        <p:spPr>
          <a:xfrm>
            <a:off x="8961120" y="6163056"/>
            <a:ext cx="1417320" cy="288036"/>
          </a:xfrm>
          <a:prstGeom prst="rect">
            <a:avLst/>
          </a:prstGeom>
          <a:solidFill>
            <a:srgbClr val="F0F4F7"/>
          </a:solidFill>
          <a:ln w="5715">
            <a:solidFill>
              <a:srgbClr val="F7F8FA"/>
            </a:solidFill>
            <a:prstDash val="solid"/>
          </a:ln>
        </p:spPr>
      </p:sp>
      <p:sp>
        <p:nvSpPr>
          <p:cNvPr id="166" name="Text 164"/>
          <p:cNvSpPr/>
          <p:nvPr/>
        </p:nvSpPr>
        <p:spPr>
          <a:xfrm>
            <a:off x="9025128" y="6249924"/>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0.615 ms</a:t>
            </a:r>
            <a:endParaRPr lang="en-US" sz="1060" dirty="0"/>
          </a:p>
        </p:txBody>
      </p:sp>
      <p:sp>
        <p:nvSpPr>
          <p:cNvPr id="167" name="Shape 165"/>
          <p:cNvSpPr/>
          <p:nvPr/>
        </p:nvSpPr>
        <p:spPr>
          <a:xfrm>
            <a:off x="502920" y="6451092"/>
            <a:ext cx="3520440" cy="288036"/>
          </a:xfrm>
          <a:prstGeom prst="rect">
            <a:avLst/>
          </a:prstGeom>
          <a:solidFill>
            <a:srgbClr val="FFFFFF"/>
          </a:solidFill>
          <a:ln w="5715">
            <a:solidFill>
              <a:srgbClr val="F7F8FA"/>
            </a:solidFill>
            <a:prstDash val="solid"/>
          </a:ln>
        </p:spPr>
      </p:sp>
      <p:sp>
        <p:nvSpPr>
          <p:cNvPr id="168" name="Text 166"/>
          <p:cNvSpPr/>
          <p:nvPr/>
        </p:nvSpPr>
        <p:spPr>
          <a:xfrm>
            <a:off x="566928" y="6537960"/>
            <a:ext cx="3392424" cy="150876"/>
          </a:xfrm>
          <a:prstGeom prst="rect">
            <a:avLst/>
          </a:prstGeom>
          <a:noFill/>
          <a:ln/>
        </p:spPr>
        <p:txBody>
          <a:bodyPr wrap="square" lIns="0" tIns="0" rIns="0" bIns="0" rtlCol="0" anchor="ctr">
            <a:normAutofit/>
          </a:bodyPr>
          <a:lstStyle/>
          <a:p>
            <a:pPr algn="l" indent="0" marL="0">
              <a:buNone/>
            </a:pPr>
            <a:r>
              <a:rPr lang="en-US" sz="1060" b="1" dirty="0">
                <a:solidFill>
                  <a:srgbClr val="18212F"/>
                </a:solidFill>
              </a:rPr>
              <a:t>Download: Values rebuild</a:t>
            </a:r>
            <a:endParaRPr lang="en-US" sz="1060" dirty="0"/>
          </a:p>
        </p:txBody>
      </p:sp>
      <p:sp>
        <p:nvSpPr>
          <p:cNvPr id="169" name="Shape 167"/>
          <p:cNvSpPr/>
          <p:nvPr/>
        </p:nvSpPr>
        <p:spPr>
          <a:xfrm>
            <a:off x="4023360" y="6451092"/>
            <a:ext cx="1417320" cy="288036"/>
          </a:xfrm>
          <a:prstGeom prst="rect">
            <a:avLst/>
          </a:prstGeom>
          <a:solidFill>
            <a:srgbClr val="FFFFFF"/>
          </a:solidFill>
          <a:ln w="5715">
            <a:solidFill>
              <a:srgbClr val="F7F8FA"/>
            </a:solidFill>
            <a:prstDash val="solid"/>
          </a:ln>
        </p:spPr>
      </p:sp>
      <p:sp>
        <p:nvSpPr>
          <p:cNvPr id="170" name="Text 168"/>
          <p:cNvSpPr/>
          <p:nvPr/>
        </p:nvSpPr>
        <p:spPr>
          <a:xfrm>
            <a:off x="4087368" y="6537960"/>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15.537 ms</a:t>
            </a:r>
            <a:endParaRPr lang="en-US" sz="1060" dirty="0"/>
          </a:p>
        </p:txBody>
      </p:sp>
      <p:sp>
        <p:nvSpPr>
          <p:cNvPr id="171" name="Shape 169"/>
          <p:cNvSpPr/>
          <p:nvPr/>
        </p:nvSpPr>
        <p:spPr>
          <a:xfrm>
            <a:off x="5440680" y="6451092"/>
            <a:ext cx="3520440" cy="288036"/>
          </a:xfrm>
          <a:prstGeom prst="rect">
            <a:avLst/>
          </a:prstGeom>
          <a:solidFill>
            <a:srgbClr val="FFFFFF"/>
          </a:solidFill>
          <a:ln w="5715">
            <a:solidFill>
              <a:srgbClr val="F7F8FA"/>
            </a:solidFill>
            <a:prstDash val="solid"/>
          </a:ln>
        </p:spPr>
      </p:sp>
      <p:sp>
        <p:nvSpPr>
          <p:cNvPr id="172" name="Text 170"/>
          <p:cNvSpPr/>
          <p:nvPr/>
        </p:nvSpPr>
        <p:spPr>
          <a:xfrm>
            <a:off x="5504688" y="6537960"/>
            <a:ext cx="339242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Pure H2D + D2H</a:t>
            </a:r>
            <a:endParaRPr lang="en-US" sz="1060" dirty="0"/>
          </a:p>
        </p:txBody>
      </p:sp>
      <p:sp>
        <p:nvSpPr>
          <p:cNvPr id="173" name="Shape 171"/>
          <p:cNvSpPr/>
          <p:nvPr/>
        </p:nvSpPr>
        <p:spPr>
          <a:xfrm>
            <a:off x="8961120" y="6451092"/>
            <a:ext cx="1417320" cy="288036"/>
          </a:xfrm>
          <a:prstGeom prst="rect">
            <a:avLst/>
          </a:prstGeom>
          <a:solidFill>
            <a:srgbClr val="FFFFFF"/>
          </a:solidFill>
          <a:ln w="5715">
            <a:solidFill>
              <a:srgbClr val="F7F8FA"/>
            </a:solidFill>
            <a:prstDash val="solid"/>
          </a:ln>
        </p:spPr>
      </p:sp>
      <p:sp>
        <p:nvSpPr>
          <p:cNvPr id="174" name="Text 172"/>
          <p:cNvSpPr/>
          <p:nvPr/>
        </p:nvSpPr>
        <p:spPr>
          <a:xfrm>
            <a:off x="9025128" y="6537960"/>
            <a:ext cx="1289304" cy="150876"/>
          </a:xfrm>
          <a:prstGeom prst="rect">
            <a:avLst/>
          </a:prstGeom>
          <a:noFill/>
          <a:ln/>
        </p:spPr>
        <p:txBody>
          <a:bodyPr wrap="square" lIns="0" tIns="0" rIns="0" bIns="0" rtlCol="0" anchor="ctr">
            <a:normAutofit/>
          </a:bodyPr>
          <a:lstStyle/>
          <a:p>
            <a:pPr algn="r" indent="0" marL="0">
              <a:buNone/>
            </a:pPr>
            <a:r>
              <a:rPr lang="en-US" sz="1060" dirty="0">
                <a:solidFill>
                  <a:srgbClr val="18212F"/>
                </a:solidFill>
              </a:rPr>
              <a:t>2.141 ms</a:t>
            </a:r>
            <a:endParaRPr lang="en-US" sz="1060" dirty="0"/>
          </a:p>
        </p:txBody>
      </p:sp>
      <p:sp>
        <p:nvSpPr>
          <p:cNvPr id="175" name="Text 173"/>
          <p:cNvSpPr/>
          <p:nvPr/>
        </p:nvSpPr>
        <p:spPr>
          <a:xfrm>
            <a:off x="502920" y="6437376"/>
            <a:ext cx="10789920" cy="109728"/>
          </a:xfrm>
          <a:prstGeom prst="rect">
            <a:avLst/>
          </a:prstGeom>
          <a:noFill/>
          <a:ln/>
        </p:spPr>
        <p:txBody>
          <a:bodyPr wrap="square" lIns="0" tIns="0" rIns="0" bIns="0" rtlCol="0" anchor="ctr">
            <a:normAutofit/>
          </a:bodyPr>
          <a:lstStyle/>
          <a:p>
            <a:pPr indent="0" marL="0">
              <a:buNone/>
            </a:pPr>
            <a:r>
              <a:rPr lang="en-US" sz="850" dirty="0">
                <a:solidFill>
                  <a:srgbClr val="5A6472"/>
                </a:solidFill>
              </a:rPr>
              <a:t>Note: the 1.936 ms specialized pure-copy figure cited in the feasibility summary comes from a separate transfer-focused run; this appendix uses the dense-Schur breakdown above.</a:t>
            </a:r>
            <a:endParaRPr lang="en-US" sz="850" dirty="0"/>
          </a:p>
        </p:txBody>
      </p:sp>
      <p:sp>
        <p:nvSpPr>
          <p:cNvPr id="176" name="Text 174"/>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Appendix | dense-Schur breakdown | A</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8FA"/>
        </a:solidFill>
      </p:bgPr>
    </p:bg>
    <p:spTree>
      <p:nvGrpSpPr>
        <p:cNvPr id="1" name=""/>
        <p:cNvGrpSpPr/>
        <p:nvPr/>
      </p:nvGrpSpPr>
      <p:grpSpPr>
        <a:xfrm>
          <a:off x="0" y="0"/>
          <a:ext cx="0" cy="0"/>
          <a:chOff x="0" y="0"/>
          <a:chExt cx="0" cy="0"/>
        </a:xfrm>
      </p:grpSpPr>
      <p:sp>
        <p:nvSpPr>
          <p:cNvPr id="2" name="Shape 0"/>
          <p:cNvSpPr/>
          <p:nvPr/>
        </p:nvSpPr>
        <p:spPr>
          <a:xfrm>
            <a:off x="0" y="0"/>
            <a:ext cx="12191695" cy="146304"/>
          </a:xfrm>
          <a:prstGeom prst="rect">
            <a:avLst/>
          </a:prstGeom>
          <a:solidFill>
            <a:srgbClr val="0E7C86"/>
          </a:solidFill>
          <a:ln w="12700">
            <a:solidFill>
              <a:srgbClr val="0E7C86"/>
            </a:solidFill>
            <a:prstDash val="solid"/>
          </a:ln>
        </p:spPr>
      </p:sp>
      <p:sp>
        <p:nvSpPr>
          <p:cNvPr id="3" name="Text 1"/>
          <p:cNvSpPr/>
          <p:nvPr/>
        </p:nvSpPr>
        <p:spPr>
          <a:xfrm>
            <a:off x="530352" y="329184"/>
            <a:ext cx="9784080" cy="457200"/>
          </a:xfrm>
          <a:prstGeom prst="rect">
            <a:avLst/>
          </a:prstGeom>
          <a:noFill/>
          <a:ln/>
        </p:spPr>
        <p:txBody>
          <a:bodyPr wrap="square" lIns="0" tIns="0" rIns="0" bIns="0" rtlCol="0" anchor="ctr">
            <a:normAutofit/>
          </a:bodyPr>
          <a:lstStyle/>
          <a:p>
            <a:pPr indent="0" marL="0">
              <a:buNone/>
            </a:pPr>
            <a:r>
              <a:rPr lang="en-US" sz="2900" b="1" dirty="0">
                <a:solidFill>
                  <a:srgbClr val="18212F"/>
                </a:solidFill>
                <a:latin typeface="Aptos Display" pitchFamily="34" charset="0"/>
                <a:ea typeface="Aptos Display" pitchFamily="34" charset="-122"/>
                <a:cs typeface="Aptos Display" pitchFamily="34" charset="-120"/>
              </a:rPr>
              <a:t>Appendix: feasibility ranges and caveats</a:t>
            </a:r>
            <a:endParaRPr lang="en-US" sz="2900" dirty="0"/>
          </a:p>
        </p:txBody>
      </p:sp>
      <p:sp>
        <p:nvSpPr>
          <p:cNvPr id="4" name="Text 2"/>
          <p:cNvSpPr/>
          <p:nvPr/>
        </p:nvSpPr>
        <p:spPr>
          <a:xfrm>
            <a:off x="530352" y="832104"/>
            <a:ext cx="10515600" cy="256032"/>
          </a:xfrm>
          <a:prstGeom prst="rect">
            <a:avLst/>
          </a:prstGeom>
          <a:noFill/>
          <a:ln/>
        </p:spPr>
        <p:txBody>
          <a:bodyPr wrap="square" lIns="0" tIns="0" rIns="0" bIns="0" rtlCol="0" anchor="ctr">
            <a:normAutofit/>
          </a:bodyPr>
          <a:lstStyle/>
          <a:p>
            <a:pPr indent="0" marL="0">
              <a:buNone/>
            </a:pPr>
            <a:r>
              <a:rPr lang="en-US" sz="1450" dirty="0">
                <a:solidFill>
                  <a:srgbClr val="5A6472"/>
                </a:solidFill>
              </a:rPr>
              <a:t>Measured operations are separate loops. Derived hybrid values are sensitivity views, not sequential candidate calls.</a:t>
            </a:r>
            <a:endParaRPr lang="en-US" sz="1450" dirty="0"/>
          </a:p>
        </p:txBody>
      </p:sp>
      <p:sp>
        <p:nvSpPr>
          <p:cNvPr id="5" name="Shape 3"/>
          <p:cNvSpPr/>
          <p:nvPr/>
        </p:nvSpPr>
        <p:spPr>
          <a:xfrm>
            <a:off x="9464040" y="438912"/>
            <a:ext cx="1069848" cy="274320"/>
          </a:xfrm>
          <a:prstGeom prst="rect">
            <a:avLst/>
          </a:prstGeom>
          <a:solidFill>
            <a:srgbClr val="0E7C86"/>
          </a:solidFill>
          <a:ln w="12700">
            <a:solidFill>
              <a:srgbClr val="0E7C86"/>
            </a:solidFill>
            <a:prstDash val="solid"/>
          </a:ln>
        </p:spPr>
      </p:sp>
      <p:sp>
        <p:nvSpPr>
          <p:cNvPr id="6" name="Text 4"/>
          <p:cNvSpPr/>
          <p:nvPr/>
        </p:nvSpPr>
        <p:spPr>
          <a:xfrm>
            <a:off x="9537192" y="507492"/>
            <a:ext cx="923544"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Measured</a:t>
            </a:r>
            <a:endParaRPr lang="en-US" sz="950" dirty="0"/>
          </a:p>
        </p:txBody>
      </p:sp>
      <p:sp>
        <p:nvSpPr>
          <p:cNvPr id="7" name="Shape 5"/>
          <p:cNvSpPr/>
          <p:nvPr/>
        </p:nvSpPr>
        <p:spPr>
          <a:xfrm>
            <a:off x="10469880" y="438912"/>
            <a:ext cx="1152144" cy="274320"/>
          </a:xfrm>
          <a:prstGeom prst="rect">
            <a:avLst/>
          </a:prstGeom>
          <a:solidFill>
            <a:srgbClr val="F2A23A"/>
          </a:solidFill>
          <a:ln w="12700">
            <a:solidFill>
              <a:srgbClr val="F2A23A"/>
            </a:solidFill>
            <a:prstDash val="solid"/>
          </a:ln>
        </p:spPr>
      </p:sp>
      <p:sp>
        <p:nvSpPr>
          <p:cNvPr id="8" name="Text 6"/>
          <p:cNvSpPr/>
          <p:nvPr/>
        </p:nvSpPr>
        <p:spPr>
          <a:xfrm>
            <a:off x="10543032" y="507492"/>
            <a:ext cx="1005840" cy="100584"/>
          </a:xfrm>
          <a:prstGeom prst="rect">
            <a:avLst/>
          </a:prstGeom>
          <a:noFill/>
          <a:ln/>
        </p:spPr>
        <p:txBody>
          <a:bodyPr wrap="square" lIns="0" tIns="0" rIns="0" bIns="0" rtlCol="0" anchor="ctr">
            <a:normAutofit/>
          </a:bodyPr>
          <a:lstStyle/>
          <a:p>
            <a:pPr algn="ctr" indent="0" marL="0">
              <a:buNone/>
            </a:pPr>
            <a:r>
              <a:rPr lang="en-US" sz="950" b="1" dirty="0">
                <a:solidFill>
                  <a:srgbClr val="FFFFFF"/>
                </a:solidFill>
              </a:rPr>
              <a:t>Estimated</a:t>
            </a:r>
            <a:endParaRPr lang="en-US" sz="950" dirty="0"/>
          </a:p>
        </p:txBody>
      </p:sp>
      <p:sp>
        <p:nvSpPr>
          <p:cNvPr id="9" name="Shape 7"/>
          <p:cNvSpPr/>
          <p:nvPr/>
        </p:nvSpPr>
        <p:spPr>
          <a:xfrm>
            <a:off x="457200" y="1207008"/>
            <a:ext cx="2514600" cy="347472"/>
          </a:xfrm>
          <a:prstGeom prst="rect">
            <a:avLst/>
          </a:prstGeom>
          <a:solidFill>
            <a:srgbClr val="1F2A44"/>
          </a:solidFill>
          <a:ln w="5715">
            <a:solidFill>
              <a:srgbClr val="F7F8FA"/>
            </a:solidFill>
            <a:prstDash val="solid"/>
          </a:ln>
        </p:spPr>
      </p:sp>
      <p:sp>
        <p:nvSpPr>
          <p:cNvPr id="10" name="Text 8"/>
          <p:cNvSpPr/>
          <p:nvPr/>
        </p:nvSpPr>
        <p:spPr>
          <a:xfrm>
            <a:off x="521208" y="1293876"/>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FFFFFF"/>
                </a:solidFill>
              </a:rPr>
              <a:t>Operation</a:t>
            </a:r>
            <a:endParaRPr lang="en-US" sz="1070" dirty="0"/>
          </a:p>
        </p:txBody>
      </p:sp>
      <p:sp>
        <p:nvSpPr>
          <p:cNvPr id="11" name="Shape 9"/>
          <p:cNvSpPr/>
          <p:nvPr/>
        </p:nvSpPr>
        <p:spPr>
          <a:xfrm>
            <a:off x="2971800" y="1207008"/>
            <a:ext cx="4251960" cy="347472"/>
          </a:xfrm>
          <a:prstGeom prst="rect">
            <a:avLst/>
          </a:prstGeom>
          <a:solidFill>
            <a:srgbClr val="1F2A44"/>
          </a:solidFill>
          <a:ln w="5715">
            <a:solidFill>
              <a:srgbClr val="F7F8FA"/>
            </a:solidFill>
            <a:prstDash val="solid"/>
          </a:ln>
        </p:spPr>
      </p:sp>
      <p:sp>
        <p:nvSpPr>
          <p:cNvPr id="12" name="Text 10"/>
          <p:cNvSpPr/>
          <p:nvPr/>
        </p:nvSpPr>
        <p:spPr>
          <a:xfrm>
            <a:off x="3035808" y="1293876"/>
            <a:ext cx="4123944" cy="210312"/>
          </a:xfrm>
          <a:prstGeom prst="rect">
            <a:avLst/>
          </a:prstGeom>
          <a:noFill/>
          <a:ln/>
        </p:spPr>
        <p:txBody>
          <a:bodyPr wrap="square" lIns="0" tIns="0" rIns="0" bIns="0" rtlCol="0" anchor="ctr">
            <a:normAutofit/>
          </a:bodyPr>
          <a:lstStyle/>
          <a:p>
            <a:pPr algn="ctr" indent="0" marL="0">
              <a:buNone/>
            </a:pPr>
            <a:r>
              <a:rPr lang="en-US" sz="1070" b="1" dirty="0">
                <a:solidFill>
                  <a:srgbClr val="FFFFFF"/>
                </a:solidFill>
              </a:rPr>
              <a:t>All 30 mean [min, max] / CV</a:t>
            </a:r>
            <a:endParaRPr lang="en-US" sz="1070" dirty="0"/>
          </a:p>
        </p:txBody>
      </p:sp>
      <p:sp>
        <p:nvSpPr>
          <p:cNvPr id="13" name="Shape 11"/>
          <p:cNvSpPr/>
          <p:nvPr/>
        </p:nvSpPr>
        <p:spPr>
          <a:xfrm>
            <a:off x="7223760" y="1207008"/>
            <a:ext cx="4434840" cy="347472"/>
          </a:xfrm>
          <a:prstGeom prst="rect">
            <a:avLst/>
          </a:prstGeom>
          <a:solidFill>
            <a:srgbClr val="1F2A44"/>
          </a:solidFill>
          <a:ln w="5715">
            <a:solidFill>
              <a:srgbClr val="F7F8FA"/>
            </a:solidFill>
            <a:prstDash val="solid"/>
          </a:ln>
        </p:spPr>
      </p:sp>
      <p:sp>
        <p:nvSpPr>
          <p:cNvPr id="14" name="Text 12"/>
          <p:cNvSpPr/>
          <p:nvPr/>
        </p:nvSpPr>
        <p:spPr>
          <a:xfrm>
            <a:off x="7287768" y="1293876"/>
            <a:ext cx="4306824" cy="210312"/>
          </a:xfrm>
          <a:prstGeom prst="rect">
            <a:avLst/>
          </a:prstGeom>
          <a:noFill/>
          <a:ln/>
        </p:spPr>
        <p:txBody>
          <a:bodyPr wrap="square" lIns="0" tIns="0" rIns="0" bIns="0" rtlCol="0" anchor="ctr">
            <a:normAutofit/>
          </a:bodyPr>
          <a:lstStyle/>
          <a:p>
            <a:pPr algn="ctr" indent="0" marL="0">
              <a:buNone/>
            </a:pPr>
            <a:r>
              <a:rPr lang="en-US" sz="1070" b="1" dirty="0">
                <a:solidFill>
                  <a:srgbClr val="FFFFFF"/>
                </a:solidFill>
              </a:rPr>
              <a:t>Repeat-0-excluded 27 mean [min, max] / CV</a:t>
            </a:r>
            <a:endParaRPr lang="en-US" sz="1070" dirty="0"/>
          </a:p>
        </p:txBody>
      </p:sp>
      <p:sp>
        <p:nvSpPr>
          <p:cNvPr id="15" name="Shape 13"/>
          <p:cNvSpPr/>
          <p:nvPr/>
        </p:nvSpPr>
        <p:spPr>
          <a:xfrm>
            <a:off x="457200" y="1554480"/>
            <a:ext cx="2514600" cy="347472"/>
          </a:xfrm>
          <a:prstGeom prst="rect">
            <a:avLst/>
          </a:prstGeom>
          <a:solidFill>
            <a:srgbClr val="FFFFFF"/>
          </a:solidFill>
          <a:ln w="5715">
            <a:solidFill>
              <a:srgbClr val="F7F8FA"/>
            </a:solidFill>
            <a:prstDash val="solid"/>
          </a:ln>
        </p:spPr>
      </p:sp>
      <p:sp>
        <p:nvSpPr>
          <p:cNvPr id="16" name="Text 14"/>
          <p:cNvSpPr/>
          <p:nvPr/>
        </p:nvSpPr>
        <p:spPr>
          <a:xfrm>
            <a:off x="521208" y="1641348"/>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18212F"/>
                </a:solidFill>
              </a:rPr>
              <a:t>CPU / TBB linearize</a:t>
            </a:r>
            <a:endParaRPr lang="en-US" sz="1070" dirty="0"/>
          </a:p>
        </p:txBody>
      </p:sp>
      <p:sp>
        <p:nvSpPr>
          <p:cNvPr id="17" name="Shape 15"/>
          <p:cNvSpPr/>
          <p:nvPr/>
        </p:nvSpPr>
        <p:spPr>
          <a:xfrm>
            <a:off x="2971800" y="1554480"/>
            <a:ext cx="4251960" cy="347472"/>
          </a:xfrm>
          <a:prstGeom prst="rect">
            <a:avLst/>
          </a:prstGeom>
          <a:solidFill>
            <a:srgbClr val="FFFFFF"/>
          </a:solidFill>
          <a:ln w="5715">
            <a:solidFill>
              <a:srgbClr val="F7F8FA"/>
            </a:solidFill>
            <a:prstDash val="solid"/>
          </a:ln>
        </p:spPr>
      </p:sp>
      <p:sp>
        <p:nvSpPr>
          <p:cNvPr id="18" name="Text 16"/>
          <p:cNvSpPr/>
          <p:nvPr/>
        </p:nvSpPr>
        <p:spPr>
          <a:xfrm>
            <a:off x="3035808" y="1641348"/>
            <a:ext cx="412394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30.851 [25.119, 57.299] / 26.39%</a:t>
            </a:r>
            <a:endParaRPr lang="en-US" sz="1070" dirty="0"/>
          </a:p>
        </p:txBody>
      </p:sp>
      <p:sp>
        <p:nvSpPr>
          <p:cNvPr id="19" name="Shape 17"/>
          <p:cNvSpPr/>
          <p:nvPr/>
        </p:nvSpPr>
        <p:spPr>
          <a:xfrm>
            <a:off x="7223760" y="1554480"/>
            <a:ext cx="4434840" cy="347472"/>
          </a:xfrm>
          <a:prstGeom prst="rect">
            <a:avLst/>
          </a:prstGeom>
          <a:solidFill>
            <a:srgbClr val="FFFFFF"/>
          </a:solidFill>
          <a:ln w="5715">
            <a:solidFill>
              <a:srgbClr val="F7F8FA"/>
            </a:solidFill>
            <a:prstDash val="solid"/>
          </a:ln>
        </p:spPr>
      </p:sp>
      <p:sp>
        <p:nvSpPr>
          <p:cNvPr id="20" name="Text 18"/>
          <p:cNvSpPr/>
          <p:nvPr/>
        </p:nvSpPr>
        <p:spPr>
          <a:xfrm>
            <a:off x="7287768" y="1641348"/>
            <a:ext cx="430682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28.316 [25.119, 38.918] / 9.73%</a:t>
            </a:r>
            <a:endParaRPr lang="en-US" sz="1070" dirty="0"/>
          </a:p>
        </p:txBody>
      </p:sp>
      <p:sp>
        <p:nvSpPr>
          <p:cNvPr id="21" name="Shape 19"/>
          <p:cNvSpPr/>
          <p:nvPr/>
        </p:nvSpPr>
        <p:spPr>
          <a:xfrm>
            <a:off x="457200" y="1901952"/>
            <a:ext cx="2514600" cy="347472"/>
          </a:xfrm>
          <a:prstGeom prst="rect">
            <a:avLst/>
          </a:prstGeom>
          <a:solidFill>
            <a:srgbClr val="F0F4F7"/>
          </a:solidFill>
          <a:ln w="5715">
            <a:solidFill>
              <a:srgbClr val="F7F8FA"/>
            </a:solidFill>
            <a:prstDash val="solid"/>
          </a:ln>
        </p:spPr>
      </p:sp>
      <p:sp>
        <p:nvSpPr>
          <p:cNvPr id="22" name="Text 20"/>
          <p:cNvSpPr/>
          <p:nvPr/>
        </p:nvSpPr>
        <p:spPr>
          <a:xfrm>
            <a:off x="521208" y="1988820"/>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18212F"/>
                </a:solidFill>
              </a:rPr>
              <a:t>Values retract</a:t>
            </a:r>
            <a:endParaRPr lang="en-US" sz="1070" dirty="0"/>
          </a:p>
        </p:txBody>
      </p:sp>
      <p:sp>
        <p:nvSpPr>
          <p:cNvPr id="23" name="Shape 21"/>
          <p:cNvSpPr/>
          <p:nvPr/>
        </p:nvSpPr>
        <p:spPr>
          <a:xfrm>
            <a:off x="2971800" y="1901952"/>
            <a:ext cx="4251960" cy="347472"/>
          </a:xfrm>
          <a:prstGeom prst="rect">
            <a:avLst/>
          </a:prstGeom>
          <a:solidFill>
            <a:srgbClr val="F0F4F7"/>
          </a:solidFill>
          <a:ln w="5715">
            <a:solidFill>
              <a:srgbClr val="F7F8FA"/>
            </a:solidFill>
            <a:prstDash val="solid"/>
          </a:ln>
        </p:spPr>
      </p:sp>
      <p:sp>
        <p:nvSpPr>
          <p:cNvPr id="24" name="Text 22"/>
          <p:cNvSpPr/>
          <p:nvPr/>
        </p:nvSpPr>
        <p:spPr>
          <a:xfrm>
            <a:off x="3035808" y="1988820"/>
            <a:ext cx="412394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14.260 [12.320, 18.152] / 8.79%</a:t>
            </a:r>
            <a:endParaRPr lang="en-US" sz="1070" dirty="0"/>
          </a:p>
        </p:txBody>
      </p:sp>
      <p:sp>
        <p:nvSpPr>
          <p:cNvPr id="25" name="Shape 23"/>
          <p:cNvSpPr/>
          <p:nvPr/>
        </p:nvSpPr>
        <p:spPr>
          <a:xfrm>
            <a:off x="7223760" y="1901952"/>
            <a:ext cx="4434840" cy="347472"/>
          </a:xfrm>
          <a:prstGeom prst="rect">
            <a:avLst/>
          </a:prstGeom>
          <a:solidFill>
            <a:srgbClr val="F0F4F7"/>
          </a:solidFill>
          <a:ln w="5715">
            <a:solidFill>
              <a:srgbClr val="F7F8FA"/>
            </a:solidFill>
            <a:prstDash val="solid"/>
          </a:ln>
        </p:spPr>
      </p:sp>
      <p:sp>
        <p:nvSpPr>
          <p:cNvPr id="26" name="Text 24"/>
          <p:cNvSpPr/>
          <p:nvPr/>
        </p:nvSpPr>
        <p:spPr>
          <a:xfrm>
            <a:off x="7287768" y="1988820"/>
            <a:ext cx="430682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14.332 [12.591, 18.152] / 8.71%</a:t>
            </a:r>
            <a:endParaRPr lang="en-US" sz="1070" dirty="0"/>
          </a:p>
        </p:txBody>
      </p:sp>
      <p:sp>
        <p:nvSpPr>
          <p:cNvPr id="27" name="Shape 25"/>
          <p:cNvSpPr/>
          <p:nvPr/>
        </p:nvSpPr>
        <p:spPr>
          <a:xfrm>
            <a:off x="457200" y="2249424"/>
            <a:ext cx="2514600" cy="347472"/>
          </a:xfrm>
          <a:prstGeom prst="rect">
            <a:avLst/>
          </a:prstGeom>
          <a:solidFill>
            <a:srgbClr val="FFFFFF"/>
          </a:solidFill>
          <a:ln w="5715">
            <a:solidFill>
              <a:srgbClr val="F7F8FA"/>
            </a:solidFill>
            <a:prstDash val="solid"/>
          </a:ln>
        </p:spPr>
      </p:sp>
      <p:sp>
        <p:nvSpPr>
          <p:cNvPr id="28" name="Text 26"/>
          <p:cNvSpPr/>
          <p:nvPr/>
        </p:nvSpPr>
        <p:spPr>
          <a:xfrm>
            <a:off x="521208" y="2336292"/>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18212F"/>
                </a:solidFill>
              </a:rPr>
              <a:t>Trial graph.error</a:t>
            </a:r>
            <a:endParaRPr lang="en-US" sz="1070" dirty="0"/>
          </a:p>
        </p:txBody>
      </p:sp>
      <p:sp>
        <p:nvSpPr>
          <p:cNvPr id="29" name="Shape 27"/>
          <p:cNvSpPr/>
          <p:nvPr/>
        </p:nvSpPr>
        <p:spPr>
          <a:xfrm>
            <a:off x="2971800" y="2249424"/>
            <a:ext cx="4251960" cy="347472"/>
          </a:xfrm>
          <a:prstGeom prst="rect">
            <a:avLst/>
          </a:prstGeom>
          <a:solidFill>
            <a:srgbClr val="FFFFFF"/>
          </a:solidFill>
          <a:ln w="5715">
            <a:solidFill>
              <a:srgbClr val="F7F8FA"/>
            </a:solidFill>
            <a:prstDash val="solid"/>
          </a:ln>
        </p:spPr>
      </p:sp>
      <p:sp>
        <p:nvSpPr>
          <p:cNvPr id="30" name="Text 28"/>
          <p:cNvSpPr/>
          <p:nvPr/>
        </p:nvSpPr>
        <p:spPr>
          <a:xfrm>
            <a:off x="3035808" y="2336292"/>
            <a:ext cx="412394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11.644 [8.518, 16.235] / 20.00%</a:t>
            </a:r>
            <a:endParaRPr lang="en-US" sz="1070" dirty="0"/>
          </a:p>
        </p:txBody>
      </p:sp>
      <p:sp>
        <p:nvSpPr>
          <p:cNvPr id="31" name="Shape 29"/>
          <p:cNvSpPr/>
          <p:nvPr/>
        </p:nvSpPr>
        <p:spPr>
          <a:xfrm>
            <a:off x="7223760" y="2249424"/>
            <a:ext cx="4434840" cy="347472"/>
          </a:xfrm>
          <a:prstGeom prst="rect">
            <a:avLst/>
          </a:prstGeom>
          <a:solidFill>
            <a:srgbClr val="FFFFFF"/>
          </a:solidFill>
          <a:ln w="5715">
            <a:solidFill>
              <a:srgbClr val="F7F8FA"/>
            </a:solidFill>
            <a:prstDash val="solid"/>
          </a:ln>
        </p:spPr>
      </p:sp>
      <p:sp>
        <p:nvSpPr>
          <p:cNvPr id="32" name="Text 30"/>
          <p:cNvSpPr/>
          <p:nvPr/>
        </p:nvSpPr>
        <p:spPr>
          <a:xfrm>
            <a:off x="7287768" y="2336292"/>
            <a:ext cx="430682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11.440 [8.518, 14.845] / 19.26%</a:t>
            </a:r>
            <a:endParaRPr lang="en-US" sz="1070" dirty="0"/>
          </a:p>
        </p:txBody>
      </p:sp>
      <p:sp>
        <p:nvSpPr>
          <p:cNvPr id="33" name="Shape 31"/>
          <p:cNvSpPr/>
          <p:nvPr/>
        </p:nvSpPr>
        <p:spPr>
          <a:xfrm>
            <a:off x="457200" y="2596896"/>
            <a:ext cx="2514600" cy="347472"/>
          </a:xfrm>
          <a:prstGeom prst="rect">
            <a:avLst/>
          </a:prstGeom>
          <a:solidFill>
            <a:srgbClr val="F0F4F7"/>
          </a:solidFill>
          <a:ln w="5715">
            <a:solidFill>
              <a:srgbClr val="F7F8FA"/>
            </a:solidFill>
            <a:prstDash val="solid"/>
          </a:ln>
        </p:spPr>
      </p:sp>
      <p:sp>
        <p:nvSpPr>
          <p:cNvPr id="34" name="Text 32"/>
          <p:cNvSpPr/>
          <p:nvPr/>
        </p:nvSpPr>
        <p:spPr>
          <a:xfrm>
            <a:off x="521208" y="2683764"/>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18212F"/>
                </a:solidFill>
              </a:rPr>
              <a:t>GPU projection</a:t>
            </a:r>
            <a:endParaRPr lang="en-US" sz="1070" dirty="0"/>
          </a:p>
        </p:txBody>
      </p:sp>
      <p:sp>
        <p:nvSpPr>
          <p:cNvPr id="35" name="Shape 33"/>
          <p:cNvSpPr/>
          <p:nvPr/>
        </p:nvSpPr>
        <p:spPr>
          <a:xfrm>
            <a:off x="2971800" y="2596896"/>
            <a:ext cx="4251960" cy="347472"/>
          </a:xfrm>
          <a:prstGeom prst="rect">
            <a:avLst/>
          </a:prstGeom>
          <a:solidFill>
            <a:srgbClr val="F0F4F7"/>
          </a:solidFill>
          <a:ln w="5715">
            <a:solidFill>
              <a:srgbClr val="F7F8FA"/>
            </a:solidFill>
            <a:prstDash val="solid"/>
          </a:ln>
        </p:spPr>
      </p:sp>
      <p:sp>
        <p:nvSpPr>
          <p:cNvPr id="36" name="Text 34"/>
          <p:cNvSpPr/>
          <p:nvPr/>
        </p:nvSpPr>
        <p:spPr>
          <a:xfrm>
            <a:off x="3035808" y="2683764"/>
            <a:ext cx="412394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0.384 [0.379, 0.391] / 0.79%</a:t>
            </a:r>
            <a:endParaRPr lang="en-US" sz="1070" dirty="0"/>
          </a:p>
        </p:txBody>
      </p:sp>
      <p:sp>
        <p:nvSpPr>
          <p:cNvPr id="37" name="Shape 35"/>
          <p:cNvSpPr/>
          <p:nvPr/>
        </p:nvSpPr>
        <p:spPr>
          <a:xfrm>
            <a:off x="7223760" y="2596896"/>
            <a:ext cx="4434840" cy="347472"/>
          </a:xfrm>
          <a:prstGeom prst="rect">
            <a:avLst/>
          </a:prstGeom>
          <a:solidFill>
            <a:srgbClr val="F0F4F7"/>
          </a:solidFill>
          <a:ln w="5715">
            <a:solidFill>
              <a:srgbClr val="F7F8FA"/>
            </a:solidFill>
            <a:prstDash val="solid"/>
          </a:ln>
        </p:spPr>
      </p:sp>
      <p:sp>
        <p:nvSpPr>
          <p:cNvPr id="38" name="Text 36"/>
          <p:cNvSpPr/>
          <p:nvPr/>
        </p:nvSpPr>
        <p:spPr>
          <a:xfrm>
            <a:off x="7287768" y="2683764"/>
            <a:ext cx="430682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0.384 [0.379, 0.391] / 0.82%</a:t>
            </a:r>
            <a:endParaRPr lang="en-US" sz="1070" dirty="0"/>
          </a:p>
        </p:txBody>
      </p:sp>
      <p:sp>
        <p:nvSpPr>
          <p:cNvPr id="39" name="Shape 37"/>
          <p:cNvSpPr/>
          <p:nvPr/>
        </p:nvSpPr>
        <p:spPr>
          <a:xfrm>
            <a:off x="457200" y="2944368"/>
            <a:ext cx="2514600" cy="347472"/>
          </a:xfrm>
          <a:prstGeom prst="rect">
            <a:avLst/>
          </a:prstGeom>
          <a:solidFill>
            <a:srgbClr val="FFFFFF"/>
          </a:solidFill>
          <a:ln w="5715">
            <a:solidFill>
              <a:srgbClr val="F7F8FA"/>
            </a:solidFill>
            <a:prstDash val="solid"/>
          </a:ln>
        </p:spPr>
      </p:sp>
      <p:sp>
        <p:nvSpPr>
          <p:cNvPr id="40" name="Text 38"/>
          <p:cNvSpPr/>
          <p:nvPr/>
        </p:nvSpPr>
        <p:spPr>
          <a:xfrm>
            <a:off x="521208" y="3031236"/>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18212F"/>
                </a:solidFill>
              </a:rPr>
              <a:t>GPU Hessian diagonal</a:t>
            </a:r>
            <a:endParaRPr lang="en-US" sz="1070" dirty="0"/>
          </a:p>
        </p:txBody>
      </p:sp>
      <p:sp>
        <p:nvSpPr>
          <p:cNvPr id="41" name="Shape 39"/>
          <p:cNvSpPr/>
          <p:nvPr/>
        </p:nvSpPr>
        <p:spPr>
          <a:xfrm>
            <a:off x="2971800" y="2944368"/>
            <a:ext cx="4251960" cy="347472"/>
          </a:xfrm>
          <a:prstGeom prst="rect">
            <a:avLst/>
          </a:prstGeom>
          <a:solidFill>
            <a:srgbClr val="FFFFFF"/>
          </a:solidFill>
          <a:ln w="5715">
            <a:solidFill>
              <a:srgbClr val="F7F8FA"/>
            </a:solidFill>
            <a:prstDash val="solid"/>
          </a:ln>
        </p:spPr>
      </p:sp>
      <p:sp>
        <p:nvSpPr>
          <p:cNvPr id="42" name="Text 40"/>
          <p:cNvSpPr/>
          <p:nvPr/>
        </p:nvSpPr>
        <p:spPr>
          <a:xfrm>
            <a:off x="3035808" y="3031236"/>
            <a:ext cx="412394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0.919 [0.909, 0.924] / 0.39%</a:t>
            </a:r>
            <a:endParaRPr lang="en-US" sz="1070" dirty="0"/>
          </a:p>
        </p:txBody>
      </p:sp>
      <p:sp>
        <p:nvSpPr>
          <p:cNvPr id="43" name="Shape 41"/>
          <p:cNvSpPr/>
          <p:nvPr/>
        </p:nvSpPr>
        <p:spPr>
          <a:xfrm>
            <a:off x="7223760" y="2944368"/>
            <a:ext cx="4434840" cy="347472"/>
          </a:xfrm>
          <a:prstGeom prst="rect">
            <a:avLst/>
          </a:prstGeom>
          <a:solidFill>
            <a:srgbClr val="FFFFFF"/>
          </a:solidFill>
          <a:ln w="5715">
            <a:solidFill>
              <a:srgbClr val="F7F8FA"/>
            </a:solidFill>
            <a:prstDash val="solid"/>
          </a:ln>
        </p:spPr>
      </p:sp>
      <p:sp>
        <p:nvSpPr>
          <p:cNvPr id="44" name="Text 42"/>
          <p:cNvSpPr/>
          <p:nvPr/>
        </p:nvSpPr>
        <p:spPr>
          <a:xfrm>
            <a:off x="7287768" y="3031236"/>
            <a:ext cx="430682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0.919 [0.909, 0.924] / 0.41%</a:t>
            </a:r>
            <a:endParaRPr lang="en-US" sz="1070" dirty="0"/>
          </a:p>
        </p:txBody>
      </p:sp>
      <p:sp>
        <p:nvSpPr>
          <p:cNvPr id="45" name="Shape 43"/>
          <p:cNvSpPr/>
          <p:nvPr/>
        </p:nvSpPr>
        <p:spPr>
          <a:xfrm>
            <a:off x="457200" y="3291840"/>
            <a:ext cx="2514600" cy="347472"/>
          </a:xfrm>
          <a:prstGeom prst="rect">
            <a:avLst/>
          </a:prstGeom>
          <a:solidFill>
            <a:srgbClr val="F0F4F7"/>
          </a:solidFill>
          <a:ln w="5715">
            <a:solidFill>
              <a:srgbClr val="F7F8FA"/>
            </a:solidFill>
            <a:prstDash val="solid"/>
          </a:ln>
        </p:spPr>
      </p:sp>
      <p:sp>
        <p:nvSpPr>
          <p:cNvPr id="46" name="Text 44"/>
          <p:cNvSpPr/>
          <p:nvPr/>
        </p:nvSpPr>
        <p:spPr>
          <a:xfrm>
            <a:off x="521208" y="3378708"/>
            <a:ext cx="2386584" cy="210312"/>
          </a:xfrm>
          <a:prstGeom prst="rect">
            <a:avLst/>
          </a:prstGeom>
          <a:noFill/>
          <a:ln/>
        </p:spPr>
        <p:txBody>
          <a:bodyPr wrap="square" lIns="0" tIns="0" rIns="0" bIns="0" rtlCol="0" anchor="ctr">
            <a:normAutofit/>
          </a:bodyPr>
          <a:lstStyle/>
          <a:p>
            <a:pPr algn="l" indent="0" marL="0">
              <a:buNone/>
            </a:pPr>
            <a:r>
              <a:rPr lang="en-US" sz="1070" b="1" dirty="0">
                <a:solidFill>
                  <a:srgbClr val="18212F"/>
                </a:solidFill>
              </a:rPr>
              <a:t>GPU dense Schur combined</a:t>
            </a:r>
            <a:endParaRPr lang="en-US" sz="1070" dirty="0"/>
          </a:p>
        </p:txBody>
      </p:sp>
      <p:sp>
        <p:nvSpPr>
          <p:cNvPr id="47" name="Shape 45"/>
          <p:cNvSpPr/>
          <p:nvPr/>
        </p:nvSpPr>
        <p:spPr>
          <a:xfrm>
            <a:off x="2971800" y="3291840"/>
            <a:ext cx="4251960" cy="347472"/>
          </a:xfrm>
          <a:prstGeom prst="rect">
            <a:avLst/>
          </a:prstGeom>
          <a:solidFill>
            <a:srgbClr val="F0F4F7"/>
          </a:solidFill>
          <a:ln w="5715">
            <a:solidFill>
              <a:srgbClr val="F7F8FA"/>
            </a:solidFill>
            <a:prstDash val="solid"/>
          </a:ln>
        </p:spPr>
      </p:sp>
      <p:sp>
        <p:nvSpPr>
          <p:cNvPr id="48" name="Text 46"/>
          <p:cNvSpPr/>
          <p:nvPr/>
        </p:nvSpPr>
        <p:spPr>
          <a:xfrm>
            <a:off x="3035808" y="3378708"/>
            <a:ext cx="412394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7.513 [7.468, 7.576] / 0.42%</a:t>
            </a:r>
            <a:endParaRPr lang="en-US" sz="1070" dirty="0"/>
          </a:p>
        </p:txBody>
      </p:sp>
      <p:sp>
        <p:nvSpPr>
          <p:cNvPr id="49" name="Shape 47"/>
          <p:cNvSpPr/>
          <p:nvPr/>
        </p:nvSpPr>
        <p:spPr>
          <a:xfrm>
            <a:off x="7223760" y="3291840"/>
            <a:ext cx="4434840" cy="347472"/>
          </a:xfrm>
          <a:prstGeom prst="rect">
            <a:avLst/>
          </a:prstGeom>
          <a:solidFill>
            <a:srgbClr val="F0F4F7"/>
          </a:solidFill>
          <a:ln w="5715">
            <a:solidFill>
              <a:srgbClr val="F7F8FA"/>
            </a:solidFill>
            <a:prstDash val="solid"/>
          </a:ln>
        </p:spPr>
      </p:sp>
      <p:sp>
        <p:nvSpPr>
          <p:cNvPr id="50" name="Text 48"/>
          <p:cNvSpPr/>
          <p:nvPr/>
        </p:nvSpPr>
        <p:spPr>
          <a:xfrm>
            <a:off x="7287768" y="3378708"/>
            <a:ext cx="4306824" cy="210312"/>
          </a:xfrm>
          <a:prstGeom prst="rect">
            <a:avLst/>
          </a:prstGeom>
          <a:noFill/>
          <a:ln/>
        </p:spPr>
        <p:txBody>
          <a:bodyPr wrap="square" lIns="0" tIns="0" rIns="0" bIns="0" rtlCol="0" anchor="ctr">
            <a:normAutofit/>
          </a:bodyPr>
          <a:lstStyle/>
          <a:p>
            <a:pPr algn="ctr" indent="0" marL="0">
              <a:buNone/>
            </a:pPr>
            <a:r>
              <a:rPr lang="en-US" sz="1070" dirty="0">
                <a:solidFill>
                  <a:srgbClr val="18212F"/>
                </a:solidFill>
              </a:rPr>
              <a:t>7.516 [7.468, 7.576] / 0.43%</a:t>
            </a:r>
            <a:endParaRPr lang="en-US" sz="1070" dirty="0"/>
          </a:p>
        </p:txBody>
      </p:sp>
      <p:sp>
        <p:nvSpPr>
          <p:cNvPr id="51" name="Shape 49"/>
          <p:cNvSpPr/>
          <p:nvPr/>
        </p:nvSpPr>
        <p:spPr>
          <a:xfrm>
            <a:off x="457200" y="4160520"/>
            <a:ext cx="5349240" cy="1417320"/>
          </a:xfrm>
          <a:prstGeom prst="rect">
            <a:avLst/>
          </a:prstGeom>
          <a:solidFill>
            <a:srgbClr val="FEF4E3"/>
          </a:solidFill>
          <a:ln w="9525">
            <a:solidFill>
              <a:srgbClr val="E7EBF0"/>
            </a:solidFill>
            <a:prstDash val="solid"/>
          </a:ln>
        </p:spPr>
      </p:sp>
      <p:sp>
        <p:nvSpPr>
          <p:cNvPr id="52" name="Shape 50"/>
          <p:cNvSpPr/>
          <p:nvPr/>
        </p:nvSpPr>
        <p:spPr>
          <a:xfrm>
            <a:off x="457200" y="4160520"/>
            <a:ext cx="64008" cy="1417320"/>
          </a:xfrm>
          <a:prstGeom prst="rect">
            <a:avLst/>
          </a:prstGeom>
          <a:solidFill>
            <a:srgbClr val="F2A23A"/>
          </a:solidFill>
          <a:ln w="12700">
            <a:solidFill>
              <a:srgbClr val="F2A23A"/>
            </a:solidFill>
            <a:prstDash val="solid"/>
          </a:ln>
        </p:spPr>
      </p:sp>
      <p:sp>
        <p:nvSpPr>
          <p:cNvPr id="53" name="Text 51"/>
          <p:cNvSpPr/>
          <p:nvPr/>
        </p:nvSpPr>
        <p:spPr>
          <a:xfrm>
            <a:off x="731520" y="4416552"/>
            <a:ext cx="4800600" cy="182880"/>
          </a:xfrm>
          <a:prstGeom prst="rect">
            <a:avLst/>
          </a:prstGeom>
          <a:noFill/>
          <a:ln/>
        </p:spPr>
        <p:txBody>
          <a:bodyPr wrap="square" lIns="0" tIns="0" rIns="0" bIns="0" rtlCol="0" anchor="ctr"/>
          <a:lstStyle/>
          <a:p>
            <a:pPr algn="ctr" indent="0" marL="0">
              <a:buNone/>
            </a:pPr>
            <a:r>
              <a:rPr lang="en-US" sz="1500" b="1" dirty="0">
                <a:solidFill>
                  <a:srgbClr val="F2A23A"/>
                </a:solidFill>
              </a:rPr>
              <a:t>First-index sensitivity</a:t>
            </a:r>
            <a:endParaRPr lang="en-US" sz="1500" dirty="0"/>
          </a:p>
        </p:txBody>
      </p:sp>
      <p:sp>
        <p:nvSpPr>
          <p:cNvPr id="54" name="Text 52"/>
          <p:cNvSpPr/>
          <p:nvPr/>
        </p:nvSpPr>
        <p:spPr>
          <a:xfrm>
            <a:off x="731520" y="4773168"/>
            <a:ext cx="4800600" cy="347472"/>
          </a:xfrm>
          <a:prstGeom prst="rect">
            <a:avLst/>
          </a:prstGeom>
          <a:noFill/>
          <a:ln/>
        </p:spPr>
        <p:txBody>
          <a:bodyPr wrap="square" lIns="0" tIns="0" rIns="0" bIns="0" rtlCol="0" anchor="ctr">
            <a:normAutofit/>
          </a:bodyPr>
          <a:lstStyle/>
          <a:p>
            <a:pPr algn="ctr" indent="0" marL="0">
              <a:buNone/>
            </a:pPr>
            <a:r>
              <a:rPr lang="en-US" sz="1220" dirty="0">
                <a:solidFill>
                  <a:srgbClr val="18212F"/>
                </a:solidFill>
              </a:rPr>
              <a:t>Index-aligned CPU subtotal: repeat 0 mean 80.752 ms, repeat 1 mean 56.881 ms, repeat 2 mean 57.024 ms. Repeat 0 is materially slower.</a:t>
            </a:r>
            <a:endParaRPr lang="en-US" sz="1220" dirty="0"/>
          </a:p>
        </p:txBody>
      </p:sp>
      <p:sp>
        <p:nvSpPr>
          <p:cNvPr id="55" name="Shape 53"/>
          <p:cNvSpPr/>
          <p:nvPr/>
        </p:nvSpPr>
        <p:spPr>
          <a:xfrm>
            <a:off x="6080760" y="4160520"/>
            <a:ext cx="5650992" cy="1417320"/>
          </a:xfrm>
          <a:prstGeom prst="rect">
            <a:avLst/>
          </a:prstGeom>
          <a:solidFill>
            <a:srgbClr val="EAF6F7"/>
          </a:solidFill>
          <a:ln w="9525">
            <a:solidFill>
              <a:srgbClr val="E7EBF0"/>
            </a:solidFill>
            <a:prstDash val="solid"/>
          </a:ln>
        </p:spPr>
      </p:sp>
      <p:sp>
        <p:nvSpPr>
          <p:cNvPr id="56" name="Shape 54"/>
          <p:cNvSpPr/>
          <p:nvPr/>
        </p:nvSpPr>
        <p:spPr>
          <a:xfrm>
            <a:off x="6080760" y="4160520"/>
            <a:ext cx="64008" cy="1417320"/>
          </a:xfrm>
          <a:prstGeom prst="rect">
            <a:avLst/>
          </a:prstGeom>
          <a:solidFill>
            <a:srgbClr val="0E7C86"/>
          </a:solidFill>
          <a:ln w="12700">
            <a:solidFill>
              <a:srgbClr val="0E7C86"/>
            </a:solidFill>
            <a:prstDash val="solid"/>
          </a:ln>
        </p:spPr>
      </p:sp>
      <p:sp>
        <p:nvSpPr>
          <p:cNvPr id="57" name="Text 55"/>
          <p:cNvSpPr/>
          <p:nvPr/>
        </p:nvSpPr>
        <p:spPr>
          <a:xfrm>
            <a:off x="6355080" y="4416552"/>
            <a:ext cx="5102352" cy="182880"/>
          </a:xfrm>
          <a:prstGeom prst="rect">
            <a:avLst/>
          </a:prstGeom>
          <a:noFill/>
          <a:ln/>
        </p:spPr>
        <p:txBody>
          <a:bodyPr wrap="square" lIns="0" tIns="0" rIns="0" bIns="0" rtlCol="0" anchor="ctr"/>
          <a:lstStyle/>
          <a:p>
            <a:pPr algn="ctr" indent="0" marL="0">
              <a:buNone/>
            </a:pPr>
            <a:r>
              <a:rPr lang="en-US" sz="1500" b="1" dirty="0">
                <a:solidFill>
                  <a:srgbClr val="0E7C86"/>
                </a:solidFill>
              </a:rPr>
              <a:t>Exact transfer formula and provenance</a:t>
            </a:r>
            <a:endParaRPr lang="en-US" sz="1500" dirty="0"/>
          </a:p>
        </p:txBody>
      </p:sp>
      <p:sp>
        <p:nvSpPr>
          <p:cNvPr id="58" name="Text 56"/>
          <p:cNvSpPr/>
          <p:nvPr/>
        </p:nvSpPr>
        <p:spPr>
          <a:xfrm>
            <a:off x="6355080" y="4718304"/>
            <a:ext cx="5102352" cy="502920"/>
          </a:xfrm>
          <a:prstGeom prst="rect">
            <a:avLst/>
          </a:prstGeom>
          <a:noFill/>
          <a:ln/>
        </p:spPr>
        <p:txBody>
          <a:bodyPr wrap="square" lIns="0" tIns="0" rIns="0" bIns="0" rtlCol="0" anchor="ctr">
            <a:normAutofit/>
          </a:bodyPr>
          <a:lstStyle/>
          <a:p>
            <a:pPr algn="ctr" indent="0" marL="0">
              <a:buNone/>
            </a:pPr>
            <a:r>
              <a:rPr lang="en-US" sz="1120" dirty="0">
                <a:solidFill>
                  <a:srgbClr val="18212F"/>
                </a:solidFill>
              </a:rPr>
              <a:t>553,336 x (24 Jacobian + 2 residual) x 8 B = 115,093,888 B = 115.1 MB. / 9.50 GiB/s = 11.284 ms. Dataset: dubrovnik-135-90642-pre.txt; AMD EPYC Milan, NVIDIA A100 80 GB PCIe; CUDA, driver, and TBB thread configuration not recorded.</a:t>
            </a:r>
            <a:endParaRPr lang="en-US" sz="1120" dirty="0"/>
          </a:p>
        </p:txBody>
      </p:sp>
      <p:sp>
        <p:nvSpPr>
          <p:cNvPr id="59" name="Text 57"/>
          <p:cNvSpPr/>
          <p:nvPr/>
        </p:nvSpPr>
        <p:spPr>
          <a:xfrm>
            <a:off x="457200" y="5870448"/>
            <a:ext cx="11155680" cy="320040"/>
          </a:xfrm>
          <a:prstGeom prst="rect">
            <a:avLst/>
          </a:prstGeom>
          <a:noFill/>
          <a:ln/>
        </p:spPr>
        <p:txBody>
          <a:bodyPr wrap="square" lIns="0" tIns="0" rIns="0" bIns="0" rtlCol="0" anchor="ctr">
            <a:normAutofit/>
          </a:bodyPr>
          <a:lstStyle/>
          <a:p>
            <a:pPr algn="ctr" indent="0" marL="0">
              <a:buNone/>
            </a:pPr>
            <a:r>
              <a:rPr lang="en-US" sz="1080" b="1" dirty="0">
                <a:solidFill>
                  <a:srgbClr val="D95D54"/>
                </a:solidFill>
              </a:rPr>
              <a:t>Scope caveats: CPU loops and GPU references are independently timed; the synthetic arithmetic does not measure sparse packing/layout, repeated upload, delta download/mapping, or LM convergence. All-sample lower bound: 64.803 ms. Repeat-0-excluded lower bound: 62.139 ms. With estimated transfer: 73.422 ms.</a:t>
            </a:r>
            <a:endParaRPr lang="en-US" sz="1080" dirty="0"/>
          </a:p>
        </p:txBody>
      </p:sp>
      <p:sp>
        <p:nvSpPr>
          <p:cNvPr id="60" name="Text 58"/>
          <p:cNvSpPr/>
          <p:nvPr/>
        </p:nvSpPr>
        <p:spPr>
          <a:xfrm>
            <a:off x="530352" y="6528816"/>
            <a:ext cx="7132320" cy="137160"/>
          </a:xfrm>
          <a:prstGeom prst="rect">
            <a:avLst/>
          </a:prstGeom>
          <a:noFill/>
          <a:ln/>
        </p:spPr>
        <p:txBody>
          <a:bodyPr wrap="square" lIns="0" tIns="0" rIns="0" bIns="0" rtlCol="0" anchor="ctr">
            <a:normAutofit/>
          </a:bodyPr>
          <a:lstStyle/>
          <a:p>
            <a:pPr indent="0" marL="0">
              <a:buNone/>
            </a:pPr>
            <a:r>
              <a:rPr lang="en-US" sz="850" dirty="0">
                <a:solidFill>
                  <a:srgbClr val="7B8490"/>
                </a:solidFill>
              </a:rPr>
              <a:t>Appendix | hybrid feasibility provenance | B</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GTSAM CUDA SFM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CUDA SFM LM progress</dc:title>
  <dc:subject>CUDA SFM LM progress and hybrid baseline feasibility</dc:subject>
  <dc:creator>cu-gtsam benchmark</dc:creator>
  <cp:lastModifiedBy>cu-gtsam benchmark</cp:lastModifiedBy>
  <cp:revision>1</cp:revision>
  <dcterms:created xsi:type="dcterms:W3CDTF">2026-07-10T11:01:01Z</dcterms:created>
  <dcterms:modified xsi:type="dcterms:W3CDTF">2026-07-10T11:01:01Z</dcterms:modified>
</cp:coreProperties>
</file>