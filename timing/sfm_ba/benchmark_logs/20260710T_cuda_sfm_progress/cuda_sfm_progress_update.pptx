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I will first show the measured timing for the current specialized CUDA SFM path on Dubrovnik 135 with dense Schur and three LM iterations. Then I will use separate feasibility measurements to motivate, but not claim success for, a more general hybrid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Start from the left: the user-facing input is a normal GTSAM graph and Values. The specialized path must scan and convert that representation to SFM arrays before CUDA can act. After the backend returns, the result must be rebuilt as Values and merged back into the original state. These boundaries are important because they are part of the measured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complete public API timing. Warm-up on a small problem was excluded and this is the mean of three runs. Nearly eighty-eight percent of the total is optimize, so I now unpack that call. I am keeping construction and result queries visible because they establish the scope and prevent us from silently calling a partial number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detailed optimize decomposition. Graph conversion is 114.246 milliseconds: it is CPU work creating the specialized representation. The CUDA backend is 137.542 milliseconds. On the way back, Values merge and destruction of converted data add almost 98 milliseconds. That makes conversion and object/state management major optimization targets, rather than an afterthought around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Inside the backend, setup is almost half of the time and download plus Values reconstruction is another twenty-nine percent. The solve loop is only 29.968 milliseconds. Its largest part is dense Schur at 23.009 milliseconds. In contrast, the raw D2H copy is only 0.615 milliseconds: much of download time is host work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comparison puts the relative scale in one place. Pure specialized H2D plus D2H is 1.936 milliseconds, under half a percent of the graph API. The dense-Schur solve loop is also smaller than graph conversion and Values merge. The careful conclusion is not that transfer never matters; it is that it is not the dominant cost in this measured specialized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am calling it Ceres-style separation because it follows the useful conceptual split between nonlinear evaluation and a selectable linear-algebra backend. I am not claiming it exactly describes every Ceres path. The purpose is to keep arbitrary GTSAM factors on CPU while putting a generic linear system on the GPU, which removes the need for the existing SFM-only graph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A 115.1 MB generic Jacobian-transfer estimate adds 11.284 milliseconds. Neither number is an end-to-end runtime, and neither should be visually compared against the three-iteration 426.223 millisecond API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The measured evidence says the CPU nonlinear pieces are sufficiently small to be worth implementing as a hybrid baseline. It does not say the hybrid is faster end-to-end. The expected immediate benefit is generality and removal of the specialized SFM conversion. The next experiment needs cached sparse structure, direct numeric fill, numeric upload, a GPU solve, and then actual CPU retraction and error checks inside a full converging LM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graph, current variable state, and factor ownership.</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86200"/>
            <a:ext cx="2926080" cy="210312"/>
          </a:xfrm>
          <a:prstGeom prst="rect">
            <a:avLst/>
          </a:prstGeom>
          <a:noFill/>
          <a:ln/>
        </p:spPr>
        <p:txBody>
          <a:bodyPr wrap="square" lIns="0" tIns="0" rIns="0" bIns="0" rtlCol="0" anchor="ctr"/>
          <a:lstStyle/>
          <a:p>
            <a:pPr indent="0" marL="0">
              <a:buNone/>
            </a:pPr>
            <a:r>
              <a:rPr lang="en-US" sz="1700" b="1" dirty="0">
                <a:solidFill>
                  <a:srgbClr val="18212F"/>
                </a:solidFill>
              </a:rPr>
              <a:t>Boundary responsibilities</a:t>
            </a:r>
            <a:endParaRPr lang="en-US" sz="1700" dirty="0"/>
          </a:p>
        </p:txBody>
      </p:sp>
      <p:sp>
        <p:nvSpPr>
          <p:cNvPr id="32" name="Shape 30"/>
          <p:cNvSpPr/>
          <p:nvPr/>
        </p:nvSpPr>
        <p:spPr>
          <a:xfrm>
            <a:off x="658368" y="4224528"/>
            <a:ext cx="1965960" cy="429768"/>
          </a:xfrm>
          <a:prstGeom prst="rect">
            <a:avLst/>
          </a:prstGeom>
          <a:solidFill>
            <a:srgbClr val="1F2A44"/>
          </a:solidFill>
          <a:ln w="5715">
            <a:solidFill>
              <a:srgbClr val="F7F8FA"/>
            </a:solidFill>
            <a:prstDash val="solid"/>
          </a:ln>
        </p:spPr>
      </p:sp>
      <p:sp>
        <p:nvSpPr>
          <p:cNvPr id="33" name="Text 31"/>
          <p:cNvSpPr/>
          <p:nvPr/>
        </p:nvSpPr>
        <p:spPr>
          <a:xfrm>
            <a:off x="722376" y="431139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24528"/>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11396"/>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24528"/>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11396"/>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54296"/>
            <a:ext cx="1965960" cy="429768"/>
          </a:xfrm>
          <a:prstGeom prst="rect">
            <a:avLst/>
          </a:prstGeom>
          <a:solidFill>
            <a:srgbClr val="FFFFFF"/>
          </a:solidFill>
          <a:ln w="5715">
            <a:solidFill>
              <a:srgbClr val="F7F8FA"/>
            </a:solidFill>
            <a:prstDash val="solid"/>
          </a:ln>
        </p:spPr>
      </p:sp>
      <p:sp>
        <p:nvSpPr>
          <p:cNvPr id="39" name="Text 37"/>
          <p:cNvSpPr/>
          <p:nvPr/>
        </p:nvSpPr>
        <p:spPr>
          <a:xfrm>
            <a:off x="722376" y="4741164"/>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54296"/>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41164"/>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54296"/>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41164"/>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084064"/>
            <a:ext cx="1965960" cy="429768"/>
          </a:xfrm>
          <a:prstGeom prst="rect">
            <a:avLst/>
          </a:prstGeom>
          <a:solidFill>
            <a:srgbClr val="F0F4F7"/>
          </a:solidFill>
          <a:ln w="5715">
            <a:solidFill>
              <a:srgbClr val="F7F8FA"/>
            </a:solidFill>
            <a:prstDash val="solid"/>
          </a:ln>
        </p:spPr>
      </p:sp>
      <p:sp>
        <p:nvSpPr>
          <p:cNvPr id="45" name="Text 43"/>
          <p:cNvSpPr/>
          <p:nvPr/>
        </p:nvSpPr>
        <p:spPr>
          <a:xfrm>
            <a:off x="722376" y="517093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084064"/>
            <a:ext cx="3520440" cy="429768"/>
          </a:xfrm>
          <a:prstGeom prst="rect">
            <a:avLst/>
          </a:prstGeom>
          <a:solidFill>
            <a:srgbClr val="F0F4F7"/>
          </a:solidFill>
          <a:ln w="5715">
            <a:solidFill>
              <a:srgbClr val="F7F8FA"/>
            </a:solidFill>
            <a:prstDash val="solid"/>
          </a:ln>
        </p:spPr>
      </p:sp>
      <p:sp>
        <p:nvSpPr>
          <p:cNvPr id="47" name="Text 45"/>
          <p:cNvSpPr/>
          <p:nvPr/>
        </p:nvSpPr>
        <p:spPr>
          <a:xfrm>
            <a:off x="2688336" y="5170932"/>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084064"/>
            <a:ext cx="5394960" cy="429768"/>
          </a:xfrm>
          <a:prstGeom prst="rect">
            <a:avLst/>
          </a:prstGeom>
          <a:solidFill>
            <a:srgbClr val="F0F4F7"/>
          </a:solidFill>
          <a:ln w="5715">
            <a:solidFill>
              <a:srgbClr val="F7F8FA"/>
            </a:solidFill>
            <a:prstDash val="solid"/>
          </a:ln>
        </p:spPr>
      </p:sp>
      <p:sp>
        <p:nvSpPr>
          <p:cNvPr id="49" name="Text 47"/>
          <p:cNvSpPr/>
          <p:nvPr/>
        </p:nvSpPr>
        <p:spPr>
          <a:xfrm>
            <a:off x="6208776" y="5170932"/>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13832"/>
            <a:ext cx="1965960" cy="429768"/>
          </a:xfrm>
          <a:prstGeom prst="rect">
            <a:avLst/>
          </a:prstGeom>
          <a:solidFill>
            <a:srgbClr val="FFFFFF"/>
          </a:solidFill>
          <a:ln w="5715">
            <a:solidFill>
              <a:srgbClr val="F7F8FA"/>
            </a:solidFill>
            <a:prstDash val="solid"/>
          </a:ln>
        </p:spPr>
      </p:sp>
      <p:sp>
        <p:nvSpPr>
          <p:cNvPr id="51" name="Text 49"/>
          <p:cNvSpPr/>
          <p:nvPr/>
        </p:nvSpPr>
        <p:spPr>
          <a:xfrm>
            <a:off x="722376" y="560070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13832"/>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0070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13832"/>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0070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05332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the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2834640" cy="182880"/>
          </a:xfrm>
          <a:prstGeom prst="rect">
            <a:avLst/>
          </a:prstGeom>
          <a:noFill/>
          <a:ln/>
        </p:spPr>
        <p:txBody>
          <a:bodyPr wrap="square" lIns="0" tIns="0" rIns="0" bIns="0" rtlCol="0" anchor="ct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989320"/>
            <a:ext cx="10789920" cy="155448"/>
          </a:xfrm>
          <a:prstGeom prst="rect">
            <a:avLst/>
          </a:prstGeom>
          <a:noFill/>
          <a:ln/>
        </p:spPr>
        <p:txBody>
          <a:bodyPr wrap="square" lIns="0" tIns="0" rIns="0" bIns="0" rtlCol="0" anchor="ctr">
            <a:normAutofit/>
          </a:bodyPr>
          <a:lstStyle/>
          <a:p>
            <a:pPr indent="0" marL="0">
              <a:buNone/>
            </a:pPr>
            <a:r>
              <a:rPr lang="en-US" sz="950" dirty="0">
                <a:solidFill>
                  <a:srgbClr val="5A6472"/>
                </a:solidFill>
              </a:rPr>
              <a:t>Sources: https://ceres-solver.readthedocs.io/latest/installation.html | https://ceres-solver.readthedocs.io/latest/nnls_solving.html</a:t>
            </a:r>
            <a:endParaRPr lang="en-US" sz="950" dirty="0"/>
          </a:p>
        </p:txBody>
      </p:sp>
      <p:sp>
        <p:nvSpPr>
          <p:cNvPr id="45" name="Text 43"/>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658368" y="1335024"/>
            <a:ext cx="3383280" cy="411480"/>
          </a:xfrm>
          <a:prstGeom prst="rect">
            <a:avLst/>
          </a:prstGeom>
          <a:solidFill>
            <a:srgbClr val="0E7C86"/>
          </a:solidFill>
          <a:ln w="5715">
            <a:solidFill>
              <a:srgbClr val="F7F8FA"/>
            </a:solidFill>
            <a:prstDash val="solid"/>
          </a:ln>
        </p:spPr>
      </p:sp>
      <p:sp>
        <p:nvSpPr>
          <p:cNvPr id="10" name="Text 8"/>
          <p:cNvSpPr/>
          <p:nvPr/>
        </p:nvSpPr>
        <p:spPr>
          <a:xfrm>
            <a:off x="722376" y="142189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Measured CPU operation</a:t>
            </a:r>
            <a:endParaRPr lang="en-US" sz="1300" dirty="0"/>
          </a:p>
        </p:txBody>
      </p:sp>
      <p:sp>
        <p:nvSpPr>
          <p:cNvPr id="11" name="Shape 9"/>
          <p:cNvSpPr/>
          <p:nvPr/>
        </p:nvSpPr>
        <p:spPr>
          <a:xfrm>
            <a:off x="4041648" y="1335024"/>
            <a:ext cx="1554480" cy="411480"/>
          </a:xfrm>
          <a:prstGeom prst="rect">
            <a:avLst/>
          </a:prstGeom>
          <a:solidFill>
            <a:srgbClr val="0E7C86"/>
          </a:solidFill>
          <a:ln w="5715">
            <a:solidFill>
              <a:srgbClr val="F7F8FA"/>
            </a:solidFill>
            <a:prstDash val="solid"/>
          </a:ln>
        </p:spPr>
      </p:sp>
      <p:sp>
        <p:nvSpPr>
          <p:cNvPr id="12" name="Text 10"/>
          <p:cNvSpPr/>
          <p:nvPr/>
        </p:nvSpPr>
        <p:spPr>
          <a:xfrm>
            <a:off x="4105656" y="1421892"/>
            <a:ext cx="1426464" cy="274320"/>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3" name="Shape 11"/>
          <p:cNvSpPr/>
          <p:nvPr/>
        </p:nvSpPr>
        <p:spPr>
          <a:xfrm>
            <a:off x="5596128" y="1335024"/>
            <a:ext cx="2971800" cy="411480"/>
          </a:xfrm>
          <a:prstGeom prst="rect">
            <a:avLst/>
          </a:prstGeom>
          <a:solidFill>
            <a:srgbClr val="0E7C86"/>
          </a:solidFill>
          <a:ln w="5715">
            <a:solidFill>
              <a:srgbClr val="F7F8FA"/>
            </a:solidFill>
            <a:prstDash val="solid"/>
          </a:ln>
        </p:spPr>
      </p:sp>
      <p:sp>
        <p:nvSpPr>
          <p:cNvPr id="14" name="Text 12"/>
          <p:cNvSpPr/>
          <p:nvPr/>
        </p:nvSpPr>
        <p:spPr>
          <a:xfrm>
            <a:off x="5660136" y="1421892"/>
            <a:ext cx="284378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Role</a:t>
            </a:r>
            <a:endParaRPr lang="en-US" sz="1300" dirty="0"/>
          </a:p>
        </p:txBody>
      </p:sp>
      <p:sp>
        <p:nvSpPr>
          <p:cNvPr id="15" name="Shape 13"/>
          <p:cNvSpPr/>
          <p:nvPr/>
        </p:nvSpPr>
        <p:spPr>
          <a:xfrm>
            <a:off x="658368" y="1746504"/>
            <a:ext cx="3383280" cy="411480"/>
          </a:xfrm>
          <a:prstGeom prst="rect">
            <a:avLst/>
          </a:prstGeom>
          <a:solidFill>
            <a:srgbClr val="FFFFFF"/>
          </a:solidFill>
          <a:ln w="5715">
            <a:solidFill>
              <a:srgbClr val="F7F8FA"/>
            </a:solidFill>
            <a:prstDash val="solid"/>
          </a:ln>
        </p:spPr>
      </p:sp>
      <p:sp>
        <p:nvSpPr>
          <p:cNvPr id="16" name="Text 14"/>
          <p:cNvSpPr/>
          <p:nvPr/>
        </p:nvSpPr>
        <p:spPr>
          <a:xfrm>
            <a:off x="722376" y="183337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7" name="Shape 15"/>
          <p:cNvSpPr/>
          <p:nvPr/>
        </p:nvSpPr>
        <p:spPr>
          <a:xfrm>
            <a:off x="4041648" y="1746504"/>
            <a:ext cx="1554480" cy="411480"/>
          </a:xfrm>
          <a:prstGeom prst="rect">
            <a:avLst/>
          </a:prstGeom>
          <a:solidFill>
            <a:srgbClr val="FFFFFF"/>
          </a:solidFill>
          <a:ln w="5715">
            <a:solidFill>
              <a:srgbClr val="F7F8FA"/>
            </a:solidFill>
            <a:prstDash val="solid"/>
          </a:ln>
        </p:spPr>
      </p:sp>
      <p:sp>
        <p:nvSpPr>
          <p:cNvPr id="18" name="Text 16"/>
          <p:cNvSpPr/>
          <p:nvPr/>
        </p:nvSpPr>
        <p:spPr>
          <a:xfrm>
            <a:off x="4105656" y="183337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19" name="Shape 17"/>
          <p:cNvSpPr/>
          <p:nvPr/>
        </p:nvSpPr>
        <p:spPr>
          <a:xfrm>
            <a:off x="5596128" y="1746504"/>
            <a:ext cx="2971800" cy="411480"/>
          </a:xfrm>
          <a:prstGeom prst="rect">
            <a:avLst/>
          </a:prstGeom>
          <a:solidFill>
            <a:srgbClr val="FFFFFF"/>
          </a:solidFill>
          <a:ln w="5715">
            <a:solidFill>
              <a:srgbClr val="F7F8FA"/>
            </a:solidFill>
            <a:prstDash val="solid"/>
          </a:ln>
        </p:spPr>
      </p:sp>
      <p:sp>
        <p:nvSpPr>
          <p:cNvPr id="20" name="Text 18"/>
          <p:cNvSpPr/>
          <p:nvPr/>
        </p:nvSpPr>
        <p:spPr>
          <a:xfrm>
            <a:off x="5660136" y="183337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1" name="Shape 19"/>
          <p:cNvSpPr/>
          <p:nvPr/>
        </p:nvSpPr>
        <p:spPr>
          <a:xfrm>
            <a:off x="658368" y="2157984"/>
            <a:ext cx="3383280" cy="411480"/>
          </a:xfrm>
          <a:prstGeom prst="rect">
            <a:avLst/>
          </a:prstGeom>
          <a:solidFill>
            <a:srgbClr val="F0F4F7"/>
          </a:solidFill>
          <a:ln w="5715">
            <a:solidFill>
              <a:srgbClr val="F7F8FA"/>
            </a:solidFill>
            <a:prstDash val="solid"/>
          </a:ln>
        </p:spPr>
      </p:sp>
      <p:sp>
        <p:nvSpPr>
          <p:cNvPr id="22" name="Text 20"/>
          <p:cNvSpPr/>
          <p:nvPr/>
        </p:nvSpPr>
        <p:spPr>
          <a:xfrm>
            <a:off x="722376" y="224485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3" name="Shape 21"/>
          <p:cNvSpPr/>
          <p:nvPr/>
        </p:nvSpPr>
        <p:spPr>
          <a:xfrm>
            <a:off x="4041648" y="2157984"/>
            <a:ext cx="1554480" cy="411480"/>
          </a:xfrm>
          <a:prstGeom prst="rect">
            <a:avLst/>
          </a:prstGeom>
          <a:solidFill>
            <a:srgbClr val="F0F4F7"/>
          </a:solidFill>
          <a:ln w="5715">
            <a:solidFill>
              <a:srgbClr val="F7F8FA"/>
            </a:solidFill>
            <a:prstDash val="solid"/>
          </a:ln>
        </p:spPr>
      </p:sp>
      <p:sp>
        <p:nvSpPr>
          <p:cNvPr id="24" name="Text 22"/>
          <p:cNvSpPr/>
          <p:nvPr/>
        </p:nvSpPr>
        <p:spPr>
          <a:xfrm>
            <a:off x="4105656" y="224485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5" name="Shape 23"/>
          <p:cNvSpPr/>
          <p:nvPr/>
        </p:nvSpPr>
        <p:spPr>
          <a:xfrm>
            <a:off x="5596128" y="2157984"/>
            <a:ext cx="2971800" cy="411480"/>
          </a:xfrm>
          <a:prstGeom prst="rect">
            <a:avLst/>
          </a:prstGeom>
          <a:solidFill>
            <a:srgbClr val="F0F4F7"/>
          </a:solidFill>
          <a:ln w="5715">
            <a:solidFill>
              <a:srgbClr val="F7F8FA"/>
            </a:solidFill>
            <a:prstDash val="solid"/>
          </a:ln>
        </p:spPr>
      </p:sp>
      <p:sp>
        <p:nvSpPr>
          <p:cNvPr id="26" name="Text 24"/>
          <p:cNvSpPr/>
          <p:nvPr/>
        </p:nvSpPr>
        <p:spPr>
          <a:xfrm>
            <a:off x="5660136" y="224485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7" name="Shape 25"/>
          <p:cNvSpPr/>
          <p:nvPr/>
        </p:nvSpPr>
        <p:spPr>
          <a:xfrm>
            <a:off x="658368" y="2569464"/>
            <a:ext cx="3383280" cy="411480"/>
          </a:xfrm>
          <a:prstGeom prst="rect">
            <a:avLst/>
          </a:prstGeom>
          <a:solidFill>
            <a:srgbClr val="FFFFFF"/>
          </a:solidFill>
          <a:ln w="5715">
            <a:solidFill>
              <a:srgbClr val="F7F8FA"/>
            </a:solidFill>
            <a:prstDash val="solid"/>
          </a:ln>
        </p:spPr>
      </p:sp>
      <p:sp>
        <p:nvSpPr>
          <p:cNvPr id="28" name="Text 26"/>
          <p:cNvSpPr/>
          <p:nvPr/>
        </p:nvSpPr>
        <p:spPr>
          <a:xfrm>
            <a:off x="722376" y="265633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29" name="Shape 27"/>
          <p:cNvSpPr/>
          <p:nvPr/>
        </p:nvSpPr>
        <p:spPr>
          <a:xfrm>
            <a:off x="4041648" y="2569464"/>
            <a:ext cx="1554480" cy="411480"/>
          </a:xfrm>
          <a:prstGeom prst="rect">
            <a:avLst/>
          </a:prstGeom>
          <a:solidFill>
            <a:srgbClr val="FFFFFF"/>
          </a:solidFill>
          <a:ln w="5715">
            <a:solidFill>
              <a:srgbClr val="F7F8FA"/>
            </a:solidFill>
            <a:prstDash val="solid"/>
          </a:ln>
        </p:spPr>
      </p:sp>
      <p:sp>
        <p:nvSpPr>
          <p:cNvPr id="30" name="Text 28"/>
          <p:cNvSpPr/>
          <p:nvPr/>
        </p:nvSpPr>
        <p:spPr>
          <a:xfrm>
            <a:off x="4105656" y="265633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1" name="Shape 29"/>
          <p:cNvSpPr/>
          <p:nvPr/>
        </p:nvSpPr>
        <p:spPr>
          <a:xfrm>
            <a:off x="5596128" y="2569464"/>
            <a:ext cx="2971800" cy="411480"/>
          </a:xfrm>
          <a:prstGeom prst="rect">
            <a:avLst/>
          </a:prstGeom>
          <a:solidFill>
            <a:srgbClr val="FFFFFF"/>
          </a:solidFill>
          <a:ln w="5715">
            <a:solidFill>
              <a:srgbClr val="F7F8FA"/>
            </a:solidFill>
            <a:prstDash val="solid"/>
          </a:ln>
        </p:spPr>
      </p:sp>
      <p:sp>
        <p:nvSpPr>
          <p:cNvPr id="32" name="Text 30"/>
          <p:cNvSpPr/>
          <p:nvPr/>
        </p:nvSpPr>
        <p:spPr>
          <a:xfrm>
            <a:off x="5660136" y="265633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3" name="Shape 31"/>
          <p:cNvSpPr/>
          <p:nvPr/>
        </p:nvSpPr>
        <p:spPr>
          <a:xfrm>
            <a:off x="658368" y="2980944"/>
            <a:ext cx="3383280" cy="411480"/>
          </a:xfrm>
          <a:prstGeom prst="rect">
            <a:avLst/>
          </a:prstGeom>
          <a:solidFill>
            <a:srgbClr val="F0F4F7"/>
          </a:solidFill>
          <a:ln w="5715">
            <a:solidFill>
              <a:srgbClr val="F7F8FA"/>
            </a:solidFill>
            <a:prstDash val="solid"/>
          </a:ln>
        </p:spPr>
      </p:sp>
      <p:sp>
        <p:nvSpPr>
          <p:cNvPr id="34" name="Text 32"/>
          <p:cNvSpPr/>
          <p:nvPr/>
        </p:nvSpPr>
        <p:spPr>
          <a:xfrm>
            <a:off x="722376" y="306781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subtotal</a:t>
            </a:r>
            <a:endParaRPr lang="en-US" sz="1300" dirty="0"/>
          </a:p>
        </p:txBody>
      </p:sp>
      <p:sp>
        <p:nvSpPr>
          <p:cNvPr id="35" name="Shape 33"/>
          <p:cNvSpPr/>
          <p:nvPr/>
        </p:nvSpPr>
        <p:spPr>
          <a:xfrm>
            <a:off x="4041648" y="2980944"/>
            <a:ext cx="1554480" cy="411480"/>
          </a:xfrm>
          <a:prstGeom prst="rect">
            <a:avLst/>
          </a:prstGeom>
          <a:solidFill>
            <a:srgbClr val="F0F4F7"/>
          </a:solidFill>
          <a:ln w="5715">
            <a:solidFill>
              <a:srgbClr val="F7F8FA"/>
            </a:solidFill>
            <a:prstDash val="solid"/>
          </a:ln>
        </p:spPr>
      </p:sp>
      <p:sp>
        <p:nvSpPr>
          <p:cNvPr id="36" name="Text 34"/>
          <p:cNvSpPr/>
          <p:nvPr/>
        </p:nvSpPr>
        <p:spPr>
          <a:xfrm>
            <a:off x="4105656" y="306781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54.088 ms</a:t>
            </a:r>
            <a:endParaRPr lang="en-US" sz="1300" dirty="0"/>
          </a:p>
        </p:txBody>
      </p:sp>
      <p:sp>
        <p:nvSpPr>
          <p:cNvPr id="37" name="Shape 35"/>
          <p:cNvSpPr/>
          <p:nvPr/>
        </p:nvSpPr>
        <p:spPr>
          <a:xfrm>
            <a:off x="5596128" y="2980944"/>
            <a:ext cx="2971800" cy="411480"/>
          </a:xfrm>
          <a:prstGeom prst="rect">
            <a:avLst/>
          </a:prstGeom>
          <a:solidFill>
            <a:srgbClr val="F0F4F7"/>
          </a:solidFill>
          <a:ln w="5715">
            <a:solidFill>
              <a:srgbClr val="F7F8FA"/>
            </a:solidFill>
            <a:prstDash val="solid"/>
          </a:ln>
        </p:spPr>
      </p:sp>
      <p:sp>
        <p:nvSpPr>
          <p:cNvPr id="38" name="Text 36"/>
          <p:cNvSpPr/>
          <p:nvPr/>
        </p:nvSpPr>
        <p:spPr>
          <a:xfrm>
            <a:off x="5660136" y="306781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Illustrative arithmetic, separately timed</a:t>
            </a:r>
            <a:endParaRPr lang="en-US" sz="1300" dirty="0"/>
          </a:p>
        </p:txBody>
      </p:sp>
      <p:sp>
        <p:nvSpPr>
          <p:cNvPr id="39" name="Shape 37"/>
          <p:cNvSpPr/>
          <p:nvPr/>
        </p:nvSpPr>
        <p:spPr>
          <a:xfrm>
            <a:off x="8229600" y="1335024"/>
            <a:ext cx="3182112" cy="2011680"/>
          </a:xfrm>
          <a:prstGeom prst="rect">
            <a:avLst/>
          </a:prstGeom>
          <a:solidFill>
            <a:srgbClr val="EAF7EF"/>
          </a:solidFill>
          <a:ln w="9525">
            <a:solidFill>
              <a:srgbClr val="E7EBF0"/>
            </a:solidFill>
            <a:prstDash val="solid"/>
          </a:ln>
        </p:spPr>
      </p:sp>
      <p:sp>
        <p:nvSpPr>
          <p:cNvPr id="40" name="Shape 38"/>
          <p:cNvSpPr/>
          <p:nvPr/>
        </p:nvSpPr>
        <p:spPr>
          <a:xfrm>
            <a:off x="8229600" y="1335024"/>
            <a:ext cx="64008" cy="2011680"/>
          </a:xfrm>
          <a:prstGeom prst="rect">
            <a:avLst/>
          </a:prstGeom>
          <a:solidFill>
            <a:srgbClr val="46A06F"/>
          </a:solidFill>
          <a:ln w="12700">
            <a:solidFill>
              <a:srgbClr val="46A06F"/>
            </a:solidFill>
            <a:prstDash val="solid"/>
          </a:ln>
        </p:spPr>
      </p:sp>
      <p:sp>
        <p:nvSpPr>
          <p:cNvPr id="41" name="Text 39"/>
          <p:cNvSpPr/>
          <p:nvPr/>
        </p:nvSpPr>
        <p:spPr>
          <a:xfrm>
            <a:off x="8485632" y="1627632"/>
            <a:ext cx="2670048" cy="182880"/>
          </a:xfrm>
          <a:prstGeom prst="rect">
            <a:avLst/>
          </a:prstGeom>
          <a:noFill/>
          <a:ln/>
        </p:spPr>
        <p:txBody>
          <a:bodyPr wrap="square" lIns="0" tIns="0" rIns="0" bIns="0" rtlCol="0" anchor="ctr"/>
          <a:lstStyle/>
          <a:p>
            <a:pPr algn="ctr" indent="0" marL="0">
              <a:buNone/>
            </a:pPr>
            <a:r>
              <a:rPr lang="en-US" sz="1500" b="1" dirty="0">
                <a:solidFill>
                  <a:srgbClr val="46A06F"/>
                </a:solidFill>
              </a:rPr>
              <a:t>Synthetic GPU reference</a:t>
            </a:r>
            <a:endParaRPr lang="en-US" sz="1500" dirty="0"/>
          </a:p>
        </p:txBody>
      </p:sp>
      <p:sp>
        <p:nvSpPr>
          <p:cNvPr id="42" name="Text 40"/>
          <p:cNvSpPr/>
          <p:nvPr/>
        </p:nvSpPr>
        <p:spPr>
          <a:xfrm>
            <a:off x="8485632" y="1993392"/>
            <a:ext cx="2670048" cy="310896"/>
          </a:xfrm>
          <a:prstGeom prst="rect">
            <a:avLst/>
          </a:prstGeom>
          <a:noFill/>
          <a:ln/>
        </p:spPr>
        <p:txBody>
          <a:bodyPr wrap="square" lIns="0" tIns="0" rIns="0" bIns="0" rtlCol="0" anchor="ctr"/>
          <a:lstStyle/>
          <a:p>
            <a:pPr algn="ctr" indent="0" marL="0">
              <a:buNone/>
            </a:pPr>
            <a:r>
              <a:rPr lang="en-US" sz="2700" b="1" dirty="0">
                <a:solidFill>
                  <a:srgbClr val="46A06F"/>
                </a:solidFill>
              </a:rPr>
              <a:t>8.051 ms</a:t>
            </a:r>
            <a:endParaRPr lang="en-US" sz="2700" dirty="0"/>
          </a:p>
        </p:txBody>
      </p:sp>
      <p:sp>
        <p:nvSpPr>
          <p:cNvPr id="43" name="Text 41"/>
          <p:cNvSpPr/>
          <p:nvPr/>
        </p:nvSpPr>
        <p:spPr>
          <a:xfrm>
            <a:off x="8485632" y="2505456"/>
            <a:ext cx="2670048" cy="365760"/>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Hessian diagonal + dense Schur combined - projection</a:t>
            </a:r>
            <a:endParaRPr lang="en-US" sz="1220" dirty="0"/>
          </a:p>
        </p:txBody>
      </p:sp>
      <p:sp>
        <p:nvSpPr>
          <p:cNvPr id="44" name="Shape 42"/>
          <p:cNvSpPr/>
          <p:nvPr/>
        </p:nvSpPr>
        <p:spPr>
          <a:xfrm>
            <a:off x="658368" y="3794760"/>
            <a:ext cx="3383280" cy="978408"/>
          </a:xfrm>
          <a:prstGeom prst="rect">
            <a:avLst/>
          </a:prstGeom>
          <a:solidFill>
            <a:srgbClr val="FFFFFF"/>
          </a:solidFill>
          <a:ln w="9525">
            <a:solidFill>
              <a:srgbClr val="E7EBF0"/>
            </a:solidFill>
            <a:prstDash val="solid"/>
          </a:ln>
        </p:spPr>
      </p:sp>
      <p:sp>
        <p:nvSpPr>
          <p:cNvPr id="45" name="Shape 43"/>
          <p:cNvSpPr/>
          <p:nvPr/>
        </p:nvSpPr>
        <p:spPr>
          <a:xfrm>
            <a:off x="658368" y="3794760"/>
            <a:ext cx="64008" cy="978408"/>
          </a:xfrm>
          <a:prstGeom prst="rect">
            <a:avLst/>
          </a:prstGeom>
          <a:solidFill>
            <a:srgbClr val="46A06F"/>
          </a:solidFill>
          <a:ln w="12700">
            <a:solidFill>
              <a:srgbClr val="46A06F"/>
            </a:solidFill>
            <a:prstDash val="solid"/>
          </a:ln>
        </p:spPr>
      </p:sp>
      <p:sp>
        <p:nvSpPr>
          <p:cNvPr id="46" name="Text 44"/>
          <p:cNvSpPr/>
          <p:nvPr/>
        </p:nvSpPr>
        <p:spPr>
          <a:xfrm>
            <a:off x="841248"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62.139 ms</a:t>
            </a:r>
            <a:endParaRPr lang="en-US" sz="2500" dirty="0"/>
          </a:p>
        </p:txBody>
      </p:sp>
      <p:sp>
        <p:nvSpPr>
          <p:cNvPr id="47" name="Text 45"/>
          <p:cNvSpPr/>
          <p:nvPr/>
        </p:nvSpPr>
        <p:spPr>
          <a:xfrm>
            <a:off x="841248"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Synthetic lower bound</a:t>
            </a:r>
            <a:endParaRPr lang="en-US" sz="1350" dirty="0"/>
          </a:p>
        </p:txBody>
      </p:sp>
      <p:sp>
        <p:nvSpPr>
          <p:cNvPr id="48" name="Text 46"/>
          <p:cNvSpPr/>
          <p:nvPr/>
        </p:nvSpPr>
        <p:spPr>
          <a:xfrm>
            <a:off x="841248"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3794760"/>
            <a:ext cx="3246120" cy="978408"/>
          </a:xfrm>
          <a:prstGeom prst="rect">
            <a:avLst/>
          </a:prstGeom>
          <a:solidFill>
            <a:srgbClr val="FFFFFF"/>
          </a:solidFill>
          <a:ln w="9525">
            <a:solidFill>
              <a:srgbClr val="E7EBF0"/>
            </a:solidFill>
            <a:prstDash val="solid"/>
          </a:ln>
        </p:spPr>
      </p:sp>
      <p:sp>
        <p:nvSpPr>
          <p:cNvPr id="50" name="Shape 48"/>
          <p:cNvSpPr/>
          <p:nvPr/>
        </p:nvSpPr>
        <p:spPr>
          <a:xfrm>
            <a:off x="4343400" y="3794760"/>
            <a:ext cx="64008" cy="978408"/>
          </a:xfrm>
          <a:prstGeom prst="rect">
            <a:avLst/>
          </a:prstGeom>
          <a:solidFill>
            <a:srgbClr val="F2A23A"/>
          </a:solidFill>
          <a:ln w="12700">
            <a:solidFill>
              <a:srgbClr val="F2A23A"/>
            </a:solidFill>
            <a:prstDash val="solid"/>
          </a:ln>
        </p:spPr>
      </p:sp>
      <p:sp>
        <p:nvSpPr>
          <p:cNvPr id="51" name="Text 49"/>
          <p:cNvSpPr/>
          <p:nvPr/>
        </p:nvSpPr>
        <p:spPr>
          <a:xfrm>
            <a:off x="4526280" y="3913632"/>
            <a:ext cx="293522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+11.284 ms</a:t>
            </a:r>
            <a:endParaRPr lang="en-US" sz="2500" dirty="0"/>
          </a:p>
        </p:txBody>
      </p:sp>
      <p:sp>
        <p:nvSpPr>
          <p:cNvPr id="52" name="Text 50"/>
          <p:cNvSpPr/>
          <p:nvPr/>
        </p:nvSpPr>
        <p:spPr>
          <a:xfrm>
            <a:off x="4526280" y="4315968"/>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535424"/>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3794760"/>
            <a:ext cx="3383280" cy="978408"/>
          </a:xfrm>
          <a:prstGeom prst="rect">
            <a:avLst/>
          </a:prstGeom>
          <a:solidFill>
            <a:srgbClr val="FFFFFF"/>
          </a:solidFill>
          <a:ln w="9525">
            <a:solidFill>
              <a:srgbClr val="E7EBF0"/>
            </a:solidFill>
            <a:prstDash val="solid"/>
          </a:ln>
        </p:spPr>
      </p:sp>
      <p:sp>
        <p:nvSpPr>
          <p:cNvPr id="55" name="Shape 53"/>
          <p:cNvSpPr/>
          <p:nvPr/>
        </p:nvSpPr>
        <p:spPr>
          <a:xfrm>
            <a:off x="7891272" y="3794760"/>
            <a:ext cx="64008" cy="978408"/>
          </a:xfrm>
          <a:prstGeom prst="rect">
            <a:avLst/>
          </a:prstGeom>
          <a:solidFill>
            <a:srgbClr val="D95D54"/>
          </a:solidFill>
          <a:ln w="12700">
            <a:solidFill>
              <a:srgbClr val="D95D54"/>
            </a:solidFill>
            <a:prstDash val="solid"/>
          </a:ln>
        </p:spPr>
      </p:sp>
      <p:sp>
        <p:nvSpPr>
          <p:cNvPr id="56" name="Text 54"/>
          <p:cNvSpPr/>
          <p:nvPr/>
        </p:nvSpPr>
        <p:spPr>
          <a:xfrm>
            <a:off x="8074152"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Lower bound + estimate</a:t>
            </a:r>
            <a:endParaRPr lang="en-US" sz="1350" dirty="0"/>
          </a:p>
        </p:txBody>
      </p:sp>
      <p:sp>
        <p:nvSpPr>
          <p:cNvPr id="58" name="Text 56"/>
          <p:cNvSpPr/>
          <p:nvPr/>
        </p:nvSpPr>
        <p:spPr>
          <a:xfrm>
            <a:off x="8074152"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148072"/>
            <a:ext cx="10607040" cy="658368"/>
          </a:xfrm>
          <a:prstGeom prst="rect">
            <a:avLst/>
          </a:prstGeom>
          <a:solidFill>
            <a:srgbClr val="FBEDEB"/>
          </a:solidFill>
          <a:ln w="9525">
            <a:solidFill>
              <a:srgbClr val="E7EBF0"/>
            </a:solidFill>
            <a:prstDash val="solid"/>
          </a:ln>
        </p:spPr>
      </p:sp>
      <p:sp>
        <p:nvSpPr>
          <p:cNvPr id="60" name="Shape 58"/>
          <p:cNvSpPr/>
          <p:nvPr/>
        </p:nvSpPr>
        <p:spPr>
          <a:xfrm>
            <a:off x="658368" y="5148072"/>
            <a:ext cx="64008" cy="658368"/>
          </a:xfrm>
          <a:prstGeom prst="rect">
            <a:avLst/>
          </a:prstGeom>
          <a:solidFill>
            <a:srgbClr val="D95D54"/>
          </a:solidFill>
          <a:ln w="12700">
            <a:solidFill>
              <a:srgbClr val="D95D54"/>
            </a:solidFill>
            <a:prstDash val="solid"/>
          </a:ln>
        </p:spPr>
      </p:sp>
      <p:sp>
        <p:nvSpPr>
          <p:cNvPr id="61" name="Text 59"/>
          <p:cNvSpPr/>
          <p:nvPr/>
        </p:nvSpPr>
        <p:spPr>
          <a:xfrm>
            <a:off x="896112" y="5358384"/>
            <a:ext cx="10104120" cy="201168"/>
          </a:xfrm>
          <a:prstGeom prst="rect">
            <a:avLst/>
          </a:prstGeom>
          <a:noFill/>
          <a:ln/>
        </p:spPr>
        <p:txBody>
          <a:bodyPr wrap="square" lIns="0" tIns="0" rIns="0" bIns="0" rtlCol="0" anchor="ctr">
            <a:normAutofit/>
          </a:bodyPr>
          <a:lstStyle/>
          <a:p>
            <a:pPr algn="ctr" indent="0" marL="0">
              <a:buNone/>
            </a:pPr>
            <a:r>
              <a:rPr lang="en-US" sz="132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378440" y="429768"/>
            <a:ext cx="1234440" cy="274320"/>
          </a:xfrm>
          <a:prstGeom prst="rect">
            <a:avLst/>
          </a:prstGeom>
          <a:solidFill>
            <a:srgbClr val="0E7C86"/>
          </a:solidFill>
          <a:ln w="12700">
            <a:solidFill>
              <a:srgbClr val="0E7C86"/>
            </a:solidFill>
            <a:prstDash val="solid"/>
          </a:ln>
        </p:spPr>
      </p:sp>
      <p:sp>
        <p:nvSpPr>
          <p:cNvPr id="3" name="Text 1"/>
          <p:cNvSpPr/>
          <p:nvPr/>
        </p:nvSpPr>
        <p:spPr>
          <a:xfrm>
            <a:off x="1045159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201400" y="429768"/>
            <a:ext cx="1069848" cy="274320"/>
          </a:xfrm>
          <a:prstGeom prst="rect">
            <a:avLst/>
          </a:prstGeom>
          <a:solidFill>
            <a:srgbClr val="F2A23A"/>
          </a:solidFill>
          <a:ln w="12700">
            <a:solidFill>
              <a:srgbClr val="F2A23A"/>
            </a:solidFill>
            <a:prstDash val="solid"/>
          </a:ln>
        </p:spPr>
      </p:sp>
      <p:sp>
        <p:nvSpPr>
          <p:cNvPr id="5" name="Text 3"/>
          <p:cNvSpPr/>
          <p:nvPr/>
        </p:nvSpPr>
        <p:spPr>
          <a:xfrm>
            <a:off x="1127455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Shape 12"/>
          <p:cNvSpPr/>
          <p:nvPr/>
        </p:nvSpPr>
        <p:spPr>
          <a:xfrm>
            <a:off x="6382512" y="2066544"/>
            <a:ext cx="155448" cy="155448"/>
          </a:xfrm>
          <a:prstGeom prst="rect">
            <a:avLst/>
          </a:prstGeom>
          <a:solidFill>
            <a:srgbClr val="0E7C86"/>
          </a:solidFill>
          <a:ln w="12700">
            <a:solidFill>
              <a:srgbClr val="0E7C86"/>
            </a:solidFill>
            <a:prstDash val="solid"/>
          </a:ln>
        </p:spPr>
      </p:sp>
      <p:sp>
        <p:nvSpPr>
          <p:cNvPr id="15" name="Text 13"/>
          <p:cNvSpPr/>
          <p:nvPr/>
        </p:nvSpPr>
        <p:spPr>
          <a:xfrm>
            <a:off x="6720840" y="199339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Cache sparse structure.</a:t>
            </a:r>
            <a:endParaRPr lang="en-US" sz="1600" dirty="0"/>
          </a:p>
        </p:txBody>
      </p:sp>
      <p:sp>
        <p:nvSpPr>
          <p:cNvPr id="16" name="Shape 14"/>
          <p:cNvSpPr/>
          <p:nvPr/>
        </p:nvSpPr>
        <p:spPr>
          <a:xfrm>
            <a:off x="6382512" y="2633472"/>
            <a:ext cx="155448" cy="155448"/>
          </a:xfrm>
          <a:prstGeom prst="rect">
            <a:avLst/>
          </a:prstGeom>
          <a:solidFill>
            <a:srgbClr val="0E7C86"/>
          </a:solidFill>
          <a:ln w="12700">
            <a:solidFill>
              <a:srgbClr val="0E7C86"/>
            </a:solidFill>
            <a:prstDash val="solid"/>
          </a:ln>
        </p:spPr>
      </p:sp>
      <p:sp>
        <p:nvSpPr>
          <p:cNvPr id="17" name="Text 15"/>
          <p:cNvSpPr/>
          <p:nvPr/>
        </p:nvSpPr>
        <p:spPr>
          <a:xfrm>
            <a:off x="6720840" y="2560320"/>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Direct TBB numeric fill.</a:t>
            </a:r>
            <a:endParaRPr lang="en-US" sz="1600" dirty="0"/>
          </a:p>
        </p:txBody>
      </p:sp>
      <p:sp>
        <p:nvSpPr>
          <p:cNvPr id="18" name="Shape 16"/>
          <p:cNvSpPr/>
          <p:nvPr/>
        </p:nvSpPr>
        <p:spPr>
          <a:xfrm>
            <a:off x="6382512" y="3200400"/>
            <a:ext cx="155448" cy="155448"/>
          </a:xfrm>
          <a:prstGeom prst="rect">
            <a:avLst/>
          </a:prstGeom>
          <a:solidFill>
            <a:srgbClr val="0E7C86"/>
          </a:solidFill>
          <a:ln w="12700">
            <a:solidFill>
              <a:srgbClr val="0E7C86"/>
            </a:solidFill>
            <a:prstDash val="solid"/>
          </a:ln>
        </p:spPr>
      </p:sp>
      <p:sp>
        <p:nvSpPr>
          <p:cNvPr id="19" name="Text 17"/>
          <p:cNvSpPr/>
          <p:nvPr/>
        </p:nvSpPr>
        <p:spPr>
          <a:xfrm>
            <a:off x="6720840" y="3127248"/>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Upload only numeric values.</a:t>
            </a:r>
            <a:endParaRPr lang="en-US" sz="1600" dirty="0"/>
          </a:p>
        </p:txBody>
      </p:sp>
      <p:sp>
        <p:nvSpPr>
          <p:cNvPr id="20" name="Shape 18"/>
          <p:cNvSpPr/>
          <p:nvPr/>
        </p:nvSpPr>
        <p:spPr>
          <a:xfrm>
            <a:off x="6382512" y="3767328"/>
            <a:ext cx="155448" cy="155448"/>
          </a:xfrm>
          <a:prstGeom prst="rect">
            <a:avLst/>
          </a:prstGeom>
          <a:solidFill>
            <a:srgbClr val="F2A23A"/>
          </a:solidFill>
          <a:ln w="12700">
            <a:solidFill>
              <a:srgbClr val="F2A23A"/>
            </a:solidFill>
            <a:prstDash val="solid"/>
          </a:ln>
        </p:spPr>
      </p:sp>
      <p:sp>
        <p:nvSpPr>
          <p:cNvPr id="21" name="Text 19"/>
          <p:cNvSpPr/>
          <p:nvPr/>
        </p:nvSpPr>
        <p:spPr>
          <a:xfrm>
            <a:off x="6720840" y="3694176"/>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GPU normal equations + cuDSS/dense solver.</a:t>
            </a:r>
            <a:endParaRPr lang="en-US" sz="1600" dirty="0"/>
          </a:p>
        </p:txBody>
      </p:sp>
      <p:sp>
        <p:nvSpPr>
          <p:cNvPr id="22" name="Shape 20"/>
          <p:cNvSpPr/>
          <p:nvPr/>
        </p:nvSpPr>
        <p:spPr>
          <a:xfrm>
            <a:off x="6382512" y="4334256"/>
            <a:ext cx="155448" cy="155448"/>
          </a:xfrm>
          <a:prstGeom prst="rect">
            <a:avLst/>
          </a:prstGeom>
          <a:solidFill>
            <a:srgbClr val="F2A23A"/>
          </a:solidFill>
          <a:ln w="12700">
            <a:solidFill>
              <a:srgbClr val="F2A23A"/>
            </a:solidFill>
            <a:prstDash val="solid"/>
          </a:ln>
        </p:spPr>
      </p:sp>
      <p:sp>
        <p:nvSpPr>
          <p:cNvPr id="23" name="Text 21"/>
          <p:cNvSpPr/>
          <p:nvPr/>
        </p:nvSpPr>
        <p:spPr>
          <a:xfrm>
            <a:off x="6720840" y="4261104"/>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Download delta, then CPU retract/error.</a:t>
            </a:r>
            <a:endParaRPr lang="en-US" sz="1600" dirty="0"/>
          </a:p>
        </p:txBody>
      </p:sp>
      <p:sp>
        <p:nvSpPr>
          <p:cNvPr id="24" name="Shape 22"/>
          <p:cNvSpPr/>
          <p:nvPr/>
        </p:nvSpPr>
        <p:spPr>
          <a:xfrm>
            <a:off x="6382512" y="4901184"/>
            <a:ext cx="155448" cy="155448"/>
          </a:xfrm>
          <a:prstGeom prst="rect">
            <a:avLst/>
          </a:prstGeom>
          <a:solidFill>
            <a:srgbClr val="F2A23A"/>
          </a:solidFill>
          <a:ln w="12700">
            <a:solidFill>
              <a:srgbClr val="F2A23A"/>
            </a:solidFill>
            <a:prstDash val="solid"/>
          </a:ln>
        </p:spPr>
      </p:sp>
      <p:sp>
        <p:nvSpPr>
          <p:cNvPr id="25" name="Text 23"/>
          <p:cNvSpPr/>
          <p:nvPr/>
        </p:nvSpPr>
        <p:spPr>
          <a:xfrm>
            <a:off x="6720840" y="482803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Measure full LM convergence.</a:t>
            </a:r>
            <a:endParaRPr lang="en-US" sz="1600" dirty="0"/>
          </a:p>
        </p:txBody>
      </p:sp>
      <p:sp>
        <p:nvSpPr>
          <p:cNvPr id="26" name="Text 24"/>
          <p:cNvSpPr/>
          <p:nvPr/>
        </p:nvSpPr>
        <p:spPr>
          <a:xfrm>
            <a:off x="6382512" y="574243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234440"/>
            <a:ext cx="1143000" cy="288036"/>
          </a:xfrm>
          <a:prstGeom prst="rect">
            <a:avLst/>
          </a:prstGeom>
          <a:solidFill>
            <a:srgbClr val="1F2A44"/>
          </a:solidFill>
          <a:ln w="5715">
            <a:solidFill>
              <a:srgbClr val="F7F8FA"/>
            </a:solidFill>
            <a:prstDash val="solid"/>
          </a:ln>
        </p:spPr>
      </p:sp>
      <p:sp>
        <p:nvSpPr>
          <p:cNvPr id="8" name="Text 6"/>
          <p:cNvSpPr/>
          <p:nvPr/>
        </p:nvSpPr>
        <p:spPr>
          <a:xfrm>
            <a:off x="566928" y="132130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FFFFFF"/>
                </a:solidFill>
              </a:rPr>
              <a:t>Level</a:t>
            </a:r>
            <a:endParaRPr lang="en-US" sz="1080" dirty="0"/>
          </a:p>
        </p:txBody>
      </p:sp>
      <p:sp>
        <p:nvSpPr>
          <p:cNvPr id="9" name="Shape 7"/>
          <p:cNvSpPr/>
          <p:nvPr/>
        </p:nvSpPr>
        <p:spPr>
          <a:xfrm>
            <a:off x="1645920" y="1234440"/>
            <a:ext cx="4251960" cy="288036"/>
          </a:xfrm>
          <a:prstGeom prst="rect">
            <a:avLst/>
          </a:prstGeom>
          <a:solidFill>
            <a:srgbClr val="1F2A44"/>
          </a:solidFill>
          <a:ln w="5715">
            <a:solidFill>
              <a:srgbClr val="F7F8FA"/>
            </a:solidFill>
            <a:prstDash val="solid"/>
          </a:ln>
        </p:spPr>
      </p:sp>
      <p:sp>
        <p:nvSpPr>
          <p:cNvPr id="10" name="Text 8"/>
          <p:cNvSpPr/>
          <p:nvPr/>
        </p:nvSpPr>
        <p:spPr>
          <a:xfrm>
            <a:off x="1709928" y="1321308"/>
            <a:ext cx="412394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Component</a:t>
            </a:r>
            <a:endParaRPr lang="en-US" sz="1080" dirty="0"/>
          </a:p>
        </p:txBody>
      </p:sp>
      <p:sp>
        <p:nvSpPr>
          <p:cNvPr id="11" name="Shape 9"/>
          <p:cNvSpPr/>
          <p:nvPr/>
        </p:nvSpPr>
        <p:spPr>
          <a:xfrm>
            <a:off x="5897880" y="1234440"/>
            <a:ext cx="1234440" cy="288036"/>
          </a:xfrm>
          <a:prstGeom prst="rect">
            <a:avLst/>
          </a:prstGeom>
          <a:solidFill>
            <a:srgbClr val="1F2A44"/>
          </a:solidFill>
          <a:ln w="5715">
            <a:solidFill>
              <a:srgbClr val="F7F8FA"/>
            </a:solidFill>
            <a:prstDash val="solid"/>
          </a:ln>
        </p:spPr>
      </p:sp>
      <p:sp>
        <p:nvSpPr>
          <p:cNvPr id="12" name="Text 10"/>
          <p:cNvSpPr/>
          <p:nvPr/>
        </p:nvSpPr>
        <p:spPr>
          <a:xfrm>
            <a:off x="5961888" y="1321308"/>
            <a:ext cx="110642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Time</a:t>
            </a:r>
            <a:endParaRPr lang="en-US" sz="1080" dirty="0"/>
          </a:p>
        </p:txBody>
      </p:sp>
      <p:sp>
        <p:nvSpPr>
          <p:cNvPr id="13" name="Shape 11"/>
          <p:cNvSpPr/>
          <p:nvPr/>
        </p:nvSpPr>
        <p:spPr>
          <a:xfrm>
            <a:off x="7132320" y="1234440"/>
            <a:ext cx="1417320" cy="288036"/>
          </a:xfrm>
          <a:prstGeom prst="rect">
            <a:avLst/>
          </a:prstGeom>
          <a:solidFill>
            <a:srgbClr val="1F2A44"/>
          </a:solidFill>
          <a:ln w="5715">
            <a:solidFill>
              <a:srgbClr val="F7F8FA"/>
            </a:solidFill>
            <a:prstDash val="solid"/>
          </a:ln>
        </p:spPr>
      </p:sp>
      <p:sp>
        <p:nvSpPr>
          <p:cNvPr id="14" name="Text 12"/>
          <p:cNvSpPr/>
          <p:nvPr/>
        </p:nvSpPr>
        <p:spPr>
          <a:xfrm>
            <a:off x="7196328" y="1321308"/>
            <a:ext cx="128930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graph API</a:t>
            </a:r>
            <a:endParaRPr lang="en-US" sz="1080" dirty="0"/>
          </a:p>
        </p:txBody>
      </p:sp>
      <p:sp>
        <p:nvSpPr>
          <p:cNvPr id="15" name="Shape 13"/>
          <p:cNvSpPr/>
          <p:nvPr/>
        </p:nvSpPr>
        <p:spPr>
          <a:xfrm>
            <a:off x="8549640" y="1234440"/>
            <a:ext cx="1325880" cy="288036"/>
          </a:xfrm>
          <a:prstGeom prst="rect">
            <a:avLst/>
          </a:prstGeom>
          <a:solidFill>
            <a:srgbClr val="1F2A44"/>
          </a:solidFill>
          <a:ln w="5715">
            <a:solidFill>
              <a:srgbClr val="F7F8FA"/>
            </a:solidFill>
            <a:prstDash val="solid"/>
          </a:ln>
        </p:spPr>
      </p:sp>
      <p:sp>
        <p:nvSpPr>
          <p:cNvPr id="16" name="Text 14"/>
          <p:cNvSpPr/>
          <p:nvPr/>
        </p:nvSpPr>
        <p:spPr>
          <a:xfrm>
            <a:off x="8613648" y="1321308"/>
            <a:ext cx="119786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parent</a:t>
            </a:r>
            <a:endParaRPr lang="en-US" sz="1080" dirty="0"/>
          </a:p>
        </p:txBody>
      </p:sp>
      <p:sp>
        <p:nvSpPr>
          <p:cNvPr id="17" name="Shape 15"/>
          <p:cNvSpPr/>
          <p:nvPr/>
        </p:nvSpPr>
        <p:spPr>
          <a:xfrm>
            <a:off x="502920" y="1522476"/>
            <a:ext cx="1143000" cy="288036"/>
          </a:xfrm>
          <a:prstGeom prst="rect">
            <a:avLst/>
          </a:prstGeom>
          <a:solidFill>
            <a:srgbClr val="FFFFFF"/>
          </a:solidFill>
          <a:ln w="5715">
            <a:solidFill>
              <a:srgbClr val="F7F8FA"/>
            </a:solidFill>
            <a:prstDash val="solid"/>
          </a:ln>
        </p:spPr>
      </p:sp>
      <p:sp>
        <p:nvSpPr>
          <p:cNvPr id="18" name="Text 16"/>
          <p:cNvSpPr/>
          <p:nvPr/>
        </p:nvSpPr>
        <p:spPr>
          <a:xfrm>
            <a:off x="566928" y="160934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19" name="Shape 17"/>
          <p:cNvSpPr/>
          <p:nvPr/>
        </p:nvSpPr>
        <p:spPr>
          <a:xfrm>
            <a:off x="1645920" y="1522476"/>
            <a:ext cx="4251960" cy="288036"/>
          </a:xfrm>
          <a:prstGeom prst="rect">
            <a:avLst/>
          </a:prstGeom>
          <a:solidFill>
            <a:srgbClr val="FFFFFF"/>
          </a:solidFill>
          <a:ln w="5715">
            <a:solidFill>
              <a:srgbClr val="F7F8FA"/>
            </a:solidFill>
            <a:prstDash val="solid"/>
          </a:ln>
        </p:spPr>
      </p:sp>
      <p:sp>
        <p:nvSpPr>
          <p:cNvPr id="20" name="Text 18"/>
          <p:cNvSpPr/>
          <p:nvPr/>
        </p:nvSpPr>
        <p:spPr>
          <a:xfrm>
            <a:off x="1709928" y="160934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Optimizer construction</a:t>
            </a:r>
            <a:endParaRPr lang="en-US" sz="1080" dirty="0"/>
          </a:p>
        </p:txBody>
      </p:sp>
      <p:sp>
        <p:nvSpPr>
          <p:cNvPr id="21" name="Shape 19"/>
          <p:cNvSpPr/>
          <p:nvPr/>
        </p:nvSpPr>
        <p:spPr>
          <a:xfrm>
            <a:off x="5897880" y="1522476"/>
            <a:ext cx="1234440" cy="288036"/>
          </a:xfrm>
          <a:prstGeom prst="rect">
            <a:avLst/>
          </a:prstGeom>
          <a:solidFill>
            <a:srgbClr val="FFFFFF"/>
          </a:solidFill>
          <a:ln w="5715">
            <a:solidFill>
              <a:srgbClr val="F7F8FA"/>
            </a:solidFill>
            <a:prstDash val="solid"/>
          </a:ln>
        </p:spPr>
      </p:sp>
      <p:sp>
        <p:nvSpPr>
          <p:cNvPr id="22" name="Text 20"/>
          <p:cNvSpPr/>
          <p:nvPr/>
        </p:nvSpPr>
        <p:spPr>
          <a:xfrm>
            <a:off x="5961888" y="160934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36.203</a:t>
            </a:r>
            <a:endParaRPr lang="en-US" sz="1080" dirty="0"/>
          </a:p>
        </p:txBody>
      </p:sp>
      <p:sp>
        <p:nvSpPr>
          <p:cNvPr id="23" name="Shape 21"/>
          <p:cNvSpPr/>
          <p:nvPr/>
        </p:nvSpPr>
        <p:spPr>
          <a:xfrm>
            <a:off x="7132320" y="1522476"/>
            <a:ext cx="1417320" cy="288036"/>
          </a:xfrm>
          <a:prstGeom prst="rect">
            <a:avLst/>
          </a:prstGeom>
          <a:solidFill>
            <a:srgbClr val="FFFFFF"/>
          </a:solidFill>
          <a:ln w="5715">
            <a:solidFill>
              <a:srgbClr val="F7F8FA"/>
            </a:solidFill>
            <a:prstDash val="solid"/>
          </a:ln>
        </p:spPr>
      </p:sp>
      <p:sp>
        <p:nvSpPr>
          <p:cNvPr id="24" name="Text 22"/>
          <p:cNvSpPr/>
          <p:nvPr/>
        </p:nvSpPr>
        <p:spPr>
          <a:xfrm>
            <a:off x="7196328" y="160934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8.49%</a:t>
            </a:r>
            <a:endParaRPr lang="en-US" sz="1080" dirty="0"/>
          </a:p>
        </p:txBody>
      </p:sp>
      <p:sp>
        <p:nvSpPr>
          <p:cNvPr id="25" name="Shape 23"/>
          <p:cNvSpPr/>
          <p:nvPr/>
        </p:nvSpPr>
        <p:spPr>
          <a:xfrm>
            <a:off x="8549640" y="1522476"/>
            <a:ext cx="1325880" cy="288036"/>
          </a:xfrm>
          <a:prstGeom prst="rect">
            <a:avLst/>
          </a:prstGeom>
          <a:solidFill>
            <a:srgbClr val="FFFFFF"/>
          </a:solidFill>
          <a:ln w="5715">
            <a:solidFill>
              <a:srgbClr val="F7F8FA"/>
            </a:solidFill>
            <a:prstDash val="solid"/>
          </a:ln>
        </p:spPr>
      </p:sp>
      <p:sp>
        <p:nvSpPr>
          <p:cNvPr id="26" name="Text 24"/>
          <p:cNvSpPr/>
          <p:nvPr/>
        </p:nvSpPr>
        <p:spPr>
          <a:xfrm>
            <a:off x="8613648" y="160934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27" name="Shape 25"/>
          <p:cNvSpPr/>
          <p:nvPr/>
        </p:nvSpPr>
        <p:spPr>
          <a:xfrm>
            <a:off x="502920" y="1810512"/>
            <a:ext cx="1143000" cy="288036"/>
          </a:xfrm>
          <a:prstGeom prst="rect">
            <a:avLst/>
          </a:prstGeom>
          <a:solidFill>
            <a:srgbClr val="F0F4F7"/>
          </a:solidFill>
          <a:ln w="5715">
            <a:solidFill>
              <a:srgbClr val="F7F8FA"/>
            </a:solidFill>
            <a:prstDash val="solid"/>
          </a:ln>
        </p:spPr>
      </p:sp>
      <p:sp>
        <p:nvSpPr>
          <p:cNvPr id="28" name="Text 26"/>
          <p:cNvSpPr/>
          <p:nvPr/>
        </p:nvSpPr>
        <p:spPr>
          <a:xfrm>
            <a:off x="566928" y="189738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29" name="Shape 27"/>
          <p:cNvSpPr/>
          <p:nvPr/>
        </p:nvSpPr>
        <p:spPr>
          <a:xfrm>
            <a:off x="1645920" y="1810512"/>
            <a:ext cx="4251960" cy="288036"/>
          </a:xfrm>
          <a:prstGeom prst="rect">
            <a:avLst/>
          </a:prstGeom>
          <a:solidFill>
            <a:srgbClr val="F0F4F7"/>
          </a:solidFill>
          <a:ln w="5715">
            <a:solidFill>
              <a:srgbClr val="F7F8FA"/>
            </a:solidFill>
            <a:prstDash val="solid"/>
          </a:ln>
        </p:spPr>
      </p:sp>
      <p:sp>
        <p:nvSpPr>
          <p:cNvPr id="30" name="Text 28"/>
          <p:cNvSpPr/>
          <p:nvPr/>
        </p:nvSpPr>
        <p:spPr>
          <a:xfrm>
            <a:off x="1709928" y="189738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a:t>
            </a:r>
            <a:endParaRPr lang="en-US" sz="1080" dirty="0"/>
          </a:p>
        </p:txBody>
      </p:sp>
      <p:sp>
        <p:nvSpPr>
          <p:cNvPr id="31" name="Shape 29"/>
          <p:cNvSpPr/>
          <p:nvPr/>
        </p:nvSpPr>
        <p:spPr>
          <a:xfrm>
            <a:off x="5897880" y="1810512"/>
            <a:ext cx="1234440" cy="288036"/>
          </a:xfrm>
          <a:prstGeom prst="rect">
            <a:avLst/>
          </a:prstGeom>
          <a:solidFill>
            <a:srgbClr val="F0F4F7"/>
          </a:solidFill>
          <a:ln w="5715">
            <a:solidFill>
              <a:srgbClr val="F7F8FA"/>
            </a:solidFill>
            <a:prstDash val="solid"/>
          </a:ln>
        </p:spPr>
      </p:sp>
      <p:sp>
        <p:nvSpPr>
          <p:cNvPr id="32" name="Text 30"/>
          <p:cNvSpPr/>
          <p:nvPr/>
        </p:nvSpPr>
        <p:spPr>
          <a:xfrm>
            <a:off x="5961888" y="189738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376.192</a:t>
            </a:r>
            <a:endParaRPr lang="en-US" sz="1080" dirty="0"/>
          </a:p>
        </p:txBody>
      </p:sp>
      <p:sp>
        <p:nvSpPr>
          <p:cNvPr id="33" name="Shape 31"/>
          <p:cNvSpPr/>
          <p:nvPr/>
        </p:nvSpPr>
        <p:spPr>
          <a:xfrm>
            <a:off x="7132320" y="1810512"/>
            <a:ext cx="1417320" cy="288036"/>
          </a:xfrm>
          <a:prstGeom prst="rect">
            <a:avLst/>
          </a:prstGeom>
          <a:solidFill>
            <a:srgbClr val="F0F4F7"/>
          </a:solidFill>
          <a:ln w="5715">
            <a:solidFill>
              <a:srgbClr val="F7F8FA"/>
            </a:solidFill>
            <a:prstDash val="solid"/>
          </a:ln>
        </p:spPr>
      </p:sp>
      <p:sp>
        <p:nvSpPr>
          <p:cNvPr id="34" name="Text 32"/>
          <p:cNvSpPr/>
          <p:nvPr/>
        </p:nvSpPr>
        <p:spPr>
          <a:xfrm>
            <a:off x="7196328" y="189738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88.26%</a:t>
            </a:r>
            <a:endParaRPr lang="en-US" sz="1080" dirty="0"/>
          </a:p>
        </p:txBody>
      </p:sp>
      <p:sp>
        <p:nvSpPr>
          <p:cNvPr id="35" name="Shape 33"/>
          <p:cNvSpPr/>
          <p:nvPr/>
        </p:nvSpPr>
        <p:spPr>
          <a:xfrm>
            <a:off x="8549640" y="1810512"/>
            <a:ext cx="1325880" cy="288036"/>
          </a:xfrm>
          <a:prstGeom prst="rect">
            <a:avLst/>
          </a:prstGeom>
          <a:solidFill>
            <a:srgbClr val="F0F4F7"/>
          </a:solidFill>
          <a:ln w="5715">
            <a:solidFill>
              <a:srgbClr val="F7F8FA"/>
            </a:solidFill>
            <a:prstDash val="solid"/>
          </a:ln>
        </p:spPr>
      </p:sp>
      <p:sp>
        <p:nvSpPr>
          <p:cNvPr id="36" name="Text 34"/>
          <p:cNvSpPr/>
          <p:nvPr/>
        </p:nvSpPr>
        <p:spPr>
          <a:xfrm>
            <a:off x="8613648" y="189738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37" name="Shape 35"/>
          <p:cNvSpPr/>
          <p:nvPr/>
        </p:nvSpPr>
        <p:spPr>
          <a:xfrm>
            <a:off x="502920" y="2098548"/>
            <a:ext cx="1143000" cy="288036"/>
          </a:xfrm>
          <a:prstGeom prst="rect">
            <a:avLst/>
          </a:prstGeom>
          <a:solidFill>
            <a:srgbClr val="FFFFFF"/>
          </a:solidFill>
          <a:ln w="5715">
            <a:solidFill>
              <a:srgbClr val="F7F8FA"/>
            </a:solidFill>
            <a:prstDash val="solid"/>
          </a:ln>
        </p:spPr>
      </p:sp>
      <p:sp>
        <p:nvSpPr>
          <p:cNvPr id="38" name="Text 36"/>
          <p:cNvSpPr/>
          <p:nvPr/>
        </p:nvSpPr>
        <p:spPr>
          <a:xfrm>
            <a:off x="566928" y="218541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39" name="Shape 37"/>
          <p:cNvSpPr/>
          <p:nvPr/>
        </p:nvSpPr>
        <p:spPr>
          <a:xfrm>
            <a:off x="1645920" y="2098548"/>
            <a:ext cx="4251960" cy="288036"/>
          </a:xfrm>
          <a:prstGeom prst="rect">
            <a:avLst/>
          </a:prstGeom>
          <a:solidFill>
            <a:srgbClr val="FFFFFF"/>
          </a:solidFill>
          <a:ln w="5715">
            <a:solidFill>
              <a:srgbClr val="F7F8FA"/>
            </a:solidFill>
            <a:prstDash val="solid"/>
          </a:ln>
        </p:spPr>
      </p:sp>
      <p:sp>
        <p:nvSpPr>
          <p:cNvPr id="40" name="Text 38"/>
          <p:cNvSpPr/>
          <p:nvPr/>
        </p:nvSpPr>
        <p:spPr>
          <a:xfrm>
            <a:off x="1709928" y="218541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Result/error queries</a:t>
            </a:r>
            <a:endParaRPr lang="en-US" sz="1080" dirty="0"/>
          </a:p>
        </p:txBody>
      </p:sp>
      <p:sp>
        <p:nvSpPr>
          <p:cNvPr id="41" name="Shape 39"/>
          <p:cNvSpPr/>
          <p:nvPr/>
        </p:nvSpPr>
        <p:spPr>
          <a:xfrm>
            <a:off x="5897880" y="2098548"/>
            <a:ext cx="1234440" cy="288036"/>
          </a:xfrm>
          <a:prstGeom prst="rect">
            <a:avLst/>
          </a:prstGeom>
          <a:solidFill>
            <a:srgbClr val="FFFFFF"/>
          </a:solidFill>
          <a:ln w="5715">
            <a:solidFill>
              <a:srgbClr val="F7F8FA"/>
            </a:solidFill>
            <a:prstDash val="solid"/>
          </a:ln>
        </p:spPr>
      </p:sp>
      <p:sp>
        <p:nvSpPr>
          <p:cNvPr id="42" name="Text 40"/>
          <p:cNvSpPr/>
          <p:nvPr/>
        </p:nvSpPr>
        <p:spPr>
          <a:xfrm>
            <a:off x="5961888" y="218541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13.828</a:t>
            </a:r>
            <a:endParaRPr lang="en-US" sz="1080" dirty="0"/>
          </a:p>
        </p:txBody>
      </p:sp>
      <p:sp>
        <p:nvSpPr>
          <p:cNvPr id="43" name="Shape 41"/>
          <p:cNvSpPr/>
          <p:nvPr/>
        </p:nvSpPr>
        <p:spPr>
          <a:xfrm>
            <a:off x="7132320" y="2098548"/>
            <a:ext cx="1417320" cy="288036"/>
          </a:xfrm>
          <a:prstGeom prst="rect">
            <a:avLst/>
          </a:prstGeom>
          <a:solidFill>
            <a:srgbClr val="FFFFFF"/>
          </a:solidFill>
          <a:ln w="5715">
            <a:solidFill>
              <a:srgbClr val="F7F8FA"/>
            </a:solidFill>
            <a:prstDash val="solid"/>
          </a:ln>
        </p:spPr>
      </p:sp>
      <p:sp>
        <p:nvSpPr>
          <p:cNvPr id="44" name="Text 42"/>
          <p:cNvSpPr/>
          <p:nvPr/>
        </p:nvSpPr>
        <p:spPr>
          <a:xfrm>
            <a:off x="7196328" y="218541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3.24%</a:t>
            </a:r>
            <a:endParaRPr lang="en-US" sz="1080" dirty="0"/>
          </a:p>
        </p:txBody>
      </p:sp>
      <p:sp>
        <p:nvSpPr>
          <p:cNvPr id="45" name="Shape 43"/>
          <p:cNvSpPr/>
          <p:nvPr/>
        </p:nvSpPr>
        <p:spPr>
          <a:xfrm>
            <a:off x="8549640" y="2098548"/>
            <a:ext cx="1325880" cy="288036"/>
          </a:xfrm>
          <a:prstGeom prst="rect">
            <a:avLst/>
          </a:prstGeom>
          <a:solidFill>
            <a:srgbClr val="FFFFFF"/>
          </a:solidFill>
          <a:ln w="5715">
            <a:solidFill>
              <a:srgbClr val="F7F8FA"/>
            </a:solidFill>
            <a:prstDash val="solid"/>
          </a:ln>
        </p:spPr>
      </p:sp>
      <p:sp>
        <p:nvSpPr>
          <p:cNvPr id="46" name="Text 44"/>
          <p:cNvSpPr/>
          <p:nvPr/>
        </p:nvSpPr>
        <p:spPr>
          <a:xfrm>
            <a:off x="8613648" y="218541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47" name="Shape 45"/>
          <p:cNvSpPr/>
          <p:nvPr/>
        </p:nvSpPr>
        <p:spPr>
          <a:xfrm>
            <a:off x="502920" y="2386584"/>
            <a:ext cx="1143000" cy="288036"/>
          </a:xfrm>
          <a:prstGeom prst="rect">
            <a:avLst/>
          </a:prstGeom>
          <a:solidFill>
            <a:srgbClr val="F0F4F7"/>
          </a:solidFill>
          <a:ln w="5715">
            <a:solidFill>
              <a:srgbClr val="F7F8FA"/>
            </a:solidFill>
            <a:prstDash val="solid"/>
          </a:ln>
        </p:spPr>
      </p:sp>
      <p:sp>
        <p:nvSpPr>
          <p:cNvPr id="48" name="Text 46"/>
          <p:cNvSpPr/>
          <p:nvPr/>
        </p:nvSpPr>
        <p:spPr>
          <a:xfrm>
            <a:off x="566928" y="247345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49" name="Shape 47"/>
          <p:cNvSpPr/>
          <p:nvPr/>
        </p:nvSpPr>
        <p:spPr>
          <a:xfrm>
            <a:off x="1645920" y="2386584"/>
            <a:ext cx="4251960" cy="288036"/>
          </a:xfrm>
          <a:prstGeom prst="rect">
            <a:avLst/>
          </a:prstGeom>
          <a:solidFill>
            <a:srgbClr val="F0F4F7"/>
          </a:solidFill>
          <a:ln w="5715">
            <a:solidFill>
              <a:srgbClr val="F7F8FA"/>
            </a:solidFill>
            <a:prstDash val="solid"/>
          </a:ln>
        </p:spPr>
      </p:sp>
      <p:sp>
        <p:nvSpPr>
          <p:cNvPr id="50" name="Text 48"/>
          <p:cNvSpPr/>
          <p:nvPr/>
        </p:nvSpPr>
        <p:spPr>
          <a:xfrm>
            <a:off x="1709928" y="247345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Graph conversion</a:t>
            </a:r>
            <a:endParaRPr lang="en-US" sz="1080" dirty="0"/>
          </a:p>
        </p:txBody>
      </p:sp>
      <p:sp>
        <p:nvSpPr>
          <p:cNvPr id="51" name="Shape 49"/>
          <p:cNvSpPr/>
          <p:nvPr/>
        </p:nvSpPr>
        <p:spPr>
          <a:xfrm>
            <a:off x="5897880" y="2386584"/>
            <a:ext cx="1234440" cy="288036"/>
          </a:xfrm>
          <a:prstGeom prst="rect">
            <a:avLst/>
          </a:prstGeom>
          <a:solidFill>
            <a:srgbClr val="F0F4F7"/>
          </a:solidFill>
          <a:ln w="5715">
            <a:solidFill>
              <a:srgbClr val="F7F8FA"/>
            </a:solidFill>
            <a:prstDash val="solid"/>
          </a:ln>
        </p:spPr>
      </p:sp>
      <p:sp>
        <p:nvSpPr>
          <p:cNvPr id="52" name="Text 50"/>
          <p:cNvSpPr/>
          <p:nvPr/>
        </p:nvSpPr>
        <p:spPr>
          <a:xfrm>
            <a:off x="5961888" y="247345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114.246</a:t>
            </a:r>
            <a:endParaRPr lang="en-US" sz="1080" dirty="0"/>
          </a:p>
        </p:txBody>
      </p:sp>
      <p:sp>
        <p:nvSpPr>
          <p:cNvPr id="53" name="Shape 51"/>
          <p:cNvSpPr/>
          <p:nvPr/>
        </p:nvSpPr>
        <p:spPr>
          <a:xfrm>
            <a:off x="7132320" y="2386584"/>
            <a:ext cx="1417320" cy="288036"/>
          </a:xfrm>
          <a:prstGeom prst="rect">
            <a:avLst/>
          </a:prstGeom>
          <a:solidFill>
            <a:srgbClr val="F0F4F7"/>
          </a:solidFill>
          <a:ln w="5715">
            <a:solidFill>
              <a:srgbClr val="F7F8FA"/>
            </a:solidFill>
            <a:prstDash val="solid"/>
          </a:ln>
        </p:spPr>
      </p:sp>
      <p:sp>
        <p:nvSpPr>
          <p:cNvPr id="54" name="Text 52"/>
          <p:cNvSpPr/>
          <p:nvPr/>
        </p:nvSpPr>
        <p:spPr>
          <a:xfrm>
            <a:off x="7196328" y="247345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26.80%</a:t>
            </a:r>
            <a:endParaRPr lang="en-US" sz="1080" dirty="0"/>
          </a:p>
        </p:txBody>
      </p:sp>
      <p:sp>
        <p:nvSpPr>
          <p:cNvPr id="55" name="Shape 53"/>
          <p:cNvSpPr/>
          <p:nvPr/>
        </p:nvSpPr>
        <p:spPr>
          <a:xfrm>
            <a:off x="8549640" y="2386584"/>
            <a:ext cx="1325880" cy="288036"/>
          </a:xfrm>
          <a:prstGeom prst="rect">
            <a:avLst/>
          </a:prstGeom>
          <a:solidFill>
            <a:srgbClr val="F0F4F7"/>
          </a:solidFill>
          <a:ln w="5715">
            <a:solidFill>
              <a:srgbClr val="F7F8FA"/>
            </a:solidFill>
            <a:prstDash val="solid"/>
          </a:ln>
        </p:spPr>
      </p:sp>
      <p:sp>
        <p:nvSpPr>
          <p:cNvPr id="56" name="Text 54"/>
          <p:cNvSpPr/>
          <p:nvPr/>
        </p:nvSpPr>
        <p:spPr>
          <a:xfrm>
            <a:off x="8613648" y="247345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30.37%</a:t>
            </a:r>
            <a:endParaRPr lang="en-US" sz="1080" dirty="0"/>
          </a:p>
        </p:txBody>
      </p:sp>
      <p:sp>
        <p:nvSpPr>
          <p:cNvPr id="57" name="Shape 55"/>
          <p:cNvSpPr/>
          <p:nvPr/>
        </p:nvSpPr>
        <p:spPr>
          <a:xfrm>
            <a:off x="502920" y="2674620"/>
            <a:ext cx="1143000" cy="288036"/>
          </a:xfrm>
          <a:prstGeom prst="rect">
            <a:avLst/>
          </a:prstGeom>
          <a:solidFill>
            <a:srgbClr val="FFFFFF"/>
          </a:solidFill>
          <a:ln w="5715">
            <a:solidFill>
              <a:srgbClr val="F7F8FA"/>
            </a:solidFill>
            <a:prstDash val="solid"/>
          </a:ln>
        </p:spPr>
      </p:sp>
      <p:sp>
        <p:nvSpPr>
          <p:cNvPr id="58" name="Text 56"/>
          <p:cNvSpPr/>
          <p:nvPr/>
        </p:nvSpPr>
        <p:spPr>
          <a:xfrm>
            <a:off x="566928" y="276148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59" name="Shape 57"/>
          <p:cNvSpPr/>
          <p:nvPr/>
        </p:nvSpPr>
        <p:spPr>
          <a:xfrm>
            <a:off x="1645920" y="2674620"/>
            <a:ext cx="4251960" cy="288036"/>
          </a:xfrm>
          <a:prstGeom prst="rect">
            <a:avLst/>
          </a:prstGeom>
          <a:solidFill>
            <a:srgbClr val="FFFFFF"/>
          </a:solidFill>
          <a:ln w="5715">
            <a:solidFill>
              <a:srgbClr val="F7F8FA"/>
            </a:solidFill>
            <a:prstDash val="solid"/>
          </a:ln>
        </p:spPr>
      </p:sp>
      <p:sp>
        <p:nvSpPr>
          <p:cNvPr id="60" name="Text 58"/>
          <p:cNvSpPr/>
          <p:nvPr/>
        </p:nvSpPr>
        <p:spPr>
          <a:xfrm>
            <a:off x="1709928" y="276148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CUDA backend</a:t>
            </a:r>
            <a:endParaRPr lang="en-US" sz="1080" dirty="0"/>
          </a:p>
        </p:txBody>
      </p:sp>
      <p:sp>
        <p:nvSpPr>
          <p:cNvPr id="61" name="Shape 59"/>
          <p:cNvSpPr/>
          <p:nvPr/>
        </p:nvSpPr>
        <p:spPr>
          <a:xfrm>
            <a:off x="5897880" y="2674620"/>
            <a:ext cx="1234440" cy="288036"/>
          </a:xfrm>
          <a:prstGeom prst="rect">
            <a:avLst/>
          </a:prstGeom>
          <a:solidFill>
            <a:srgbClr val="FFFFFF"/>
          </a:solidFill>
          <a:ln w="5715">
            <a:solidFill>
              <a:srgbClr val="F7F8FA"/>
            </a:solidFill>
            <a:prstDash val="solid"/>
          </a:ln>
        </p:spPr>
      </p:sp>
      <p:sp>
        <p:nvSpPr>
          <p:cNvPr id="62" name="Text 60"/>
          <p:cNvSpPr/>
          <p:nvPr/>
        </p:nvSpPr>
        <p:spPr>
          <a:xfrm>
            <a:off x="5961888" y="276148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137.542</a:t>
            </a:r>
            <a:endParaRPr lang="en-US" sz="1080" dirty="0"/>
          </a:p>
        </p:txBody>
      </p:sp>
      <p:sp>
        <p:nvSpPr>
          <p:cNvPr id="63" name="Shape 61"/>
          <p:cNvSpPr/>
          <p:nvPr/>
        </p:nvSpPr>
        <p:spPr>
          <a:xfrm>
            <a:off x="7132320" y="2674620"/>
            <a:ext cx="1417320" cy="288036"/>
          </a:xfrm>
          <a:prstGeom prst="rect">
            <a:avLst/>
          </a:prstGeom>
          <a:solidFill>
            <a:srgbClr val="FFFFFF"/>
          </a:solidFill>
          <a:ln w="5715">
            <a:solidFill>
              <a:srgbClr val="F7F8FA"/>
            </a:solidFill>
            <a:prstDash val="solid"/>
          </a:ln>
        </p:spPr>
      </p:sp>
      <p:sp>
        <p:nvSpPr>
          <p:cNvPr id="64" name="Text 62"/>
          <p:cNvSpPr/>
          <p:nvPr/>
        </p:nvSpPr>
        <p:spPr>
          <a:xfrm>
            <a:off x="7196328" y="276148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32.27%</a:t>
            </a:r>
            <a:endParaRPr lang="en-US" sz="1080" dirty="0"/>
          </a:p>
        </p:txBody>
      </p:sp>
      <p:sp>
        <p:nvSpPr>
          <p:cNvPr id="65" name="Shape 63"/>
          <p:cNvSpPr/>
          <p:nvPr/>
        </p:nvSpPr>
        <p:spPr>
          <a:xfrm>
            <a:off x="8549640" y="2674620"/>
            <a:ext cx="1325880" cy="288036"/>
          </a:xfrm>
          <a:prstGeom prst="rect">
            <a:avLst/>
          </a:prstGeom>
          <a:solidFill>
            <a:srgbClr val="FFFFFF"/>
          </a:solidFill>
          <a:ln w="5715">
            <a:solidFill>
              <a:srgbClr val="F7F8FA"/>
            </a:solidFill>
            <a:prstDash val="solid"/>
          </a:ln>
        </p:spPr>
      </p:sp>
      <p:sp>
        <p:nvSpPr>
          <p:cNvPr id="66" name="Text 64"/>
          <p:cNvSpPr/>
          <p:nvPr/>
        </p:nvSpPr>
        <p:spPr>
          <a:xfrm>
            <a:off x="8613648" y="276148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36.56%</a:t>
            </a:r>
            <a:endParaRPr lang="en-US" sz="1080" dirty="0"/>
          </a:p>
        </p:txBody>
      </p:sp>
      <p:sp>
        <p:nvSpPr>
          <p:cNvPr id="67" name="Shape 65"/>
          <p:cNvSpPr/>
          <p:nvPr/>
        </p:nvSpPr>
        <p:spPr>
          <a:xfrm>
            <a:off x="502920" y="2962656"/>
            <a:ext cx="1143000" cy="288036"/>
          </a:xfrm>
          <a:prstGeom prst="rect">
            <a:avLst/>
          </a:prstGeom>
          <a:solidFill>
            <a:srgbClr val="F0F4F7"/>
          </a:solidFill>
          <a:ln w="5715">
            <a:solidFill>
              <a:srgbClr val="F7F8FA"/>
            </a:solidFill>
            <a:prstDash val="solid"/>
          </a:ln>
        </p:spPr>
      </p:sp>
      <p:sp>
        <p:nvSpPr>
          <p:cNvPr id="68" name="Text 66"/>
          <p:cNvSpPr/>
          <p:nvPr/>
        </p:nvSpPr>
        <p:spPr>
          <a:xfrm>
            <a:off x="566928" y="304952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69" name="Shape 67"/>
          <p:cNvSpPr/>
          <p:nvPr/>
        </p:nvSpPr>
        <p:spPr>
          <a:xfrm>
            <a:off x="1645920" y="2962656"/>
            <a:ext cx="4251960" cy="288036"/>
          </a:xfrm>
          <a:prstGeom prst="rect">
            <a:avLst/>
          </a:prstGeom>
          <a:solidFill>
            <a:srgbClr val="F0F4F7"/>
          </a:solidFill>
          <a:ln w="5715">
            <a:solidFill>
              <a:srgbClr val="F7F8FA"/>
            </a:solidFill>
            <a:prstDash val="solid"/>
          </a:ln>
        </p:spPr>
      </p:sp>
      <p:sp>
        <p:nvSpPr>
          <p:cNvPr id="70" name="Text 68"/>
          <p:cNvSpPr/>
          <p:nvPr/>
        </p:nvSpPr>
        <p:spPr>
          <a:xfrm>
            <a:off x="1709928" y="304952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Backend return / assignment</a:t>
            </a:r>
            <a:endParaRPr lang="en-US" sz="1080" dirty="0"/>
          </a:p>
        </p:txBody>
      </p:sp>
      <p:sp>
        <p:nvSpPr>
          <p:cNvPr id="71" name="Shape 69"/>
          <p:cNvSpPr/>
          <p:nvPr/>
        </p:nvSpPr>
        <p:spPr>
          <a:xfrm>
            <a:off x="5897880" y="2962656"/>
            <a:ext cx="1234440" cy="288036"/>
          </a:xfrm>
          <a:prstGeom prst="rect">
            <a:avLst/>
          </a:prstGeom>
          <a:solidFill>
            <a:srgbClr val="F0F4F7"/>
          </a:solidFill>
          <a:ln w="5715">
            <a:solidFill>
              <a:srgbClr val="F7F8FA"/>
            </a:solidFill>
            <a:prstDash val="solid"/>
          </a:ln>
        </p:spPr>
      </p:sp>
      <p:sp>
        <p:nvSpPr>
          <p:cNvPr id="72" name="Text 70"/>
          <p:cNvSpPr/>
          <p:nvPr/>
        </p:nvSpPr>
        <p:spPr>
          <a:xfrm>
            <a:off x="5961888" y="304952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26.685</a:t>
            </a:r>
            <a:endParaRPr lang="en-US" sz="1080" dirty="0"/>
          </a:p>
        </p:txBody>
      </p:sp>
      <p:sp>
        <p:nvSpPr>
          <p:cNvPr id="73" name="Shape 71"/>
          <p:cNvSpPr/>
          <p:nvPr/>
        </p:nvSpPr>
        <p:spPr>
          <a:xfrm>
            <a:off x="7132320" y="2962656"/>
            <a:ext cx="1417320" cy="288036"/>
          </a:xfrm>
          <a:prstGeom prst="rect">
            <a:avLst/>
          </a:prstGeom>
          <a:solidFill>
            <a:srgbClr val="F0F4F7"/>
          </a:solidFill>
          <a:ln w="5715">
            <a:solidFill>
              <a:srgbClr val="F7F8FA"/>
            </a:solidFill>
            <a:prstDash val="solid"/>
          </a:ln>
        </p:spPr>
      </p:sp>
      <p:sp>
        <p:nvSpPr>
          <p:cNvPr id="74" name="Text 72"/>
          <p:cNvSpPr/>
          <p:nvPr/>
        </p:nvSpPr>
        <p:spPr>
          <a:xfrm>
            <a:off x="7196328" y="304952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6.26%</a:t>
            </a:r>
            <a:endParaRPr lang="en-US" sz="1080" dirty="0"/>
          </a:p>
        </p:txBody>
      </p:sp>
      <p:sp>
        <p:nvSpPr>
          <p:cNvPr id="75" name="Shape 73"/>
          <p:cNvSpPr/>
          <p:nvPr/>
        </p:nvSpPr>
        <p:spPr>
          <a:xfrm>
            <a:off x="8549640" y="2962656"/>
            <a:ext cx="1325880" cy="288036"/>
          </a:xfrm>
          <a:prstGeom prst="rect">
            <a:avLst/>
          </a:prstGeom>
          <a:solidFill>
            <a:srgbClr val="F0F4F7"/>
          </a:solidFill>
          <a:ln w="5715">
            <a:solidFill>
              <a:srgbClr val="F7F8FA"/>
            </a:solidFill>
            <a:prstDash val="solid"/>
          </a:ln>
        </p:spPr>
      </p:sp>
      <p:sp>
        <p:nvSpPr>
          <p:cNvPr id="76" name="Text 74"/>
          <p:cNvSpPr/>
          <p:nvPr/>
        </p:nvSpPr>
        <p:spPr>
          <a:xfrm>
            <a:off x="8613648" y="304952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7.09%</a:t>
            </a:r>
            <a:endParaRPr lang="en-US" sz="1080" dirty="0"/>
          </a:p>
        </p:txBody>
      </p:sp>
      <p:sp>
        <p:nvSpPr>
          <p:cNvPr id="77" name="Shape 75"/>
          <p:cNvSpPr/>
          <p:nvPr/>
        </p:nvSpPr>
        <p:spPr>
          <a:xfrm>
            <a:off x="502920" y="3250692"/>
            <a:ext cx="1143000" cy="288036"/>
          </a:xfrm>
          <a:prstGeom prst="rect">
            <a:avLst/>
          </a:prstGeom>
          <a:solidFill>
            <a:srgbClr val="FFFFFF"/>
          </a:solidFill>
          <a:ln w="5715">
            <a:solidFill>
              <a:srgbClr val="F7F8FA"/>
            </a:solidFill>
            <a:prstDash val="solid"/>
          </a:ln>
        </p:spPr>
      </p:sp>
      <p:sp>
        <p:nvSpPr>
          <p:cNvPr id="78" name="Text 76"/>
          <p:cNvSpPr/>
          <p:nvPr/>
        </p:nvSpPr>
        <p:spPr>
          <a:xfrm>
            <a:off x="566928" y="333756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79" name="Shape 77"/>
          <p:cNvSpPr/>
          <p:nvPr/>
        </p:nvSpPr>
        <p:spPr>
          <a:xfrm>
            <a:off x="1645920" y="3250692"/>
            <a:ext cx="4251960" cy="288036"/>
          </a:xfrm>
          <a:prstGeom prst="rect">
            <a:avLst/>
          </a:prstGeom>
          <a:solidFill>
            <a:srgbClr val="FFFFFF"/>
          </a:solidFill>
          <a:ln w="5715">
            <a:solidFill>
              <a:srgbClr val="F7F8FA"/>
            </a:solidFill>
            <a:prstDash val="solid"/>
          </a:ln>
        </p:spPr>
      </p:sp>
      <p:sp>
        <p:nvSpPr>
          <p:cNvPr id="80" name="Text 78"/>
          <p:cNvSpPr/>
          <p:nvPr/>
        </p:nvSpPr>
        <p:spPr>
          <a:xfrm>
            <a:off x="1709928" y="333756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Values merge / state update</a:t>
            </a:r>
            <a:endParaRPr lang="en-US" sz="1080" dirty="0"/>
          </a:p>
        </p:txBody>
      </p:sp>
      <p:sp>
        <p:nvSpPr>
          <p:cNvPr id="81" name="Shape 79"/>
          <p:cNvSpPr/>
          <p:nvPr/>
        </p:nvSpPr>
        <p:spPr>
          <a:xfrm>
            <a:off x="5897880" y="3250692"/>
            <a:ext cx="1234440" cy="288036"/>
          </a:xfrm>
          <a:prstGeom prst="rect">
            <a:avLst/>
          </a:prstGeom>
          <a:solidFill>
            <a:srgbClr val="FFFFFF"/>
          </a:solidFill>
          <a:ln w="5715">
            <a:solidFill>
              <a:srgbClr val="F7F8FA"/>
            </a:solidFill>
            <a:prstDash val="solid"/>
          </a:ln>
        </p:spPr>
      </p:sp>
      <p:sp>
        <p:nvSpPr>
          <p:cNvPr id="82" name="Text 80"/>
          <p:cNvSpPr/>
          <p:nvPr/>
        </p:nvSpPr>
        <p:spPr>
          <a:xfrm>
            <a:off x="5961888" y="333756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67.464</a:t>
            </a:r>
            <a:endParaRPr lang="en-US" sz="1080" dirty="0"/>
          </a:p>
        </p:txBody>
      </p:sp>
      <p:sp>
        <p:nvSpPr>
          <p:cNvPr id="83" name="Shape 81"/>
          <p:cNvSpPr/>
          <p:nvPr/>
        </p:nvSpPr>
        <p:spPr>
          <a:xfrm>
            <a:off x="7132320" y="3250692"/>
            <a:ext cx="1417320" cy="288036"/>
          </a:xfrm>
          <a:prstGeom prst="rect">
            <a:avLst/>
          </a:prstGeom>
          <a:solidFill>
            <a:srgbClr val="FFFFFF"/>
          </a:solidFill>
          <a:ln w="5715">
            <a:solidFill>
              <a:srgbClr val="F7F8FA"/>
            </a:solidFill>
            <a:prstDash val="solid"/>
          </a:ln>
        </p:spPr>
      </p:sp>
      <p:sp>
        <p:nvSpPr>
          <p:cNvPr id="84" name="Text 82"/>
          <p:cNvSpPr/>
          <p:nvPr/>
        </p:nvSpPr>
        <p:spPr>
          <a:xfrm>
            <a:off x="7196328" y="333756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15.83%</a:t>
            </a:r>
            <a:endParaRPr lang="en-US" sz="1080" dirty="0"/>
          </a:p>
        </p:txBody>
      </p:sp>
      <p:sp>
        <p:nvSpPr>
          <p:cNvPr id="85" name="Shape 83"/>
          <p:cNvSpPr/>
          <p:nvPr/>
        </p:nvSpPr>
        <p:spPr>
          <a:xfrm>
            <a:off x="8549640" y="3250692"/>
            <a:ext cx="1325880" cy="288036"/>
          </a:xfrm>
          <a:prstGeom prst="rect">
            <a:avLst/>
          </a:prstGeom>
          <a:solidFill>
            <a:srgbClr val="FFFFFF"/>
          </a:solidFill>
          <a:ln w="5715">
            <a:solidFill>
              <a:srgbClr val="F7F8FA"/>
            </a:solidFill>
            <a:prstDash val="solid"/>
          </a:ln>
        </p:spPr>
      </p:sp>
      <p:sp>
        <p:nvSpPr>
          <p:cNvPr id="86" name="Text 84"/>
          <p:cNvSpPr/>
          <p:nvPr/>
        </p:nvSpPr>
        <p:spPr>
          <a:xfrm>
            <a:off x="8613648" y="333756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17.93%</a:t>
            </a:r>
            <a:endParaRPr lang="en-US" sz="1080" dirty="0"/>
          </a:p>
        </p:txBody>
      </p:sp>
      <p:sp>
        <p:nvSpPr>
          <p:cNvPr id="87" name="Shape 85"/>
          <p:cNvSpPr/>
          <p:nvPr/>
        </p:nvSpPr>
        <p:spPr>
          <a:xfrm>
            <a:off x="502920" y="3538728"/>
            <a:ext cx="1143000" cy="288036"/>
          </a:xfrm>
          <a:prstGeom prst="rect">
            <a:avLst/>
          </a:prstGeom>
          <a:solidFill>
            <a:srgbClr val="F0F4F7"/>
          </a:solidFill>
          <a:ln w="5715">
            <a:solidFill>
              <a:srgbClr val="F7F8FA"/>
            </a:solidFill>
            <a:prstDash val="solid"/>
          </a:ln>
        </p:spPr>
      </p:sp>
      <p:sp>
        <p:nvSpPr>
          <p:cNvPr id="88" name="Text 86"/>
          <p:cNvSpPr/>
          <p:nvPr/>
        </p:nvSpPr>
        <p:spPr>
          <a:xfrm>
            <a:off x="566928" y="362559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89" name="Shape 87"/>
          <p:cNvSpPr/>
          <p:nvPr/>
        </p:nvSpPr>
        <p:spPr>
          <a:xfrm>
            <a:off x="1645920" y="3538728"/>
            <a:ext cx="4251960" cy="288036"/>
          </a:xfrm>
          <a:prstGeom prst="rect">
            <a:avLst/>
          </a:prstGeom>
          <a:solidFill>
            <a:srgbClr val="F0F4F7"/>
          </a:solidFill>
          <a:ln w="5715">
            <a:solidFill>
              <a:srgbClr val="F7F8FA"/>
            </a:solidFill>
            <a:prstDash val="solid"/>
          </a:ln>
        </p:spPr>
      </p:sp>
      <p:sp>
        <p:nvSpPr>
          <p:cNvPr id="90" name="Text 88"/>
          <p:cNvSpPr/>
          <p:nvPr/>
        </p:nvSpPr>
        <p:spPr>
          <a:xfrm>
            <a:off x="1709928" y="362559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Converted-data destruction</a:t>
            </a:r>
            <a:endParaRPr lang="en-US" sz="1080" dirty="0"/>
          </a:p>
        </p:txBody>
      </p:sp>
      <p:sp>
        <p:nvSpPr>
          <p:cNvPr id="91" name="Shape 89"/>
          <p:cNvSpPr/>
          <p:nvPr/>
        </p:nvSpPr>
        <p:spPr>
          <a:xfrm>
            <a:off x="5897880" y="3538728"/>
            <a:ext cx="1234440" cy="288036"/>
          </a:xfrm>
          <a:prstGeom prst="rect">
            <a:avLst/>
          </a:prstGeom>
          <a:solidFill>
            <a:srgbClr val="F0F4F7"/>
          </a:solidFill>
          <a:ln w="5715">
            <a:solidFill>
              <a:srgbClr val="F7F8FA"/>
            </a:solidFill>
            <a:prstDash val="solid"/>
          </a:ln>
        </p:spPr>
      </p:sp>
      <p:sp>
        <p:nvSpPr>
          <p:cNvPr id="92" name="Text 90"/>
          <p:cNvSpPr/>
          <p:nvPr/>
        </p:nvSpPr>
        <p:spPr>
          <a:xfrm>
            <a:off x="5961888" y="362559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30.247</a:t>
            </a:r>
            <a:endParaRPr lang="en-US" sz="1080" dirty="0"/>
          </a:p>
        </p:txBody>
      </p:sp>
      <p:sp>
        <p:nvSpPr>
          <p:cNvPr id="93" name="Shape 91"/>
          <p:cNvSpPr/>
          <p:nvPr/>
        </p:nvSpPr>
        <p:spPr>
          <a:xfrm>
            <a:off x="7132320" y="3538728"/>
            <a:ext cx="1417320" cy="288036"/>
          </a:xfrm>
          <a:prstGeom prst="rect">
            <a:avLst/>
          </a:prstGeom>
          <a:solidFill>
            <a:srgbClr val="F0F4F7"/>
          </a:solidFill>
          <a:ln w="5715">
            <a:solidFill>
              <a:srgbClr val="F7F8FA"/>
            </a:solidFill>
            <a:prstDash val="solid"/>
          </a:ln>
        </p:spPr>
      </p:sp>
      <p:sp>
        <p:nvSpPr>
          <p:cNvPr id="94" name="Text 92"/>
          <p:cNvSpPr/>
          <p:nvPr/>
        </p:nvSpPr>
        <p:spPr>
          <a:xfrm>
            <a:off x="7196328" y="362559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7.10%</a:t>
            </a:r>
            <a:endParaRPr lang="en-US" sz="1080" dirty="0"/>
          </a:p>
        </p:txBody>
      </p:sp>
      <p:sp>
        <p:nvSpPr>
          <p:cNvPr id="95" name="Shape 93"/>
          <p:cNvSpPr/>
          <p:nvPr/>
        </p:nvSpPr>
        <p:spPr>
          <a:xfrm>
            <a:off x="8549640" y="3538728"/>
            <a:ext cx="1325880" cy="288036"/>
          </a:xfrm>
          <a:prstGeom prst="rect">
            <a:avLst/>
          </a:prstGeom>
          <a:solidFill>
            <a:srgbClr val="F0F4F7"/>
          </a:solidFill>
          <a:ln w="5715">
            <a:solidFill>
              <a:srgbClr val="F7F8FA"/>
            </a:solidFill>
            <a:prstDash val="solid"/>
          </a:ln>
        </p:spPr>
      </p:sp>
      <p:sp>
        <p:nvSpPr>
          <p:cNvPr id="96" name="Text 94"/>
          <p:cNvSpPr/>
          <p:nvPr/>
        </p:nvSpPr>
        <p:spPr>
          <a:xfrm>
            <a:off x="8613648" y="362559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8.04%</a:t>
            </a:r>
            <a:endParaRPr lang="en-US" sz="1080" dirty="0"/>
          </a:p>
        </p:txBody>
      </p:sp>
      <p:sp>
        <p:nvSpPr>
          <p:cNvPr id="97" name="Shape 95"/>
          <p:cNvSpPr/>
          <p:nvPr/>
        </p:nvSpPr>
        <p:spPr>
          <a:xfrm>
            <a:off x="502920" y="3826764"/>
            <a:ext cx="1143000" cy="288036"/>
          </a:xfrm>
          <a:prstGeom prst="rect">
            <a:avLst/>
          </a:prstGeom>
          <a:solidFill>
            <a:srgbClr val="FFFFFF"/>
          </a:solidFill>
          <a:ln w="5715">
            <a:solidFill>
              <a:srgbClr val="F7F8FA"/>
            </a:solidFill>
            <a:prstDash val="solid"/>
          </a:ln>
        </p:spPr>
      </p:sp>
      <p:sp>
        <p:nvSpPr>
          <p:cNvPr id="98" name="Text 96"/>
          <p:cNvSpPr/>
          <p:nvPr/>
        </p:nvSpPr>
        <p:spPr>
          <a:xfrm>
            <a:off x="566928" y="391363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99" name="Shape 97"/>
          <p:cNvSpPr/>
          <p:nvPr/>
        </p:nvSpPr>
        <p:spPr>
          <a:xfrm>
            <a:off x="1645920" y="3826764"/>
            <a:ext cx="4251960" cy="288036"/>
          </a:xfrm>
          <a:prstGeom prst="rect">
            <a:avLst/>
          </a:prstGeom>
          <a:solidFill>
            <a:srgbClr val="FFFFFF"/>
          </a:solidFill>
          <a:ln w="5715">
            <a:solidFill>
              <a:srgbClr val="F7F8FA"/>
            </a:solidFill>
            <a:prstDash val="solid"/>
          </a:ln>
        </p:spPr>
      </p:sp>
      <p:sp>
        <p:nvSpPr>
          <p:cNvPr id="100" name="Text 98"/>
          <p:cNvSpPr/>
          <p:nvPr/>
        </p:nvSpPr>
        <p:spPr>
          <a:xfrm>
            <a:off x="1709928" y="391363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Setup</a:t>
            </a:r>
            <a:endParaRPr lang="en-US" sz="1080" dirty="0"/>
          </a:p>
        </p:txBody>
      </p:sp>
      <p:sp>
        <p:nvSpPr>
          <p:cNvPr id="101" name="Shape 99"/>
          <p:cNvSpPr/>
          <p:nvPr/>
        </p:nvSpPr>
        <p:spPr>
          <a:xfrm>
            <a:off x="5897880" y="3826764"/>
            <a:ext cx="1234440" cy="288036"/>
          </a:xfrm>
          <a:prstGeom prst="rect">
            <a:avLst/>
          </a:prstGeom>
          <a:solidFill>
            <a:srgbClr val="FFFFFF"/>
          </a:solidFill>
          <a:ln w="5715">
            <a:solidFill>
              <a:srgbClr val="F7F8FA"/>
            </a:solidFill>
            <a:prstDash val="solid"/>
          </a:ln>
        </p:spPr>
      </p:sp>
      <p:sp>
        <p:nvSpPr>
          <p:cNvPr id="102" name="Text 100"/>
          <p:cNvSpPr/>
          <p:nvPr/>
        </p:nvSpPr>
        <p:spPr>
          <a:xfrm>
            <a:off x="5961888" y="391363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67.544</a:t>
            </a:r>
            <a:endParaRPr lang="en-US" sz="1080" dirty="0"/>
          </a:p>
        </p:txBody>
      </p:sp>
      <p:sp>
        <p:nvSpPr>
          <p:cNvPr id="103" name="Shape 101"/>
          <p:cNvSpPr/>
          <p:nvPr/>
        </p:nvSpPr>
        <p:spPr>
          <a:xfrm>
            <a:off x="7132320" y="3826764"/>
            <a:ext cx="1417320" cy="288036"/>
          </a:xfrm>
          <a:prstGeom prst="rect">
            <a:avLst/>
          </a:prstGeom>
          <a:solidFill>
            <a:srgbClr val="FFFFFF"/>
          </a:solidFill>
          <a:ln w="5715">
            <a:solidFill>
              <a:srgbClr val="F7F8FA"/>
            </a:solidFill>
            <a:prstDash val="solid"/>
          </a:ln>
        </p:spPr>
      </p:sp>
      <p:sp>
        <p:nvSpPr>
          <p:cNvPr id="104" name="Text 102"/>
          <p:cNvSpPr/>
          <p:nvPr/>
        </p:nvSpPr>
        <p:spPr>
          <a:xfrm>
            <a:off x="7196328" y="391363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15.85%</a:t>
            </a:r>
            <a:endParaRPr lang="en-US" sz="1080" dirty="0"/>
          </a:p>
        </p:txBody>
      </p:sp>
      <p:sp>
        <p:nvSpPr>
          <p:cNvPr id="105" name="Shape 103"/>
          <p:cNvSpPr/>
          <p:nvPr/>
        </p:nvSpPr>
        <p:spPr>
          <a:xfrm>
            <a:off x="8549640" y="3826764"/>
            <a:ext cx="1325880" cy="288036"/>
          </a:xfrm>
          <a:prstGeom prst="rect">
            <a:avLst/>
          </a:prstGeom>
          <a:solidFill>
            <a:srgbClr val="FFFFFF"/>
          </a:solidFill>
          <a:ln w="5715">
            <a:solidFill>
              <a:srgbClr val="F7F8FA"/>
            </a:solidFill>
            <a:prstDash val="solid"/>
          </a:ln>
        </p:spPr>
      </p:sp>
      <p:sp>
        <p:nvSpPr>
          <p:cNvPr id="106" name="Text 104"/>
          <p:cNvSpPr/>
          <p:nvPr/>
        </p:nvSpPr>
        <p:spPr>
          <a:xfrm>
            <a:off x="8613648" y="391363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49.11%</a:t>
            </a:r>
            <a:endParaRPr lang="en-US" sz="1080" dirty="0"/>
          </a:p>
        </p:txBody>
      </p:sp>
      <p:sp>
        <p:nvSpPr>
          <p:cNvPr id="107" name="Shape 105"/>
          <p:cNvSpPr/>
          <p:nvPr/>
        </p:nvSpPr>
        <p:spPr>
          <a:xfrm>
            <a:off x="502920" y="4114800"/>
            <a:ext cx="1143000" cy="288036"/>
          </a:xfrm>
          <a:prstGeom prst="rect">
            <a:avLst/>
          </a:prstGeom>
          <a:solidFill>
            <a:srgbClr val="F0F4F7"/>
          </a:solidFill>
          <a:ln w="5715">
            <a:solidFill>
              <a:srgbClr val="F7F8FA"/>
            </a:solidFill>
            <a:prstDash val="solid"/>
          </a:ln>
        </p:spPr>
      </p:sp>
      <p:sp>
        <p:nvSpPr>
          <p:cNvPr id="108" name="Text 106"/>
          <p:cNvSpPr/>
          <p:nvPr/>
        </p:nvSpPr>
        <p:spPr>
          <a:xfrm>
            <a:off x="566928" y="420166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09" name="Shape 107"/>
          <p:cNvSpPr/>
          <p:nvPr/>
        </p:nvSpPr>
        <p:spPr>
          <a:xfrm>
            <a:off x="1645920" y="4114800"/>
            <a:ext cx="4251960" cy="288036"/>
          </a:xfrm>
          <a:prstGeom prst="rect">
            <a:avLst/>
          </a:prstGeom>
          <a:solidFill>
            <a:srgbClr val="F0F4F7"/>
          </a:solidFill>
          <a:ln w="5715">
            <a:solidFill>
              <a:srgbClr val="F7F8FA"/>
            </a:solidFill>
            <a:prstDash val="solid"/>
          </a:ln>
        </p:spPr>
      </p:sp>
      <p:sp>
        <p:nvSpPr>
          <p:cNvPr id="110" name="Text 108"/>
          <p:cNvSpPr/>
          <p:nvPr/>
        </p:nvSpPr>
        <p:spPr>
          <a:xfrm>
            <a:off x="1709928" y="420166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Solve loop</a:t>
            </a:r>
            <a:endParaRPr lang="en-US" sz="1080" dirty="0"/>
          </a:p>
        </p:txBody>
      </p:sp>
      <p:sp>
        <p:nvSpPr>
          <p:cNvPr id="111" name="Shape 109"/>
          <p:cNvSpPr/>
          <p:nvPr/>
        </p:nvSpPr>
        <p:spPr>
          <a:xfrm>
            <a:off x="5897880" y="4114800"/>
            <a:ext cx="1234440" cy="288036"/>
          </a:xfrm>
          <a:prstGeom prst="rect">
            <a:avLst/>
          </a:prstGeom>
          <a:solidFill>
            <a:srgbClr val="F0F4F7"/>
          </a:solidFill>
          <a:ln w="5715">
            <a:solidFill>
              <a:srgbClr val="F7F8FA"/>
            </a:solidFill>
            <a:prstDash val="solid"/>
          </a:ln>
        </p:spPr>
      </p:sp>
      <p:sp>
        <p:nvSpPr>
          <p:cNvPr id="112" name="Text 110"/>
          <p:cNvSpPr/>
          <p:nvPr/>
        </p:nvSpPr>
        <p:spPr>
          <a:xfrm>
            <a:off x="5961888" y="420166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29.968</a:t>
            </a:r>
            <a:endParaRPr lang="en-US" sz="1080" dirty="0"/>
          </a:p>
        </p:txBody>
      </p:sp>
      <p:sp>
        <p:nvSpPr>
          <p:cNvPr id="113" name="Shape 111"/>
          <p:cNvSpPr/>
          <p:nvPr/>
        </p:nvSpPr>
        <p:spPr>
          <a:xfrm>
            <a:off x="7132320" y="4114800"/>
            <a:ext cx="1417320" cy="288036"/>
          </a:xfrm>
          <a:prstGeom prst="rect">
            <a:avLst/>
          </a:prstGeom>
          <a:solidFill>
            <a:srgbClr val="F0F4F7"/>
          </a:solidFill>
          <a:ln w="5715">
            <a:solidFill>
              <a:srgbClr val="F7F8FA"/>
            </a:solidFill>
            <a:prstDash val="solid"/>
          </a:ln>
        </p:spPr>
      </p:sp>
      <p:sp>
        <p:nvSpPr>
          <p:cNvPr id="114" name="Text 112"/>
          <p:cNvSpPr/>
          <p:nvPr/>
        </p:nvSpPr>
        <p:spPr>
          <a:xfrm>
            <a:off x="7196328" y="420166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7.03%</a:t>
            </a:r>
            <a:endParaRPr lang="en-US" sz="1080" dirty="0"/>
          </a:p>
        </p:txBody>
      </p:sp>
      <p:sp>
        <p:nvSpPr>
          <p:cNvPr id="115" name="Shape 113"/>
          <p:cNvSpPr/>
          <p:nvPr/>
        </p:nvSpPr>
        <p:spPr>
          <a:xfrm>
            <a:off x="8549640" y="4114800"/>
            <a:ext cx="1325880" cy="288036"/>
          </a:xfrm>
          <a:prstGeom prst="rect">
            <a:avLst/>
          </a:prstGeom>
          <a:solidFill>
            <a:srgbClr val="F0F4F7"/>
          </a:solidFill>
          <a:ln w="5715">
            <a:solidFill>
              <a:srgbClr val="F7F8FA"/>
            </a:solidFill>
            <a:prstDash val="solid"/>
          </a:ln>
        </p:spPr>
      </p:sp>
      <p:sp>
        <p:nvSpPr>
          <p:cNvPr id="116" name="Text 114"/>
          <p:cNvSpPr/>
          <p:nvPr/>
        </p:nvSpPr>
        <p:spPr>
          <a:xfrm>
            <a:off x="8613648" y="420166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21.79%</a:t>
            </a:r>
            <a:endParaRPr lang="en-US" sz="1080" dirty="0"/>
          </a:p>
        </p:txBody>
      </p:sp>
      <p:sp>
        <p:nvSpPr>
          <p:cNvPr id="117" name="Shape 115"/>
          <p:cNvSpPr/>
          <p:nvPr/>
        </p:nvSpPr>
        <p:spPr>
          <a:xfrm>
            <a:off x="502920" y="4402836"/>
            <a:ext cx="1143000" cy="288036"/>
          </a:xfrm>
          <a:prstGeom prst="rect">
            <a:avLst/>
          </a:prstGeom>
          <a:solidFill>
            <a:srgbClr val="FFFFFF"/>
          </a:solidFill>
          <a:ln w="5715">
            <a:solidFill>
              <a:srgbClr val="F7F8FA"/>
            </a:solidFill>
            <a:prstDash val="solid"/>
          </a:ln>
        </p:spPr>
      </p:sp>
      <p:sp>
        <p:nvSpPr>
          <p:cNvPr id="118" name="Text 116"/>
          <p:cNvSpPr/>
          <p:nvPr/>
        </p:nvSpPr>
        <p:spPr>
          <a:xfrm>
            <a:off x="566928" y="448970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19" name="Shape 117"/>
          <p:cNvSpPr/>
          <p:nvPr/>
        </p:nvSpPr>
        <p:spPr>
          <a:xfrm>
            <a:off x="1645920" y="4402836"/>
            <a:ext cx="4251960" cy="288036"/>
          </a:xfrm>
          <a:prstGeom prst="rect">
            <a:avLst/>
          </a:prstGeom>
          <a:solidFill>
            <a:srgbClr val="FFFFFF"/>
          </a:solidFill>
          <a:ln w="5715">
            <a:solidFill>
              <a:srgbClr val="F7F8FA"/>
            </a:solidFill>
            <a:prstDash val="solid"/>
          </a:ln>
        </p:spPr>
      </p:sp>
      <p:sp>
        <p:nvSpPr>
          <p:cNvPr id="120" name="Text 118"/>
          <p:cNvSpPr/>
          <p:nvPr/>
        </p:nvSpPr>
        <p:spPr>
          <a:xfrm>
            <a:off x="1709928" y="448970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Download Values</a:t>
            </a:r>
            <a:endParaRPr lang="en-US" sz="1080" dirty="0"/>
          </a:p>
        </p:txBody>
      </p:sp>
      <p:sp>
        <p:nvSpPr>
          <p:cNvPr id="121" name="Shape 119"/>
          <p:cNvSpPr/>
          <p:nvPr/>
        </p:nvSpPr>
        <p:spPr>
          <a:xfrm>
            <a:off x="5897880" y="4402836"/>
            <a:ext cx="1234440" cy="288036"/>
          </a:xfrm>
          <a:prstGeom prst="rect">
            <a:avLst/>
          </a:prstGeom>
          <a:solidFill>
            <a:srgbClr val="FFFFFF"/>
          </a:solidFill>
          <a:ln w="5715">
            <a:solidFill>
              <a:srgbClr val="F7F8FA"/>
            </a:solidFill>
            <a:prstDash val="solid"/>
          </a:ln>
        </p:spPr>
      </p:sp>
      <p:sp>
        <p:nvSpPr>
          <p:cNvPr id="122" name="Text 120"/>
          <p:cNvSpPr/>
          <p:nvPr/>
        </p:nvSpPr>
        <p:spPr>
          <a:xfrm>
            <a:off x="5961888" y="448970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40.030</a:t>
            </a:r>
            <a:endParaRPr lang="en-US" sz="1080" dirty="0"/>
          </a:p>
        </p:txBody>
      </p:sp>
      <p:sp>
        <p:nvSpPr>
          <p:cNvPr id="123" name="Shape 121"/>
          <p:cNvSpPr/>
          <p:nvPr/>
        </p:nvSpPr>
        <p:spPr>
          <a:xfrm>
            <a:off x="7132320" y="4402836"/>
            <a:ext cx="1417320" cy="288036"/>
          </a:xfrm>
          <a:prstGeom prst="rect">
            <a:avLst/>
          </a:prstGeom>
          <a:solidFill>
            <a:srgbClr val="FFFFFF"/>
          </a:solidFill>
          <a:ln w="5715">
            <a:solidFill>
              <a:srgbClr val="F7F8FA"/>
            </a:solidFill>
            <a:prstDash val="solid"/>
          </a:ln>
        </p:spPr>
      </p:sp>
      <p:sp>
        <p:nvSpPr>
          <p:cNvPr id="124" name="Text 122"/>
          <p:cNvSpPr/>
          <p:nvPr/>
        </p:nvSpPr>
        <p:spPr>
          <a:xfrm>
            <a:off x="7196328" y="448970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9.39%</a:t>
            </a:r>
            <a:endParaRPr lang="en-US" sz="1080" dirty="0"/>
          </a:p>
        </p:txBody>
      </p:sp>
      <p:sp>
        <p:nvSpPr>
          <p:cNvPr id="125" name="Shape 123"/>
          <p:cNvSpPr/>
          <p:nvPr/>
        </p:nvSpPr>
        <p:spPr>
          <a:xfrm>
            <a:off x="8549640" y="4402836"/>
            <a:ext cx="1325880" cy="288036"/>
          </a:xfrm>
          <a:prstGeom prst="rect">
            <a:avLst/>
          </a:prstGeom>
          <a:solidFill>
            <a:srgbClr val="FFFFFF"/>
          </a:solidFill>
          <a:ln w="5715">
            <a:solidFill>
              <a:srgbClr val="F7F8FA"/>
            </a:solidFill>
            <a:prstDash val="solid"/>
          </a:ln>
        </p:spPr>
      </p:sp>
      <p:sp>
        <p:nvSpPr>
          <p:cNvPr id="126" name="Text 124"/>
          <p:cNvSpPr/>
          <p:nvPr/>
        </p:nvSpPr>
        <p:spPr>
          <a:xfrm>
            <a:off x="8613648" y="448970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29.10%</a:t>
            </a:r>
            <a:endParaRPr lang="en-US" sz="1080" dirty="0"/>
          </a:p>
        </p:txBody>
      </p:sp>
      <p:sp>
        <p:nvSpPr>
          <p:cNvPr id="127" name="Shape 125"/>
          <p:cNvSpPr/>
          <p:nvPr/>
        </p:nvSpPr>
        <p:spPr>
          <a:xfrm>
            <a:off x="502920" y="5010912"/>
            <a:ext cx="3520440" cy="288036"/>
          </a:xfrm>
          <a:prstGeom prst="rect">
            <a:avLst/>
          </a:prstGeom>
          <a:solidFill>
            <a:srgbClr val="0E7C86"/>
          </a:solidFill>
          <a:ln w="5715">
            <a:solidFill>
              <a:srgbClr val="F7F8FA"/>
            </a:solidFill>
            <a:prstDash val="solid"/>
          </a:ln>
        </p:spPr>
      </p:sp>
      <p:sp>
        <p:nvSpPr>
          <p:cNvPr id="128" name="Text 126"/>
          <p:cNvSpPr/>
          <p:nvPr/>
        </p:nvSpPr>
        <p:spPr>
          <a:xfrm>
            <a:off x="566928" y="509778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FFFFFF"/>
                </a:solidFill>
              </a:rPr>
              <a:t>Detail</a:t>
            </a:r>
            <a:endParaRPr lang="en-US" sz="1060" dirty="0"/>
          </a:p>
        </p:txBody>
      </p:sp>
      <p:sp>
        <p:nvSpPr>
          <p:cNvPr id="129" name="Shape 127"/>
          <p:cNvSpPr/>
          <p:nvPr/>
        </p:nvSpPr>
        <p:spPr>
          <a:xfrm>
            <a:off x="4023360" y="5010912"/>
            <a:ext cx="1417320" cy="288036"/>
          </a:xfrm>
          <a:prstGeom prst="rect">
            <a:avLst/>
          </a:prstGeom>
          <a:solidFill>
            <a:srgbClr val="0E7C86"/>
          </a:solidFill>
          <a:ln w="5715">
            <a:solidFill>
              <a:srgbClr val="F7F8FA"/>
            </a:solidFill>
            <a:prstDash val="solid"/>
          </a:ln>
        </p:spPr>
      </p:sp>
      <p:sp>
        <p:nvSpPr>
          <p:cNvPr id="130" name="Text 128"/>
          <p:cNvSpPr/>
          <p:nvPr/>
        </p:nvSpPr>
        <p:spPr>
          <a:xfrm>
            <a:off x="408736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1" name="Shape 129"/>
          <p:cNvSpPr/>
          <p:nvPr/>
        </p:nvSpPr>
        <p:spPr>
          <a:xfrm>
            <a:off x="5440680" y="5010912"/>
            <a:ext cx="3520440" cy="288036"/>
          </a:xfrm>
          <a:prstGeom prst="rect">
            <a:avLst/>
          </a:prstGeom>
          <a:solidFill>
            <a:srgbClr val="0E7C86"/>
          </a:solidFill>
          <a:ln w="5715">
            <a:solidFill>
              <a:srgbClr val="F7F8FA"/>
            </a:solidFill>
            <a:prstDash val="solid"/>
          </a:ln>
        </p:spPr>
      </p:sp>
      <p:sp>
        <p:nvSpPr>
          <p:cNvPr id="132" name="Text 130"/>
          <p:cNvSpPr/>
          <p:nvPr/>
        </p:nvSpPr>
        <p:spPr>
          <a:xfrm>
            <a:off x="5504688" y="5097780"/>
            <a:ext cx="339242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Detail</a:t>
            </a:r>
            <a:endParaRPr lang="en-US" sz="1060" dirty="0"/>
          </a:p>
        </p:txBody>
      </p:sp>
      <p:sp>
        <p:nvSpPr>
          <p:cNvPr id="133" name="Shape 131"/>
          <p:cNvSpPr/>
          <p:nvPr/>
        </p:nvSpPr>
        <p:spPr>
          <a:xfrm>
            <a:off x="8961120" y="5010912"/>
            <a:ext cx="1417320" cy="288036"/>
          </a:xfrm>
          <a:prstGeom prst="rect">
            <a:avLst/>
          </a:prstGeom>
          <a:solidFill>
            <a:srgbClr val="0E7C86"/>
          </a:solidFill>
          <a:ln w="5715">
            <a:solidFill>
              <a:srgbClr val="F7F8FA"/>
            </a:solidFill>
            <a:prstDash val="solid"/>
          </a:ln>
        </p:spPr>
      </p:sp>
      <p:sp>
        <p:nvSpPr>
          <p:cNvPr id="134" name="Text 132"/>
          <p:cNvSpPr/>
          <p:nvPr/>
        </p:nvSpPr>
        <p:spPr>
          <a:xfrm>
            <a:off x="902512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5" name="Shape 133"/>
          <p:cNvSpPr/>
          <p:nvPr/>
        </p:nvSpPr>
        <p:spPr>
          <a:xfrm>
            <a:off x="502920" y="5298948"/>
            <a:ext cx="3520440" cy="288036"/>
          </a:xfrm>
          <a:prstGeom prst="rect">
            <a:avLst/>
          </a:prstGeom>
          <a:solidFill>
            <a:srgbClr val="FFFFFF"/>
          </a:solidFill>
          <a:ln w="5715">
            <a:solidFill>
              <a:srgbClr val="F7F8FA"/>
            </a:solidFill>
            <a:prstDash val="solid"/>
          </a:ln>
        </p:spPr>
      </p:sp>
      <p:sp>
        <p:nvSpPr>
          <p:cNvPr id="136" name="Text 134"/>
          <p:cNvSpPr/>
          <p:nvPr/>
        </p:nvSpPr>
        <p:spPr>
          <a:xfrm>
            <a:off x="566928" y="5385816"/>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projection host build</a:t>
            </a:r>
            <a:endParaRPr lang="en-US" sz="1060" dirty="0"/>
          </a:p>
        </p:txBody>
      </p:sp>
      <p:sp>
        <p:nvSpPr>
          <p:cNvPr id="137" name="Shape 135"/>
          <p:cNvSpPr/>
          <p:nvPr/>
        </p:nvSpPr>
        <p:spPr>
          <a:xfrm>
            <a:off x="4023360" y="5298948"/>
            <a:ext cx="1417320" cy="288036"/>
          </a:xfrm>
          <a:prstGeom prst="rect">
            <a:avLst/>
          </a:prstGeom>
          <a:solidFill>
            <a:srgbClr val="FFFFFF"/>
          </a:solidFill>
          <a:ln w="5715">
            <a:solidFill>
              <a:srgbClr val="F7F8FA"/>
            </a:solidFill>
            <a:prstDash val="solid"/>
          </a:ln>
        </p:spPr>
      </p:sp>
      <p:sp>
        <p:nvSpPr>
          <p:cNvPr id="138" name="Text 136"/>
          <p:cNvSpPr/>
          <p:nvPr/>
        </p:nvSpPr>
        <p:spPr>
          <a:xfrm>
            <a:off x="408736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38.686 ms</a:t>
            </a:r>
            <a:endParaRPr lang="en-US" sz="1060" dirty="0"/>
          </a:p>
        </p:txBody>
      </p:sp>
      <p:sp>
        <p:nvSpPr>
          <p:cNvPr id="139" name="Shape 137"/>
          <p:cNvSpPr/>
          <p:nvPr/>
        </p:nvSpPr>
        <p:spPr>
          <a:xfrm>
            <a:off x="5440680" y="5298948"/>
            <a:ext cx="3520440" cy="288036"/>
          </a:xfrm>
          <a:prstGeom prst="rect">
            <a:avLst/>
          </a:prstGeom>
          <a:solidFill>
            <a:srgbClr val="FFFFFF"/>
          </a:solidFill>
          <a:ln w="5715">
            <a:solidFill>
              <a:srgbClr val="F7F8FA"/>
            </a:solidFill>
            <a:prstDash val="solid"/>
          </a:ln>
        </p:spPr>
      </p:sp>
      <p:sp>
        <p:nvSpPr>
          <p:cNvPr id="140" name="Text 138"/>
          <p:cNvSpPr/>
          <p:nvPr/>
        </p:nvSpPr>
        <p:spPr>
          <a:xfrm>
            <a:off x="5504688" y="5385816"/>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dense Schur</a:t>
            </a:r>
            <a:endParaRPr lang="en-US" sz="1060" dirty="0"/>
          </a:p>
        </p:txBody>
      </p:sp>
      <p:sp>
        <p:nvSpPr>
          <p:cNvPr id="141" name="Shape 139"/>
          <p:cNvSpPr/>
          <p:nvPr/>
        </p:nvSpPr>
        <p:spPr>
          <a:xfrm>
            <a:off x="8961120" y="5298948"/>
            <a:ext cx="1417320" cy="288036"/>
          </a:xfrm>
          <a:prstGeom prst="rect">
            <a:avLst/>
          </a:prstGeom>
          <a:solidFill>
            <a:srgbClr val="FFFFFF"/>
          </a:solidFill>
          <a:ln w="5715">
            <a:solidFill>
              <a:srgbClr val="F7F8FA"/>
            </a:solidFill>
            <a:prstDash val="solid"/>
          </a:ln>
        </p:spPr>
      </p:sp>
      <p:sp>
        <p:nvSpPr>
          <p:cNvPr id="142" name="Text 140"/>
          <p:cNvSpPr/>
          <p:nvPr/>
        </p:nvSpPr>
        <p:spPr>
          <a:xfrm>
            <a:off x="902512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23.009 ms</a:t>
            </a:r>
            <a:endParaRPr lang="en-US" sz="1060" dirty="0"/>
          </a:p>
        </p:txBody>
      </p:sp>
      <p:sp>
        <p:nvSpPr>
          <p:cNvPr id="143" name="Shape 141"/>
          <p:cNvSpPr/>
          <p:nvPr/>
        </p:nvSpPr>
        <p:spPr>
          <a:xfrm>
            <a:off x="502920" y="5586984"/>
            <a:ext cx="3520440" cy="288036"/>
          </a:xfrm>
          <a:prstGeom prst="rect">
            <a:avLst/>
          </a:prstGeom>
          <a:solidFill>
            <a:srgbClr val="F0F4F7"/>
          </a:solidFill>
          <a:ln w="5715">
            <a:solidFill>
              <a:srgbClr val="F7F8FA"/>
            </a:solidFill>
            <a:prstDash val="solid"/>
          </a:ln>
        </p:spPr>
      </p:sp>
      <p:sp>
        <p:nvSpPr>
          <p:cNvPr id="144" name="Text 142"/>
          <p:cNvSpPr/>
          <p:nvPr/>
        </p:nvSpPr>
        <p:spPr>
          <a:xfrm>
            <a:off x="566928" y="5673852"/>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pack values</a:t>
            </a:r>
            <a:endParaRPr lang="en-US" sz="1060" dirty="0"/>
          </a:p>
        </p:txBody>
      </p:sp>
      <p:sp>
        <p:nvSpPr>
          <p:cNvPr id="145" name="Shape 143"/>
          <p:cNvSpPr/>
          <p:nvPr/>
        </p:nvSpPr>
        <p:spPr>
          <a:xfrm>
            <a:off x="4023360" y="5586984"/>
            <a:ext cx="1417320" cy="288036"/>
          </a:xfrm>
          <a:prstGeom prst="rect">
            <a:avLst/>
          </a:prstGeom>
          <a:solidFill>
            <a:srgbClr val="F0F4F7"/>
          </a:solidFill>
          <a:ln w="5715">
            <a:solidFill>
              <a:srgbClr val="F7F8FA"/>
            </a:solidFill>
            <a:prstDash val="solid"/>
          </a:ln>
        </p:spPr>
      </p:sp>
      <p:sp>
        <p:nvSpPr>
          <p:cNvPr id="146" name="Text 144"/>
          <p:cNvSpPr/>
          <p:nvPr/>
        </p:nvSpPr>
        <p:spPr>
          <a:xfrm>
            <a:off x="408736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13.688 ms</a:t>
            </a:r>
            <a:endParaRPr lang="en-US" sz="1060" dirty="0"/>
          </a:p>
        </p:txBody>
      </p:sp>
      <p:sp>
        <p:nvSpPr>
          <p:cNvPr id="147" name="Shape 145"/>
          <p:cNvSpPr/>
          <p:nvPr/>
        </p:nvSpPr>
        <p:spPr>
          <a:xfrm>
            <a:off x="5440680" y="5586984"/>
            <a:ext cx="3520440" cy="288036"/>
          </a:xfrm>
          <a:prstGeom prst="rect">
            <a:avLst/>
          </a:prstGeom>
          <a:solidFill>
            <a:srgbClr val="F0F4F7"/>
          </a:solidFill>
          <a:ln w="5715">
            <a:solidFill>
              <a:srgbClr val="F7F8FA"/>
            </a:solidFill>
            <a:prstDash val="solid"/>
          </a:ln>
        </p:spPr>
      </p:sp>
      <p:sp>
        <p:nvSpPr>
          <p:cNvPr id="148" name="Text 146"/>
          <p:cNvSpPr/>
          <p:nvPr/>
        </p:nvSpPr>
        <p:spPr>
          <a:xfrm>
            <a:off x="5504688" y="5673852"/>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damping diagonal</a:t>
            </a:r>
            <a:endParaRPr lang="en-US" sz="1060" dirty="0"/>
          </a:p>
        </p:txBody>
      </p:sp>
      <p:sp>
        <p:nvSpPr>
          <p:cNvPr id="149" name="Shape 147"/>
          <p:cNvSpPr/>
          <p:nvPr/>
        </p:nvSpPr>
        <p:spPr>
          <a:xfrm>
            <a:off x="8961120" y="5586984"/>
            <a:ext cx="1417320" cy="288036"/>
          </a:xfrm>
          <a:prstGeom prst="rect">
            <a:avLst/>
          </a:prstGeom>
          <a:solidFill>
            <a:srgbClr val="F0F4F7"/>
          </a:solidFill>
          <a:ln w="5715">
            <a:solidFill>
              <a:srgbClr val="F7F8FA"/>
            </a:solidFill>
            <a:prstDash val="solid"/>
          </a:ln>
        </p:spPr>
      </p:sp>
      <p:sp>
        <p:nvSpPr>
          <p:cNvPr id="150" name="Text 148"/>
          <p:cNvSpPr/>
          <p:nvPr/>
        </p:nvSpPr>
        <p:spPr>
          <a:xfrm>
            <a:off x="902512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2.979 ms</a:t>
            </a:r>
            <a:endParaRPr lang="en-US" sz="1060" dirty="0"/>
          </a:p>
        </p:txBody>
      </p:sp>
      <p:sp>
        <p:nvSpPr>
          <p:cNvPr id="151" name="Shape 149"/>
          <p:cNvSpPr/>
          <p:nvPr/>
        </p:nvSpPr>
        <p:spPr>
          <a:xfrm>
            <a:off x="502920" y="5875020"/>
            <a:ext cx="3520440" cy="288036"/>
          </a:xfrm>
          <a:prstGeom prst="rect">
            <a:avLst/>
          </a:prstGeom>
          <a:solidFill>
            <a:srgbClr val="FFFFFF"/>
          </a:solidFill>
          <a:ln w="5715">
            <a:solidFill>
              <a:srgbClr val="F7F8FA"/>
            </a:solidFill>
            <a:prstDash val="solid"/>
          </a:ln>
        </p:spPr>
      </p:sp>
      <p:sp>
        <p:nvSpPr>
          <p:cNvPr id="152" name="Text 150"/>
          <p:cNvSpPr/>
          <p:nvPr/>
        </p:nvSpPr>
        <p:spPr>
          <a:xfrm>
            <a:off x="566928" y="5961888"/>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allocate trial values</a:t>
            </a:r>
            <a:endParaRPr lang="en-US" sz="1060" dirty="0"/>
          </a:p>
        </p:txBody>
      </p:sp>
      <p:sp>
        <p:nvSpPr>
          <p:cNvPr id="153" name="Shape 151"/>
          <p:cNvSpPr/>
          <p:nvPr/>
        </p:nvSpPr>
        <p:spPr>
          <a:xfrm>
            <a:off x="4023360" y="5875020"/>
            <a:ext cx="1417320" cy="288036"/>
          </a:xfrm>
          <a:prstGeom prst="rect">
            <a:avLst/>
          </a:prstGeom>
          <a:solidFill>
            <a:srgbClr val="FFFFFF"/>
          </a:solidFill>
          <a:ln w="5715">
            <a:solidFill>
              <a:srgbClr val="F7F8FA"/>
            </a:solidFill>
            <a:prstDash val="solid"/>
          </a:ln>
        </p:spPr>
      </p:sp>
      <p:sp>
        <p:nvSpPr>
          <p:cNvPr id="154" name="Text 152"/>
          <p:cNvSpPr/>
          <p:nvPr/>
        </p:nvSpPr>
        <p:spPr>
          <a:xfrm>
            <a:off x="408736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11.769 ms</a:t>
            </a:r>
            <a:endParaRPr lang="en-US" sz="1060" dirty="0"/>
          </a:p>
        </p:txBody>
      </p:sp>
      <p:sp>
        <p:nvSpPr>
          <p:cNvPr id="155" name="Shape 153"/>
          <p:cNvSpPr/>
          <p:nvPr/>
        </p:nvSpPr>
        <p:spPr>
          <a:xfrm>
            <a:off x="5440680" y="5875020"/>
            <a:ext cx="3520440" cy="288036"/>
          </a:xfrm>
          <a:prstGeom prst="rect">
            <a:avLst/>
          </a:prstGeom>
          <a:solidFill>
            <a:srgbClr val="FFFFFF"/>
          </a:solidFill>
          <a:ln w="5715">
            <a:solidFill>
              <a:srgbClr val="F7F8FA"/>
            </a:solidFill>
            <a:prstDash val="solid"/>
          </a:ln>
        </p:spPr>
      </p:sp>
      <p:sp>
        <p:nvSpPr>
          <p:cNvPr id="156" name="Text 154"/>
          <p:cNvSpPr/>
          <p:nvPr/>
        </p:nvSpPr>
        <p:spPr>
          <a:xfrm>
            <a:off x="5504688" y="5961888"/>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linearized error change</a:t>
            </a:r>
            <a:endParaRPr lang="en-US" sz="1060" dirty="0"/>
          </a:p>
        </p:txBody>
      </p:sp>
      <p:sp>
        <p:nvSpPr>
          <p:cNvPr id="157" name="Shape 155"/>
          <p:cNvSpPr/>
          <p:nvPr/>
        </p:nvSpPr>
        <p:spPr>
          <a:xfrm>
            <a:off x="8961120" y="5875020"/>
            <a:ext cx="1417320" cy="288036"/>
          </a:xfrm>
          <a:prstGeom prst="rect">
            <a:avLst/>
          </a:prstGeom>
          <a:solidFill>
            <a:srgbClr val="FFFFFF"/>
          </a:solidFill>
          <a:ln w="5715">
            <a:solidFill>
              <a:srgbClr val="F7F8FA"/>
            </a:solidFill>
            <a:prstDash val="solid"/>
          </a:ln>
        </p:spPr>
      </p:sp>
      <p:sp>
        <p:nvSpPr>
          <p:cNvPr id="158" name="Text 156"/>
          <p:cNvSpPr/>
          <p:nvPr/>
        </p:nvSpPr>
        <p:spPr>
          <a:xfrm>
            <a:off x="902512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3.655 ms</a:t>
            </a:r>
            <a:endParaRPr lang="en-US" sz="1060" dirty="0"/>
          </a:p>
        </p:txBody>
      </p:sp>
      <p:sp>
        <p:nvSpPr>
          <p:cNvPr id="159" name="Shape 157"/>
          <p:cNvSpPr/>
          <p:nvPr/>
        </p:nvSpPr>
        <p:spPr>
          <a:xfrm>
            <a:off x="502920" y="6163056"/>
            <a:ext cx="3520440" cy="288036"/>
          </a:xfrm>
          <a:prstGeom prst="rect">
            <a:avLst/>
          </a:prstGeom>
          <a:solidFill>
            <a:srgbClr val="F0F4F7"/>
          </a:solidFill>
          <a:ln w="5715">
            <a:solidFill>
              <a:srgbClr val="F7F8FA"/>
            </a:solidFill>
            <a:prstDash val="solid"/>
          </a:ln>
        </p:spPr>
      </p:sp>
      <p:sp>
        <p:nvSpPr>
          <p:cNvPr id="160" name="Text 158"/>
          <p:cNvSpPr/>
          <p:nvPr/>
        </p:nvSpPr>
        <p:spPr>
          <a:xfrm>
            <a:off x="566928" y="6249924"/>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Transfer: total H2D memcpy</a:t>
            </a:r>
            <a:endParaRPr lang="en-US" sz="1060" dirty="0"/>
          </a:p>
        </p:txBody>
      </p:sp>
      <p:sp>
        <p:nvSpPr>
          <p:cNvPr id="161" name="Shape 159"/>
          <p:cNvSpPr/>
          <p:nvPr/>
        </p:nvSpPr>
        <p:spPr>
          <a:xfrm>
            <a:off x="4023360" y="6163056"/>
            <a:ext cx="1417320" cy="288036"/>
          </a:xfrm>
          <a:prstGeom prst="rect">
            <a:avLst/>
          </a:prstGeom>
          <a:solidFill>
            <a:srgbClr val="F0F4F7"/>
          </a:solidFill>
          <a:ln w="5715">
            <a:solidFill>
              <a:srgbClr val="F7F8FA"/>
            </a:solidFill>
            <a:prstDash val="solid"/>
          </a:ln>
        </p:spPr>
      </p:sp>
      <p:sp>
        <p:nvSpPr>
          <p:cNvPr id="162" name="Text 160"/>
          <p:cNvSpPr/>
          <p:nvPr/>
        </p:nvSpPr>
        <p:spPr>
          <a:xfrm>
            <a:off x="408736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1.526 ms</a:t>
            </a:r>
            <a:endParaRPr lang="en-US" sz="1060" dirty="0"/>
          </a:p>
        </p:txBody>
      </p:sp>
      <p:sp>
        <p:nvSpPr>
          <p:cNvPr id="163" name="Shape 161"/>
          <p:cNvSpPr/>
          <p:nvPr/>
        </p:nvSpPr>
        <p:spPr>
          <a:xfrm>
            <a:off x="5440680" y="6163056"/>
            <a:ext cx="3520440" cy="288036"/>
          </a:xfrm>
          <a:prstGeom prst="rect">
            <a:avLst/>
          </a:prstGeom>
          <a:solidFill>
            <a:srgbClr val="F0F4F7"/>
          </a:solidFill>
          <a:ln w="5715">
            <a:solidFill>
              <a:srgbClr val="F7F8FA"/>
            </a:solidFill>
            <a:prstDash val="solid"/>
          </a:ln>
        </p:spPr>
      </p:sp>
      <p:sp>
        <p:nvSpPr>
          <p:cNvPr id="164" name="Text 162"/>
          <p:cNvSpPr/>
          <p:nvPr/>
        </p:nvSpPr>
        <p:spPr>
          <a:xfrm>
            <a:off x="5504688" y="6249924"/>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Transfer: total D2H memcpy</a:t>
            </a:r>
            <a:endParaRPr lang="en-US" sz="1060" dirty="0"/>
          </a:p>
        </p:txBody>
      </p:sp>
      <p:sp>
        <p:nvSpPr>
          <p:cNvPr id="165" name="Shape 163"/>
          <p:cNvSpPr/>
          <p:nvPr/>
        </p:nvSpPr>
        <p:spPr>
          <a:xfrm>
            <a:off x="8961120" y="6163056"/>
            <a:ext cx="1417320" cy="288036"/>
          </a:xfrm>
          <a:prstGeom prst="rect">
            <a:avLst/>
          </a:prstGeom>
          <a:solidFill>
            <a:srgbClr val="F0F4F7"/>
          </a:solidFill>
          <a:ln w="5715">
            <a:solidFill>
              <a:srgbClr val="F7F8FA"/>
            </a:solidFill>
            <a:prstDash val="solid"/>
          </a:ln>
        </p:spPr>
      </p:sp>
      <p:sp>
        <p:nvSpPr>
          <p:cNvPr id="166" name="Text 164"/>
          <p:cNvSpPr/>
          <p:nvPr/>
        </p:nvSpPr>
        <p:spPr>
          <a:xfrm>
            <a:off x="902512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0.615 ms</a:t>
            </a:r>
            <a:endParaRPr lang="en-US" sz="1060" dirty="0"/>
          </a:p>
        </p:txBody>
      </p:sp>
      <p:sp>
        <p:nvSpPr>
          <p:cNvPr id="167" name="Shape 165"/>
          <p:cNvSpPr/>
          <p:nvPr/>
        </p:nvSpPr>
        <p:spPr>
          <a:xfrm>
            <a:off x="502920" y="6451092"/>
            <a:ext cx="3520440" cy="288036"/>
          </a:xfrm>
          <a:prstGeom prst="rect">
            <a:avLst/>
          </a:prstGeom>
          <a:solidFill>
            <a:srgbClr val="FFFFFF"/>
          </a:solidFill>
          <a:ln w="5715">
            <a:solidFill>
              <a:srgbClr val="F7F8FA"/>
            </a:solidFill>
            <a:prstDash val="solid"/>
          </a:ln>
        </p:spPr>
      </p:sp>
      <p:sp>
        <p:nvSpPr>
          <p:cNvPr id="168" name="Text 166"/>
          <p:cNvSpPr/>
          <p:nvPr/>
        </p:nvSpPr>
        <p:spPr>
          <a:xfrm>
            <a:off x="566928" y="653796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Download: Values rebuild</a:t>
            </a:r>
            <a:endParaRPr lang="en-US" sz="1060" dirty="0"/>
          </a:p>
        </p:txBody>
      </p:sp>
      <p:sp>
        <p:nvSpPr>
          <p:cNvPr id="169" name="Shape 167"/>
          <p:cNvSpPr/>
          <p:nvPr/>
        </p:nvSpPr>
        <p:spPr>
          <a:xfrm>
            <a:off x="4023360" y="6451092"/>
            <a:ext cx="1417320" cy="288036"/>
          </a:xfrm>
          <a:prstGeom prst="rect">
            <a:avLst/>
          </a:prstGeom>
          <a:solidFill>
            <a:srgbClr val="FFFFFF"/>
          </a:solidFill>
          <a:ln w="5715">
            <a:solidFill>
              <a:srgbClr val="F7F8FA"/>
            </a:solidFill>
            <a:prstDash val="solid"/>
          </a:ln>
        </p:spPr>
      </p:sp>
      <p:sp>
        <p:nvSpPr>
          <p:cNvPr id="170" name="Text 168"/>
          <p:cNvSpPr/>
          <p:nvPr/>
        </p:nvSpPr>
        <p:spPr>
          <a:xfrm>
            <a:off x="408736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15.537 ms</a:t>
            </a:r>
            <a:endParaRPr lang="en-US" sz="1060" dirty="0"/>
          </a:p>
        </p:txBody>
      </p:sp>
      <p:sp>
        <p:nvSpPr>
          <p:cNvPr id="171" name="Shape 169"/>
          <p:cNvSpPr/>
          <p:nvPr/>
        </p:nvSpPr>
        <p:spPr>
          <a:xfrm>
            <a:off x="5440680" y="6451092"/>
            <a:ext cx="3520440" cy="288036"/>
          </a:xfrm>
          <a:prstGeom prst="rect">
            <a:avLst/>
          </a:prstGeom>
          <a:solidFill>
            <a:srgbClr val="FFFFFF"/>
          </a:solidFill>
          <a:ln w="5715">
            <a:solidFill>
              <a:srgbClr val="F7F8FA"/>
            </a:solidFill>
            <a:prstDash val="solid"/>
          </a:ln>
        </p:spPr>
      </p:sp>
      <p:sp>
        <p:nvSpPr>
          <p:cNvPr id="172" name="Text 170"/>
          <p:cNvSpPr/>
          <p:nvPr/>
        </p:nvSpPr>
        <p:spPr>
          <a:xfrm>
            <a:off x="5504688" y="6537960"/>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Pure H2D + D2H</a:t>
            </a:r>
            <a:endParaRPr lang="en-US" sz="1060" dirty="0"/>
          </a:p>
        </p:txBody>
      </p:sp>
      <p:sp>
        <p:nvSpPr>
          <p:cNvPr id="173" name="Shape 171"/>
          <p:cNvSpPr/>
          <p:nvPr/>
        </p:nvSpPr>
        <p:spPr>
          <a:xfrm>
            <a:off x="8961120" y="6451092"/>
            <a:ext cx="1417320" cy="288036"/>
          </a:xfrm>
          <a:prstGeom prst="rect">
            <a:avLst/>
          </a:prstGeom>
          <a:solidFill>
            <a:srgbClr val="FFFFFF"/>
          </a:solidFill>
          <a:ln w="5715">
            <a:solidFill>
              <a:srgbClr val="F7F8FA"/>
            </a:solidFill>
            <a:prstDash val="solid"/>
          </a:ln>
        </p:spPr>
      </p:sp>
      <p:sp>
        <p:nvSpPr>
          <p:cNvPr id="174" name="Text 172"/>
          <p:cNvSpPr/>
          <p:nvPr/>
        </p:nvSpPr>
        <p:spPr>
          <a:xfrm>
            <a:off x="902512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2.141 ms</a:t>
            </a:r>
            <a:endParaRPr lang="en-US" sz="1060" dirty="0"/>
          </a:p>
        </p:txBody>
      </p:sp>
      <p:sp>
        <p:nvSpPr>
          <p:cNvPr id="175" name="Text 173"/>
          <p:cNvSpPr/>
          <p:nvPr/>
        </p:nvSpPr>
        <p:spPr>
          <a:xfrm>
            <a:off x="502920" y="6437376"/>
            <a:ext cx="10789920" cy="109728"/>
          </a:xfrm>
          <a:prstGeom prst="rect">
            <a:avLst/>
          </a:prstGeom>
          <a:noFill/>
          <a:ln/>
        </p:spPr>
        <p:txBody>
          <a:bodyPr wrap="square" lIns="0" tIns="0" rIns="0" bIns="0" rtlCol="0" anchor="ctr">
            <a:normAutofit/>
          </a:bodyPr>
          <a:lstStyle/>
          <a:p>
            <a:pPr indent="0" marL="0">
              <a:buNone/>
            </a:pPr>
            <a:r>
              <a:rPr lang="en-US" sz="850" dirty="0">
                <a:solidFill>
                  <a:srgbClr val="5A6472"/>
                </a:solidFill>
              </a:rPr>
              <a:t>Note: the 1.936 ms specialized pure-copy figure cited in the feasibility summary comes from a separate transfer-focused run; this appendix uses the dense-Schur breakdown above.</a:t>
            </a:r>
            <a:endParaRPr lang="en-US" sz="8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47472"/>
          </a:xfrm>
          <a:prstGeom prst="rect">
            <a:avLst/>
          </a:prstGeom>
          <a:solidFill>
            <a:srgbClr val="1F2A44"/>
          </a:solidFill>
          <a:ln w="5715">
            <a:solidFill>
              <a:srgbClr val="F7F8FA"/>
            </a:solidFill>
            <a:prstDash val="solid"/>
          </a:ln>
        </p:spPr>
      </p:sp>
      <p:sp>
        <p:nvSpPr>
          <p:cNvPr id="10" name="Text 8"/>
          <p:cNvSpPr/>
          <p:nvPr/>
        </p:nvSpPr>
        <p:spPr>
          <a:xfrm>
            <a:off x="521208" y="129387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FFFFFF"/>
                </a:solidFill>
              </a:rPr>
              <a:t>Operation</a:t>
            </a:r>
            <a:endParaRPr lang="en-US" sz="1070" dirty="0"/>
          </a:p>
        </p:txBody>
      </p:sp>
      <p:sp>
        <p:nvSpPr>
          <p:cNvPr id="11" name="Shape 9"/>
          <p:cNvSpPr/>
          <p:nvPr/>
        </p:nvSpPr>
        <p:spPr>
          <a:xfrm>
            <a:off x="2971800" y="1207008"/>
            <a:ext cx="4251960" cy="347472"/>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All 30 mean [min, max] / CV</a:t>
            </a:r>
            <a:endParaRPr lang="en-US" sz="1070" dirty="0"/>
          </a:p>
        </p:txBody>
      </p:sp>
      <p:sp>
        <p:nvSpPr>
          <p:cNvPr id="13" name="Shape 11"/>
          <p:cNvSpPr/>
          <p:nvPr/>
        </p:nvSpPr>
        <p:spPr>
          <a:xfrm>
            <a:off x="7223760" y="1207008"/>
            <a:ext cx="4434840" cy="347472"/>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Repeat-0-excluded 27 mean [min, max] / CV</a:t>
            </a:r>
            <a:endParaRPr lang="en-US" sz="1070" dirty="0"/>
          </a:p>
        </p:txBody>
      </p:sp>
      <p:sp>
        <p:nvSpPr>
          <p:cNvPr id="15" name="Shape 13"/>
          <p:cNvSpPr/>
          <p:nvPr/>
        </p:nvSpPr>
        <p:spPr>
          <a:xfrm>
            <a:off x="457200" y="1554480"/>
            <a:ext cx="2514600" cy="347472"/>
          </a:xfrm>
          <a:prstGeom prst="rect">
            <a:avLst/>
          </a:prstGeom>
          <a:solidFill>
            <a:srgbClr val="FFFFFF"/>
          </a:solidFill>
          <a:ln w="5715">
            <a:solidFill>
              <a:srgbClr val="F7F8FA"/>
            </a:solidFill>
            <a:prstDash val="solid"/>
          </a:ln>
        </p:spPr>
      </p:sp>
      <p:sp>
        <p:nvSpPr>
          <p:cNvPr id="16" name="Text 14"/>
          <p:cNvSpPr/>
          <p:nvPr/>
        </p:nvSpPr>
        <p:spPr>
          <a:xfrm>
            <a:off x="521208" y="164134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CPU / TBB linearize</a:t>
            </a:r>
            <a:endParaRPr lang="en-US" sz="1070" dirty="0"/>
          </a:p>
        </p:txBody>
      </p:sp>
      <p:sp>
        <p:nvSpPr>
          <p:cNvPr id="17" name="Shape 15"/>
          <p:cNvSpPr/>
          <p:nvPr/>
        </p:nvSpPr>
        <p:spPr>
          <a:xfrm>
            <a:off x="2971800" y="1554480"/>
            <a:ext cx="4251960" cy="347472"/>
          </a:xfrm>
          <a:prstGeom prst="rect">
            <a:avLst/>
          </a:prstGeom>
          <a:solidFill>
            <a:srgbClr val="FFFFFF"/>
          </a:solidFill>
          <a:ln w="5715">
            <a:solidFill>
              <a:srgbClr val="F7F8FA"/>
            </a:solidFill>
            <a:prstDash val="solid"/>
          </a:ln>
        </p:spPr>
      </p:sp>
      <p:sp>
        <p:nvSpPr>
          <p:cNvPr id="18" name="Text 16"/>
          <p:cNvSpPr/>
          <p:nvPr/>
        </p:nvSpPr>
        <p:spPr>
          <a:xfrm>
            <a:off x="3035808" y="164134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30.851 [25.119, 57.299] / 26.39%</a:t>
            </a:r>
            <a:endParaRPr lang="en-US" sz="1070" dirty="0"/>
          </a:p>
        </p:txBody>
      </p:sp>
      <p:sp>
        <p:nvSpPr>
          <p:cNvPr id="19" name="Shape 17"/>
          <p:cNvSpPr/>
          <p:nvPr/>
        </p:nvSpPr>
        <p:spPr>
          <a:xfrm>
            <a:off x="7223760" y="1554480"/>
            <a:ext cx="4434840" cy="347472"/>
          </a:xfrm>
          <a:prstGeom prst="rect">
            <a:avLst/>
          </a:prstGeom>
          <a:solidFill>
            <a:srgbClr val="FFFFFF"/>
          </a:solidFill>
          <a:ln w="5715">
            <a:solidFill>
              <a:srgbClr val="F7F8FA"/>
            </a:solidFill>
            <a:prstDash val="solid"/>
          </a:ln>
        </p:spPr>
      </p:sp>
      <p:sp>
        <p:nvSpPr>
          <p:cNvPr id="20" name="Text 18"/>
          <p:cNvSpPr/>
          <p:nvPr/>
        </p:nvSpPr>
        <p:spPr>
          <a:xfrm>
            <a:off x="7287768" y="164134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28.316 [25.119, 38.918] / 9.73%</a:t>
            </a:r>
            <a:endParaRPr lang="en-US" sz="1070" dirty="0"/>
          </a:p>
        </p:txBody>
      </p:sp>
      <p:sp>
        <p:nvSpPr>
          <p:cNvPr id="21" name="Shape 19"/>
          <p:cNvSpPr/>
          <p:nvPr/>
        </p:nvSpPr>
        <p:spPr>
          <a:xfrm>
            <a:off x="457200" y="1901952"/>
            <a:ext cx="2514600" cy="347472"/>
          </a:xfrm>
          <a:prstGeom prst="rect">
            <a:avLst/>
          </a:prstGeom>
          <a:solidFill>
            <a:srgbClr val="F0F4F7"/>
          </a:solidFill>
          <a:ln w="5715">
            <a:solidFill>
              <a:srgbClr val="F7F8FA"/>
            </a:solidFill>
            <a:prstDash val="solid"/>
          </a:ln>
        </p:spPr>
      </p:sp>
      <p:sp>
        <p:nvSpPr>
          <p:cNvPr id="22" name="Text 20"/>
          <p:cNvSpPr/>
          <p:nvPr/>
        </p:nvSpPr>
        <p:spPr>
          <a:xfrm>
            <a:off x="521208" y="1988820"/>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Values retract</a:t>
            </a:r>
            <a:endParaRPr lang="en-US" sz="1070" dirty="0"/>
          </a:p>
        </p:txBody>
      </p:sp>
      <p:sp>
        <p:nvSpPr>
          <p:cNvPr id="23" name="Shape 21"/>
          <p:cNvSpPr/>
          <p:nvPr/>
        </p:nvSpPr>
        <p:spPr>
          <a:xfrm>
            <a:off x="2971800" y="1901952"/>
            <a:ext cx="4251960" cy="347472"/>
          </a:xfrm>
          <a:prstGeom prst="rect">
            <a:avLst/>
          </a:prstGeom>
          <a:solidFill>
            <a:srgbClr val="F0F4F7"/>
          </a:solidFill>
          <a:ln w="5715">
            <a:solidFill>
              <a:srgbClr val="F7F8FA"/>
            </a:solidFill>
            <a:prstDash val="solid"/>
          </a:ln>
        </p:spPr>
      </p:sp>
      <p:sp>
        <p:nvSpPr>
          <p:cNvPr id="24" name="Text 22"/>
          <p:cNvSpPr/>
          <p:nvPr/>
        </p:nvSpPr>
        <p:spPr>
          <a:xfrm>
            <a:off x="3035808" y="1988820"/>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14.260 [12.320, 18.152] / 8.79%</a:t>
            </a:r>
            <a:endParaRPr lang="en-US" sz="1070" dirty="0"/>
          </a:p>
        </p:txBody>
      </p:sp>
      <p:sp>
        <p:nvSpPr>
          <p:cNvPr id="25" name="Shape 23"/>
          <p:cNvSpPr/>
          <p:nvPr/>
        </p:nvSpPr>
        <p:spPr>
          <a:xfrm>
            <a:off x="7223760" y="1901952"/>
            <a:ext cx="4434840" cy="347472"/>
          </a:xfrm>
          <a:prstGeom prst="rect">
            <a:avLst/>
          </a:prstGeom>
          <a:solidFill>
            <a:srgbClr val="F0F4F7"/>
          </a:solidFill>
          <a:ln w="5715">
            <a:solidFill>
              <a:srgbClr val="F7F8FA"/>
            </a:solidFill>
            <a:prstDash val="solid"/>
          </a:ln>
        </p:spPr>
      </p:sp>
      <p:sp>
        <p:nvSpPr>
          <p:cNvPr id="26" name="Text 24"/>
          <p:cNvSpPr/>
          <p:nvPr/>
        </p:nvSpPr>
        <p:spPr>
          <a:xfrm>
            <a:off x="7287768" y="1988820"/>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14.332 [12.591, 18.152] / 8.71%</a:t>
            </a:r>
            <a:endParaRPr lang="en-US" sz="1070" dirty="0"/>
          </a:p>
        </p:txBody>
      </p:sp>
      <p:sp>
        <p:nvSpPr>
          <p:cNvPr id="27" name="Shape 25"/>
          <p:cNvSpPr/>
          <p:nvPr/>
        </p:nvSpPr>
        <p:spPr>
          <a:xfrm>
            <a:off x="457200" y="2249424"/>
            <a:ext cx="2514600" cy="347472"/>
          </a:xfrm>
          <a:prstGeom prst="rect">
            <a:avLst/>
          </a:prstGeom>
          <a:solidFill>
            <a:srgbClr val="FFFFFF"/>
          </a:solidFill>
          <a:ln w="5715">
            <a:solidFill>
              <a:srgbClr val="F7F8FA"/>
            </a:solidFill>
            <a:prstDash val="solid"/>
          </a:ln>
        </p:spPr>
      </p:sp>
      <p:sp>
        <p:nvSpPr>
          <p:cNvPr id="28" name="Text 26"/>
          <p:cNvSpPr/>
          <p:nvPr/>
        </p:nvSpPr>
        <p:spPr>
          <a:xfrm>
            <a:off x="521208" y="2336292"/>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Trial graph.error</a:t>
            </a:r>
            <a:endParaRPr lang="en-US" sz="1070" dirty="0"/>
          </a:p>
        </p:txBody>
      </p:sp>
      <p:sp>
        <p:nvSpPr>
          <p:cNvPr id="29" name="Shape 27"/>
          <p:cNvSpPr/>
          <p:nvPr/>
        </p:nvSpPr>
        <p:spPr>
          <a:xfrm>
            <a:off x="2971800" y="2249424"/>
            <a:ext cx="4251960" cy="347472"/>
          </a:xfrm>
          <a:prstGeom prst="rect">
            <a:avLst/>
          </a:prstGeom>
          <a:solidFill>
            <a:srgbClr val="FFFFFF"/>
          </a:solidFill>
          <a:ln w="5715">
            <a:solidFill>
              <a:srgbClr val="F7F8FA"/>
            </a:solidFill>
            <a:prstDash val="solid"/>
          </a:ln>
        </p:spPr>
      </p:sp>
      <p:sp>
        <p:nvSpPr>
          <p:cNvPr id="30" name="Text 28"/>
          <p:cNvSpPr/>
          <p:nvPr/>
        </p:nvSpPr>
        <p:spPr>
          <a:xfrm>
            <a:off x="3035808" y="2336292"/>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11.644 [8.518, 16.235] / 20.00%</a:t>
            </a:r>
            <a:endParaRPr lang="en-US" sz="1070" dirty="0"/>
          </a:p>
        </p:txBody>
      </p:sp>
      <p:sp>
        <p:nvSpPr>
          <p:cNvPr id="31" name="Shape 29"/>
          <p:cNvSpPr/>
          <p:nvPr/>
        </p:nvSpPr>
        <p:spPr>
          <a:xfrm>
            <a:off x="7223760" y="2249424"/>
            <a:ext cx="4434840" cy="347472"/>
          </a:xfrm>
          <a:prstGeom prst="rect">
            <a:avLst/>
          </a:prstGeom>
          <a:solidFill>
            <a:srgbClr val="FFFFFF"/>
          </a:solidFill>
          <a:ln w="5715">
            <a:solidFill>
              <a:srgbClr val="F7F8FA"/>
            </a:solidFill>
            <a:prstDash val="solid"/>
          </a:ln>
        </p:spPr>
      </p:sp>
      <p:sp>
        <p:nvSpPr>
          <p:cNvPr id="32" name="Text 30"/>
          <p:cNvSpPr/>
          <p:nvPr/>
        </p:nvSpPr>
        <p:spPr>
          <a:xfrm>
            <a:off x="7287768" y="2336292"/>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11.440 [8.518, 14.845] / 19.26%</a:t>
            </a:r>
            <a:endParaRPr lang="en-US" sz="1070" dirty="0"/>
          </a:p>
        </p:txBody>
      </p:sp>
      <p:sp>
        <p:nvSpPr>
          <p:cNvPr id="33" name="Shape 31"/>
          <p:cNvSpPr/>
          <p:nvPr/>
        </p:nvSpPr>
        <p:spPr>
          <a:xfrm>
            <a:off x="457200" y="2596896"/>
            <a:ext cx="2514600" cy="347472"/>
          </a:xfrm>
          <a:prstGeom prst="rect">
            <a:avLst/>
          </a:prstGeom>
          <a:solidFill>
            <a:srgbClr val="F0F4F7"/>
          </a:solidFill>
          <a:ln w="5715">
            <a:solidFill>
              <a:srgbClr val="F7F8FA"/>
            </a:solidFill>
            <a:prstDash val="solid"/>
          </a:ln>
        </p:spPr>
      </p:sp>
      <p:sp>
        <p:nvSpPr>
          <p:cNvPr id="34" name="Text 32"/>
          <p:cNvSpPr/>
          <p:nvPr/>
        </p:nvSpPr>
        <p:spPr>
          <a:xfrm>
            <a:off x="521208" y="2683764"/>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projection</a:t>
            </a:r>
            <a:endParaRPr lang="en-US" sz="1070" dirty="0"/>
          </a:p>
        </p:txBody>
      </p:sp>
      <p:sp>
        <p:nvSpPr>
          <p:cNvPr id="35" name="Shape 33"/>
          <p:cNvSpPr/>
          <p:nvPr/>
        </p:nvSpPr>
        <p:spPr>
          <a:xfrm>
            <a:off x="2971800" y="2596896"/>
            <a:ext cx="4251960" cy="347472"/>
          </a:xfrm>
          <a:prstGeom prst="rect">
            <a:avLst/>
          </a:prstGeom>
          <a:solidFill>
            <a:srgbClr val="F0F4F7"/>
          </a:solidFill>
          <a:ln w="5715">
            <a:solidFill>
              <a:srgbClr val="F7F8FA"/>
            </a:solidFill>
            <a:prstDash val="solid"/>
          </a:ln>
        </p:spPr>
      </p:sp>
      <p:sp>
        <p:nvSpPr>
          <p:cNvPr id="36" name="Text 34"/>
          <p:cNvSpPr/>
          <p:nvPr/>
        </p:nvSpPr>
        <p:spPr>
          <a:xfrm>
            <a:off x="3035808" y="2683764"/>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0.79%</a:t>
            </a:r>
            <a:endParaRPr lang="en-US" sz="1070" dirty="0"/>
          </a:p>
        </p:txBody>
      </p:sp>
      <p:sp>
        <p:nvSpPr>
          <p:cNvPr id="37" name="Shape 35"/>
          <p:cNvSpPr/>
          <p:nvPr/>
        </p:nvSpPr>
        <p:spPr>
          <a:xfrm>
            <a:off x="7223760" y="2596896"/>
            <a:ext cx="4434840" cy="347472"/>
          </a:xfrm>
          <a:prstGeom prst="rect">
            <a:avLst/>
          </a:prstGeom>
          <a:solidFill>
            <a:srgbClr val="F0F4F7"/>
          </a:solidFill>
          <a:ln w="5715">
            <a:solidFill>
              <a:srgbClr val="F7F8FA"/>
            </a:solidFill>
            <a:prstDash val="solid"/>
          </a:ln>
        </p:spPr>
      </p:sp>
      <p:sp>
        <p:nvSpPr>
          <p:cNvPr id="38" name="Text 36"/>
          <p:cNvSpPr/>
          <p:nvPr/>
        </p:nvSpPr>
        <p:spPr>
          <a:xfrm>
            <a:off x="7287768" y="2683764"/>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0.82%</a:t>
            </a:r>
            <a:endParaRPr lang="en-US" sz="1070" dirty="0"/>
          </a:p>
        </p:txBody>
      </p:sp>
      <p:sp>
        <p:nvSpPr>
          <p:cNvPr id="39" name="Shape 37"/>
          <p:cNvSpPr/>
          <p:nvPr/>
        </p:nvSpPr>
        <p:spPr>
          <a:xfrm>
            <a:off x="457200" y="2944368"/>
            <a:ext cx="2514600" cy="347472"/>
          </a:xfrm>
          <a:prstGeom prst="rect">
            <a:avLst/>
          </a:prstGeom>
          <a:solidFill>
            <a:srgbClr val="FFFFFF"/>
          </a:solidFill>
          <a:ln w="5715">
            <a:solidFill>
              <a:srgbClr val="F7F8FA"/>
            </a:solidFill>
            <a:prstDash val="solid"/>
          </a:ln>
        </p:spPr>
      </p:sp>
      <p:sp>
        <p:nvSpPr>
          <p:cNvPr id="40" name="Text 38"/>
          <p:cNvSpPr/>
          <p:nvPr/>
        </p:nvSpPr>
        <p:spPr>
          <a:xfrm>
            <a:off x="521208" y="303123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Hessian diagonal</a:t>
            </a:r>
            <a:endParaRPr lang="en-US" sz="1070" dirty="0"/>
          </a:p>
        </p:txBody>
      </p:sp>
      <p:sp>
        <p:nvSpPr>
          <p:cNvPr id="41" name="Shape 39"/>
          <p:cNvSpPr/>
          <p:nvPr/>
        </p:nvSpPr>
        <p:spPr>
          <a:xfrm>
            <a:off x="2971800" y="2944368"/>
            <a:ext cx="4251960" cy="347472"/>
          </a:xfrm>
          <a:prstGeom prst="rect">
            <a:avLst/>
          </a:prstGeom>
          <a:solidFill>
            <a:srgbClr val="FFFFFF"/>
          </a:solidFill>
          <a:ln w="5715">
            <a:solidFill>
              <a:srgbClr val="F7F8FA"/>
            </a:solidFill>
            <a:prstDash val="solid"/>
          </a:ln>
        </p:spPr>
      </p:sp>
      <p:sp>
        <p:nvSpPr>
          <p:cNvPr id="42" name="Text 40"/>
          <p:cNvSpPr/>
          <p:nvPr/>
        </p:nvSpPr>
        <p:spPr>
          <a:xfrm>
            <a:off x="3035808" y="3031236"/>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0.39%</a:t>
            </a:r>
            <a:endParaRPr lang="en-US" sz="1070" dirty="0"/>
          </a:p>
        </p:txBody>
      </p:sp>
      <p:sp>
        <p:nvSpPr>
          <p:cNvPr id="43" name="Shape 41"/>
          <p:cNvSpPr/>
          <p:nvPr/>
        </p:nvSpPr>
        <p:spPr>
          <a:xfrm>
            <a:off x="7223760" y="2944368"/>
            <a:ext cx="4434840" cy="347472"/>
          </a:xfrm>
          <a:prstGeom prst="rect">
            <a:avLst/>
          </a:prstGeom>
          <a:solidFill>
            <a:srgbClr val="FFFFFF"/>
          </a:solidFill>
          <a:ln w="5715">
            <a:solidFill>
              <a:srgbClr val="F7F8FA"/>
            </a:solidFill>
            <a:prstDash val="solid"/>
          </a:ln>
        </p:spPr>
      </p:sp>
      <p:sp>
        <p:nvSpPr>
          <p:cNvPr id="44" name="Text 42"/>
          <p:cNvSpPr/>
          <p:nvPr/>
        </p:nvSpPr>
        <p:spPr>
          <a:xfrm>
            <a:off x="7287768" y="3031236"/>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0.41%</a:t>
            </a:r>
            <a:endParaRPr lang="en-US" sz="1070" dirty="0"/>
          </a:p>
        </p:txBody>
      </p:sp>
      <p:sp>
        <p:nvSpPr>
          <p:cNvPr id="45" name="Shape 43"/>
          <p:cNvSpPr/>
          <p:nvPr/>
        </p:nvSpPr>
        <p:spPr>
          <a:xfrm>
            <a:off x="457200" y="3291840"/>
            <a:ext cx="2514600" cy="347472"/>
          </a:xfrm>
          <a:prstGeom prst="rect">
            <a:avLst/>
          </a:prstGeom>
          <a:solidFill>
            <a:srgbClr val="F0F4F7"/>
          </a:solidFill>
          <a:ln w="5715">
            <a:solidFill>
              <a:srgbClr val="F7F8FA"/>
            </a:solidFill>
            <a:prstDash val="solid"/>
          </a:ln>
        </p:spPr>
      </p:sp>
      <p:sp>
        <p:nvSpPr>
          <p:cNvPr id="46" name="Text 44"/>
          <p:cNvSpPr/>
          <p:nvPr/>
        </p:nvSpPr>
        <p:spPr>
          <a:xfrm>
            <a:off x="521208" y="337870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dense Schur combined</a:t>
            </a:r>
            <a:endParaRPr lang="en-US" sz="1070" dirty="0"/>
          </a:p>
        </p:txBody>
      </p:sp>
      <p:sp>
        <p:nvSpPr>
          <p:cNvPr id="47" name="Shape 45"/>
          <p:cNvSpPr/>
          <p:nvPr/>
        </p:nvSpPr>
        <p:spPr>
          <a:xfrm>
            <a:off x="2971800" y="3291840"/>
            <a:ext cx="4251960" cy="347472"/>
          </a:xfrm>
          <a:prstGeom prst="rect">
            <a:avLst/>
          </a:prstGeom>
          <a:solidFill>
            <a:srgbClr val="F0F4F7"/>
          </a:solidFill>
          <a:ln w="5715">
            <a:solidFill>
              <a:srgbClr val="F7F8FA"/>
            </a:solidFill>
            <a:prstDash val="solid"/>
          </a:ln>
        </p:spPr>
      </p:sp>
      <p:sp>
        <p:nvSpPr>
          <p:cNvPr id="48" name="Text 46"/>
          <p:cNvSpPr/>
          <p:nvPr/>
        </p:nvSpPr>
        <p:spPr>
          <a:xfrm>
            <a:off x="3035808" y="337870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7.513 [7.468, 7.576] / 0.42%</a:t>
            </a:r>
            <a:endParaRPr lang="en-US" sz="1070" dirty="0"/>
          </a:p>
        </p:txBody>
      </p:sp>
      <p:sp>
        <p:nvSpPr>
          <p:cNvPr id="49" name="Shape 47"/>
          <p:cNvSpPr/>
          <p:nvPr/>
        </p:nvSpPr>
        <p:spPr>
          <a:xfrm>
            <a:off x="7223760" y="3291840"/>
            <a:ext cx="4434840" cy="347472"/>
          </a:xfrm>
          <a:prstGeom prst="rect">
            <a:avLst/>
          </a:prstGeom>
          <a:solidFill>
            <a:srgbClr val="F0F4F7"/>
          </a:solidFill>
          <a:ln w="5715">
            <a:solidFill>
              <a:srgbClr val="F7F8FA"/>
            </a:solidFill>
            <a:prstDash val="solid"/>
          </a:ln>
        </p:spPr>
      </p:sp>
      <p:sp>
        <p:nvSpPr>
          <p:cNvPr id="50" name="Text 48"/>
          <p:cNvSpPr/>
          <p:nvPr/>
        </p:nvSpPr>
        <p:spPr>
          <a:xfrm>
            <a:off x="7287768" y="337870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7.516 [7.468, 7.576] / 0.43%</a:t>
            </a:r>
            <a:endParaRPr lang="en-US" sz="1070" dirty="0"/>
          </a:p>
        </p:txBody>
      </p:sp>
      <p:sp>
        <p:nvSpPr>
          <p:cNvPr id="51" name="Shape 49"/>
          <p:cNvSpPr/>
          <p:nvPr/>
        </p:nvSpPr>
        <p:spPr>
          <a:xfrm>
            <a:off x="457200" y="4160520"/>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160520"/>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773168"/>
            <a:ext cx="4800600" cy="347472"/>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Index-aligned CPU subtotal: repeat 0 mean 80.752 ms, repeat 1 mean 56.881 ms, repeat 2 mean 57.024 ms. Repeat 0 is materially slower.</a:t>
            </a:r>
            <a:endParaRPr lang="en-US" sz="1220" dirty="0"/>
          </a:p>
        </p:txBody>
      </p:sp>
      <p:sp>
        <p:nvSpPr>
          <p:cNvPr id="55" name="Shape 53"/>
          <p:cNvSpPr/>
          <p:nvPr/>
        </p:nvSpPr>
        <p:spPr>
          <a:xfrm>
            <a:off x="6080760" y="4160520"/>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160520"/>
            <a:ext cx="64008" cy="1417320"/>
          </a:xfrm>
          <a:prstGeom prst="rect">
            <a:avLst/>
          </a:prstGeom>
          <a:solidFill>
            <a:srgbClr val="0E7C86"/>
          </a:solidFill>
          <a:ln w="12700">
            <a:solidFill>
              <a:srgbClr val="0E7C86"/>
            </a:solidFill>
            <a:prstDash val="solid"/>
          </a:ln>
        </p:spPr>
      </p:sp>
      <p:sp>
        <p:nvSpPr>
          <p:cNvPr id="57" name="Text 55"/>
          <p:cNvSpPr/>
          <p:nvPr/>
        </p:nvSpPr>
        <p:spPr>
          <a:xfrm>
            <a:off x="6355080" y="4416552"/>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Exact transfer formula and provenance</a:t>
            </a:r>
            <a:endParaRPr lang="en-US" sz="1500" dirty="0"/>
          </a:p>
        </p:txBody>
      </p:sp>
      <p:sp>
        <p:nvSpPr>
          <p:cNvPr id="58" name="Text 56"/>
          <p:cNvSpPr/>
          <p:nvPr/>
        </p:nvSpPr>
        <p:spPr>
          <a:xfrm>
            <a:off x="6355080" y="4718304"/>
            <a:ext cx="5102352" cy="50292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11.284 ms. Dataset: dubrovnik-135-90642-pre.txt; AMD EPYC Milan, NVIDIA A100 80 GB PCIe; CUDA, driver, and TBB thread configuration not recorded.</a:t>
            </a:r>
            <a:endParaRPr lang="en-US" sz="1120" dirty="0"/>
          </a:p>
        </p:txBody>
      </p:sp>
      <p:sp>
        <p:nvSpPr>
          <p:cNvPr id="59" name="Text 57"/>
          <p:cNvSpPr/>
          <p:nvPr/>
        </p:nvSpPr>
        <p:spPr>
          <a:xfrm>
            <a:off x="457200" y="5870448"/>
            <a:ext cx="11155680" cy="320040"/>
          </a:xfrm>
          <a:prstGeom prst="rect">
            <a:avLst/>
          </a:prstGeom>
          <a:noFill/>
          <a:ln/>
        </p:spPr>
        <p:txBody>
          <a:bodyPr wrap="square" lIns="0" tIns="0" rIns="0" bIns="0" rtlCol="0" anchor="ctr">
            <a:normAutofit/>
          </a:bodyPr>
          <a:lstStyle/>
          <a:p>
            <a:pPr algn="ctr" indent="0" marL="0">
              <a:buNone/>
            </a:pPr>
            <a:r>
              <a:rPr lang="en-US" sz="1080" b="1" dirty="0">
                <a:solidFill>
                  <a:srgbClr val="D95D54"/>
                </a:solidFill>
              </a:rPr>
              <a:t>Scope caveats: CPU loops and GPU references are independently timed; the synthetic arithmetic does not measure sparse packing/layout, repeated upload, delta download/mapping, or LM convergence. All-sample lower bound: 64.803 ms. Repeat-0-excluded lower bound: 62.139 ms. With estimated transfer: 73.422 ms.</a:t>
            </a:r>
            <a:endParaRPr lang="en-US" sz="1080" dirty="0"/>
          </a:p>
        </p:txBody>
      </p:sp>
      <p:sp>
        <p:nvSpPr>
          <p:cNvPr id="60" name="Text 58"/>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2026-07-10T11:02:45Z</dcterms:created>
  <dcterms:modified xsi:type="dcterms:W3CDTF">2026-07-10T11:02:45Z</dcterms:modified>
</cp:coreProperties>
</file>