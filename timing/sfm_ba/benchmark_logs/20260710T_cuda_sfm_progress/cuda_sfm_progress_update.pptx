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containing generic factors, together with the current variable estimates in Values. The specialized path scans that graph, selects the supported SFM subset, and creates CPU arrays for cameras, points, measurements, and key maps. Those arrays are allocated and copied to the GPU for LM with dense Schur. After the backend returns, the optimized camera and point arrays are copied back, rebuilt as typed GTSAM Values, and merged into the original state. The main point is that the measured API includes this entire integration path, not only GPU kernel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the proposed baseline architecture. I call it Ceres-style separation because the useful idea is to separate nonlinear residual and Jacobian evaluation from a selectable linear-algebra backend. I am not claiming that every Ceres path has this exact data flow. The CPU and TBB layer evaluates factors and fills reusable sparse numeric J or H buffers. Those numeric values are uploaded for the GPU linear solve, and only the solved delta returns. The CPU then performs manifold retraction, trial error, and the trust-region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factors and current variable estimates.</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SFM host arrays</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supported factors, keys, measurements, cameras, and points on the CPU.</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Allocate and copy arrays, run LM with dense Schur, and retain packed results.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result arrays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Copy optimized camera and point arrays back to the CPU and rebuild typed Values.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4005072"/>
            <a:ext cx="4572000" cy="256032"/>
          </a:xfrm>
          <a:prstGeom prst="rect">
            <a:avLst/>
          </a:prstGeom>
          <a:noFill/>
          <a:ln/>
        </p:spPr>
        <p:txBody>
          <a:bodyPr wrap="square" lIns="0" tIns="0" rIns="0" bIns="0" rtlCol="0" anchor="ctr"/>
          <a:lstStyle/>
          <a:p>
            <a:pPr indent="0" marL="0">
              <a:buNone/>
            </a:pPr>
            <a:r>
              <a:rPr lang="en-US" sz="1800" b="1" dirty="0">
                <a:solidFill>
                  <a:srgbClr val="0E7C86"/>
                </a:solidFill>
              </a:rPr>
              <a:t>What the timing includes</a:t>
            </a:r>
            <a:endParaRPr lang="en-US" sz="1800" dirty="0"/>
          </a:p>
        </p:txBody>
      </p:sp>
      <p:sp>
        <p:nvSpPr>
          <p:cNvPr id="32" name="Text 30"/>
          <p:cNvSpPr/>
          <p:nvPr/>
        </p:nvSpPr>
        <p:spPr>
          <a:xfrm>
            <a:off x="658368" y="4462272"/>
            <a:ext cx="10515600" cy="822960"/>
          </a:xfrm>
          <a:prstGeom prst="rect">
            <a:avLst/>
          </a:prstGeom>
          <a:noFill/>
          <a:ln/>
        </p:spPr>
        <p:txBody>
          <a:bodyPr wrap="square" lIns="0" tIns="0" rIns="0" bIns="0" rtlCol="0" anchor="ctr">
            <a:normAutofit/>
          </a:bodyPr>
          <a:lstStyle/>
          <a:p>
            <a:pPr indent="0" marL="0">
              <a:buNone/>
            </a:pPr>
            <a:r>
              <a:rPr lang="en-US" sz="2400" b="1" dirty="0">
                <a:solidFill>
                  <a:srgbClr val="18212F"/>
                </a:solidFill>
              </a:rPr>
              <a:t>The measured API includes CPU graph conversion, GPU setup and solving, and reconstruction of the final GTSAM Values.</a:t>
            </a:r>
            <a:endParaRPr lang="en-US" sz="2400" dirty="0"/>
          </a:p>
        </p:txBody>
      </p:sp>
      <p:sp>
        <p:nvSpPr>
          <p:cNvPr id="33" name="Text 31"/>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Text 10"/>
          <p:cNvSpPr/>
          <p:nvPr/>
        </p:nvSpPr>
        <p:spPr>
          <a:xfrm>
            <a:off x="7996204" y="1655064"/>
            <a:ext cx="662136"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7%</a:t>
            </a:r>
            <a:endParaRPr lang="en-US" sz="1100" dirty="0"/>
          </a:p>
        </p:txBody>
      </p:sp>
      <p:sp>
        <p:nvSpPr>
          <p:cNvPr id="13" name="Shape 11"/>
          <p:cNvSpPr/>
          <p:nvPr/>
        </p:nvSpPr>
        <p:spPr>
          <a:xfrm>
            <a:off x="8713204" y="1481328"/>
            <a:ext cx="1951397" cy="530352"/>
          </a:xfrm>
          <a:prstGeom prst="rect">
            <a:avLst/>
          </a:prstGeom>
          <a:solidFill>
            <a:srgbClr val="F2A23A"/>
          </a:solidFill>
          <a:ln w="8890">
            <a:solidFill>
              <a:srgbClr val="FFFFFF"/>
            </a:solidFill>
            <a:prstDash val="solid"/>
          </a:ln>
        </p:spPr>
      </p:sp>
      <p:sp>
        <p:nvSpPr>
          <p:cNvPr id="14" name="Text 12"/>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5" name="Shape 13"/>
          <p:cNvSpPr/>
          <p:nvPr/>
        </p:nvSpPr>
        <p:spPr>
          <a:xfrm>
            <a:off x="10664602" y="1481328"/>
            <a:ext cx="874895" cy="530352"/>
          </a:xfrm>
          <a:prstGeom prst="rect">
            <a:avLst/>
          </a:prstGeom>
          <a:solidFill>
            <a:srgbClr val="D95D54"/>
          </a:solidFill>
          <a:ln w="8890">
            <a:solidFill>
              <a:srgbClr val="FFFFFF"/>
            </a:solidFill>
            <a:prstDash val="solid"/>
          </a:ln>
        </p:spPr>
      </p:sp>
      <p:sp>
        <p:nvSpPr>
          <p:cNvPr id="16" name="Text 14"/>
          <p:cNvSpPr/>
          <p:nvPr/>
        </p:nvSpPr>
        <p:spPr>
          <a:xfrm>
            <a:off x="10719466" y="1655064"/>
            <a:ext cx="76516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a:t>
            </a:r>
            <a:endParaRPr lang="en-US" sz="1100" dirty="0"/>
          </a:p>
        </p:txBody>
      </p:sp>
      <p:sp>
        <p:nvSpPr>
          <p:cNvPr id="17" name="Shape 15"/>
          <p:cNvSpPr/>
          <p:nvPr/>
        </p:nvSpPr>
        <p:spPr>
          <a:xfrm>
            <a:off x="11539497" y="1481328"/>
            <a:ext cx="18288" cy="530352"/>
          </a:xfrm>
          <a:prstGeom prst="rect">
            <a:avLst/>
          </a:prstGeom>
          <a:solidFill>
            <a:srgbClr val="5A6472"/>
          </a:solidFill>
          <a:ln w="8890">
            <a:solidFill>
              <a:srgbClr val="FFFFFF"/>
            </a:solidFill>
            <a:prstDash val="solid"/>
          </a:ln>
        </p:spPr>
      </p:sp>
      <p:sp>
        <p:nvSpPr>
          <p:cNvPr id="18" name="Shape 16"/>
          <p:cNvSpPr/>
          <p:nvPr/>
        </p:nvSpPr>
        <p:spPr>
          <a:xfrm>
            <a:off x="658368" y="2290572"/>
            <a:ext cx="128016" cy="128016"/>
          </a:xfrm>
          <a:prstGeom prst="rect">
            <a:avLst/>
          </a:prstGeom>
          <a:solidFill>
            <a:srgbClr val="0E7C86"/>
          </a:solidFill>
          <a:ln w="12700">
            <a:solidFill>
              <a:srgbClr val="0E7C86"/>
            </a:solidFill>
            <a:prstDash val="solid"/>
          </a:ln>
        </p:spPr>
      </p:sp>
      <p:sp>
        <p:nvSpPr>
          <p:cNvPr id="19" name="Text 17"/>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20" name="Shape 18"/>
          <p:cNvSpPr/>
          <p:nvPr/>
        </p:nvSpPr>
        <p:spPr>
          <a:xfrm>
            <a:off x="5824728" y="2290572"/>
            <a:ext cx="128016" cy="128016"/>
          </a:xfrm>
          <a:prstGeom prst="rect">
            <a:avLst/>
          </a:prstGeom>
          <a:solidFill>
            <a:srgbClr val="46A06F"/>
          </a:solidFill>
          <a:ln w="12700">
            <a:solidFill>
              <a:srgbClr val="46A06F"/>
            </a:solidFill>
            <a:prstDash val="solid"/>
          </a:ln>
        </p:spPr>
      </p:sp>
      <p:sp>
        <p:nvSpPr>
          <p:cNvPr id="21" name="Text 19"/>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2" name="Shape 20"/>
          <p:cNvSpPr/>
          <p:nvPr/>
        </p:nvSpPr>
        <p:spPr>
          <a:xfrm>
            <a:off x="658368" y="2601468"/>
            <a:ext cx="128016" cy="128016"/>
          </a:xfrm>
          <a:prstGeom prst="rect">
            <a:avLst/>
          </a:prstGeom>
          <a:solidFill>
            <a:srgbClr val="3E74B8"/>
          </a:solidFill>
          <a:ln w="12700">
            <a:solidFill>
              <a:srgbClr val="3E74B8"/>
            </a:solidFill>
            <a:prstDash val="solid"/>
          </a:ln>
        </p:spPr>
      </p:sp>
      <p:sp>
        <p:nvSpPr>
          <p:cNvPr id="23" name="Text 21"/>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4" name="Shape 22"/>
          <p:cNvSpPr/>
          <p:nvPr/>
        </p:nvSpPr>
        <p:spPr>
          <a:xfrm>
            <a:off x="5824728" y="2601468"/>
            <a:ext cx="128016" cy="128016"/>
          </a:xfrm>
          <a:prstGeom prst="rect">
            <a:avLst/>
          </a:prstGeom>
          <a:solidFill>
            <a:srgbClr val="F2A23A"/>
          </a:solidFill>
          <a:ln w="12700">
            <a:solidFill>
              <a:srgbClr val="F2A23A"/>
            </a:solidFill>
            <a:prstDash val="solid"/>
          </a:ln>
        </p:spPr>
      </p:sp>
      <p:sp>
        <p:nvSpPr>
          <p:cNvPr id="25" name="Text 23"/>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6" name="Shape 24"/>
          <p:cNvSpPr/>
          <p:nvPr/>
        </p:nvSpPr>
        <p:spPr>
          <a:xfrm>
            <a:off x="658368" y="2912364"/>
            <a:ext cx="128016" cy="128016"/>
          </a:xfrm>
          <a:prstGeom prst="rect">
            <a:avLst/>
          </a:prstGeom>
          <a:solidFill>
            <a:srgbClr val="D95D54"/>
          </a:solidFill>
          <a:ln w="12700">
            <a:solidFill>
              <a:srgbClr val="D95D54"/>
            </a:solidFill>
            <a:prstDash val="solid"/>
          </a:ln>
        </p:spPr>
      </p:sp>
      <p:sp>
        <p:nvSpPr>
          <p:cNvPr id="27" name="Text 25"/>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8" name="Shape 26"/>
          <p:cNvSpPr/>
          <p:nvPr/>
        </p:nvSpPr>
        <p:spPr>
          <a:xfrm>
            <a:off x="5824728" y="2912364"/>
            <a:ext cx="128016" cy="128016"/>
          </a:xfrm>
          <a:prstGeom prst="rect">
            <a:avLst/>
          </a:prstGeom>
          <a:solidFill>
            <a:srgbClr val="5A6472"/>
          </a:solidFill>
          <a:ln w="12700">
            <a:solidFill>
              <a:srgbClr val="5A6472"/>
            </a:solidFill>
            <a:prstDash val="solid"/>
          </a:ln>
        </p:spPr>
      </p:sp>
      <p:sp>
        <p:nvSpPr>
          <p:cNvPr id="29" name="Text 27"/>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30" name="Shape 28"/>
          <p:cNvSpPr/>
          <p:nvPr/>
        </p:nvSpPr>
        <p:spPr>
          <a:xfrm>
            <a:off x="658368" y="3127248"/>
            <a:ext cx="4160520" cy="356616"/>
          </a:xfrm>
          <a:prstGeom prst="rect">
            <a:avLst/>
          </a:prstGeom>
          <a:solidFill>
            <a:srgbClr val="1F2A44"/>
          </a:solidFill>
          <a:ln w="5715">
            <a:solidFill>
              <a:srgbClr val="F7F8FA"/>
            </a:solidFill>
            <a:prstDash val="solid"/>
          </a:ln>
        </p:spPr>
      </p:sp>
      <p:sp>
        <p:nvSpPr>
          <p:cNvPr id="31" name="Text 29"/>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2" name="Shape 30"/>
          <p:cNvSpPr/>
          <p:nvPr/>
        </p:nvSpPr>
        <p:spPr>
          <a:xfrm>
            <a:off x="48188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4" name="Shape 32"/>
          <p:cNvSpPr/>
          <p:nvPr/>
        </p:nvSpPr>
        <p:spPr>
          <a:xfrm>
            <a:off x="6647688" y="3127248"/>
            <a:ext cx="1828800" cy="356616"/>
          </a:xfrm>
          <a:prstGeom prst="rect">
            <a:avLst/>
          </a:prstGeom>
          <a:solidFill>
            <a:srgbClr val="1F2A44"/>
          </a:solidFill>
          <a:ln w="5715">
            <a:solidFill>
              <a:srgbClr val="F7F8FA"/>
            </a:solidFill>
            <a:prstDash val="solid"/>
          </a:ln>
        </p:spPr>
      </p:sp>
      <p:sp>
        <p:nvSpPr>
          <p:cNvPr id="35" name="Text 33"/>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6" name="Shape 34"/>
          <p:cNvSpPr/>
          <p:nvPr/>
        </p:nvSpPr>
        <p:spPr>
          <a:xfrm>
            <a:off x="658368" y="3483864"/>
            <a:ext cx="4160520" cy="356616"/>
          </a:xfrm>
          <a:prstGeom prst="rect">
            <a:avLst/>
          </a:prstGeom>
          <a:solidFill>
            <a:srgbClr val="FFFFFF"/>
          </a:solidFill>
          <a:ln w="5715">
            <a:solidFill>
              <a:srgbClr val="F7F8FA"/>
            </a:solidFill>
            <a:prstDash val="solid"/>
          </a:ln>
        </p:spPr>
      </p:sp>
      <p:sp>
        <p:nvSpPr>
          <p:cNvPr id="37" name="Text 35"/>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8" name="Shape 36"/>
          <p:cNvSpPr/>
          <p:nvPr/>
        </p:nvSpPr>
        <p:spPr>
          <a:xfrm>
            <a:off x="48188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40" name="Shape 38"/>
          <p:cNvSpPr/>
          <p:nvPr/>
        </p:nvSpPr>
        <p:spPr>
          <a:xfrm>
            <a:off x="6647688" y="3483864"/>
            <a:ext cx="1828800" cy="356616"/>
          </a:xfrm>
          <a:prstGeom prst="rect">
            <a:avLst/>
          </a:prstGeom>
          <a:solidFill>
            <a:srgbClr val="FFFFFF"/>
          </a:solidFill>
          <a:ln w="5715">
            <a:solidFill>
              <a:srgbClr val="F7F8FA"/>
            </a:solidFill>
            <a:prstDash val="solid"/>
          </a:ln>
        </p:spPr>
      </p:sp>
      <p:sp>
        <p:nvSpPr>
          <p:cNvPr id="41" name="Text 39"/>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2" name="Shape 40"/>
          <p:cNvSpPr/>
          <p:nvPr/>
        </p:nvSpPr>
        <p:spPr>
          <a:xfrm>
            <a:off x="658368" y="3840480"/>
            <a:ext cx="4160520" cy="356616"/>
          </a:xfrm>
          <a:prstGeom prst="rect">
            <a:avLst/>
          </a:prstGeom>
          <a:solidFill>
            <a:srgbClr val="F0F4F7"/>
          </a:solidFill>
          <a:ln w="5715">
            <a:solidFill>
              <a:srgbClr val="F7F8FA"/>
            </a:solidFill>
            <a:prstDash val="solid"/>
          </a:ln>
        </p:spPr>
      </p:sp>
      <p:sp>
        <p:nvSpPr>
          <p:cNvPr id="43" name="Text 41"/>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4" name="Shape 42"/>
          <p:cNvSpPr/>
          <p:nvPr/>
        </p:nvSpPr>
        <p:spPr>
          <a:xfrm>
            <a:off x="48188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6" name="Shape 44"/>
          <p:cNvSpPr/>
          <p:nvPr/>
        </p:nvSpPr>
        <p:spPr>
          <a:xfrm>
            <a:off x="6647688" y="3840480"/>
            <a:ext cx="1828800" cy="356616"/>
          </a:xfrm>
          <a:prstGeom prst="rect">
            <a:avLst/>
          </a:prstGeom>
          <a:solidFill>
            <a:srgbClr val="F0F4F7"/>
          </a:solidFill>
          <a:ln w="5715">
            <a:solidFill>
              <a:srgbClr val="F7F8FA"/>
            </a:solidFill>
            <a:prstDash val="solid"/>
          </a:ln>
        </p:spPr>
      </p:sp>
      <p:sp>
        <p:nvSpPr>
          <p:cNvPr id="47" name="Text 45"/>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8" name="Shape 46"/>
          <p:cNvSpPr/>
          <p:nvPr/>
        </p:nvSpPr>
        <p:spPr>
          <a:xfrm>
            <a:off x="658368" y="4197096"/>
            <a:ext cx="4160520" cy="356616"/>
          </a:xfrm>
          <a:prstGeom prst="rect">
            <a:avLst/>
          </a:prstGeom>
          <a:solidFill>
            <a:srgbClr val="FFFFFF"/>
          </a:solidFill>
          <a:ln w="5715">
            <a:solidFill>
              <a:srgbClr val="F7F8FA"/>
            </a:solidFill>
            <a:prstDash val="solid"/>
          </a:ln>
        </p:spPr>
      </p:sp>
      <p:sp>
        <p:nvSpPr>
          <p:cNvPr id="49" name="Text 47"/>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50" name="Shape 48"/>
          <p:cNvSpPr/>
          <p:nvPr/>
        </p:nvSpPr>
        <p:spPr>
          <a:xfrm>
            <a:off x="48188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2" name="Shape 50"/>
          <p:cNvSpPr/>
          <p:nvPr/>
        </p:nvSpPr>
        <p:spPr>
          <a:xfrm>
            <a:off x="6647688" y="4197096"/>
            <a:ext cx="1828800" cy="356616"/>
          </a:xfrm>
          <a:prstGeom prst="rect">
            <a:avLst/>
          </a:prstGeom>
          <a:solidFill>
            <a:srgbClr val="FFFFFF"/>
          </a:solidFill>
          <a:ln w="5715">
            <a:solidFill>
              <a:srgbClr val="F7F8FA"/>
            </a:solidFill>
            <a:prstDash val="solid"/>
          </a:ln>
        </p:spPr>
      </p:sp>
      <p:sp>
        <p:nvSpPr>
          <p:cNvPr id="53" name="Text 51"/>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4" name="Shape 52"/>
          <p:cNvSpPr/>
          <p:nvPr/>
        </p:nvSpPr>
        <p:spPr>
          <a:xfrm>
            <a:off x="658368" y="4553712"/>
            <a:ext cx="4160520" cy="356616"/>
          </a:xfrm>
          <a:prstGeom prst="rect">
            <a:avLst/>
          </a:prstGeom>
          <a:solidFill>
            <a:srgbClr val="F0F4F7"/>
          </a:solidFill>
          <a:ln w="5715">
            <a:solidFill>
              <a:srgbClr val="F7F8FA"/>
            </a:solidFill>
            <a:prstDash val="solid"/>
          </a:ln>
        </p:spPr>
      </p:sp>
      <p:sp>
        <p:nvSpPr>
          <p:cNvPr id="55" name="Text 53"/>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6" name="Shape 54"/>
          <p:cNvSpPr/>
          <p:nvPr/>
        </p:nvSpPr>
        <p:spPr>
          <a:xfrm>
            <a:off x="48188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8" name="Shape 56"/>
          <p:cNvSpPr/>
          <p:nvPr/>
        </p:nvSpPr>
        <p:spPr>
          <a:xfrm>
            <a:off x="6647688" y="4553712"/>
            <a:ext cx="1828800" cy="356616"/>
          </a:xfrm>
          <a:prstGeom prst="rect">
            <a:avLst/>
          </a:prstGeom>
          <a:solidFill>
            <a:srgbClr val="F0F4F7"/>
          </a:solidFill>
          <a:ln w="5715">
            <a:solidFill>
              <a:srgbClr val="F7F8FA"/>
            </a:solidFill>
            <a:prstDash val="solid"/>
          </a:ln>
        </p:spPr>
      </p:sp>
      <p:sp>
        <p:nvSpPr>
          <p:cNvPr id="59" name="Text 57"/>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60" name="Shape 58"/>
          <p:cNvSpPr/>
          <p:nvPr/>
        </p:nvSpPr>
        <p:spPr>
          <a:xfrm>
            <a:off x="658368" y="4910328"/>
            <a:ext cx="4160520" cy="356616"/>
          </a:xfrm>
          <a:prstGeom prst="rect">
            <a:avLst/>
          </a:prstGeom>
          <a:solidFill>
            <a:srgbClr val="FFFFFF"/>
          </a:solidFill>
          <a:ln w="5715">
            <a:solidFill>
              <a:srgbClr val="F7F8FA"/>
            </a:solidFill>
            <a:prstDash val="solid"/>
          </a:ln>
        </p:spPr>
      </p:sp>
      <p:sp>
        <p:nvSpPr>
          <p:cNvPr id="61" name="Text 59"/>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2" name="Shape 60"/>
          <p:cNvSpPr/>
          <p:nvPr/>
        </p:nvSpPr>
        <p:spPr>
          <a:xfrm>
            <a:off x="48188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4" name="Shape 62"/>
          <p:cNvSpPr/>
          <p:nvPr/>
        </p:nvSpPr>
        <p:spPr>
          <a:xfrm>
            <a:off x="6647688" y="4910328"/>
            <a:ext cx="1828800" cy="356616"/>
          </a:xfrm>
          <a:prstGeom prst="rect">
            <a:avLst/>
          </a:prstGeom>
          <a:solidFill>
            <a:srgbClr val="FFFFFF"/>
          </a:solidFill>
          <a:ln w="5715">
            <a:solidFill>
              <a:srgbClr val="F7F8FA"/>
            </a:solidFill>
            <a:prstDash val="solid"/>
          </a:ln>
        </p:spPr>
      </p:sp>
      <p:sp>
        <p:nvSpPr>
          <p:cNvPr id="65" name="Text 63"/>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6" name="Shape 64"/>
          <p:cNvSpPr/>
          <p:nvPr/>
        </p:nvSpPr>
        <p:spPr>
          <a:xfrm>
            <a:off x="658368" y="5266944"/>
            <a:ext cx="4160520" cy="356616"/>
          </a:xfrm>
          <a:prstGeom prst="rect">
            <a:avLst/>
          </a:prstGeom>
          <a:solidFill>
            <a:srgbClr val="F0F4F7"/>
          </a:solidFill>
          <a:ln w="5715">
            <a:solidFill>
              <a:srgbClr val="F7F8FA"/>
            </a:solidFill>
            <a:prstDash val="solid"/>
          </a:ln>
        </p:spPr>
      </p:sp>
      <p:sp>
        <p:nvSpPr>
          <p:cNvPr id="67" name="Text 65"/>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8" name="Shape 66"/>
          <p:cNvSpPr/>
          <p:nvPr/>
        </p:nvSpPr>
        <p:spPr>
          <a:xfrm>
            <a:off x="48188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70" name="Shape 68"/>
          <p:cNvSpPr/>
          <p:nvPr/>
        </p:nvSpPr>
        <p:spPr>
          <a:xfrm>
            <a:off x="6647688" y="5266944"/>
            <a:ext cx="1828800" cy="356616"/>
          </a:xfrm>
          <a:prstGeom prst="rect">
            <a:avLst/>
          </a:prstGeom>
          <a:solidFill>
            <a:srgbClr val="F0F4F7"/>
          </a:solidFill>
          <a:ln w="5715">
            <a:solidFill>
              <a:srgbClr val="F7F8FA"/>
            </a:solidFill>
            <a:prstDash val="solid"/>
          </a:ln>
        </p:spPr>
      </p:sp>
      <p:sp>
        <p:nvSpPr>
          <p:cNvPr id="71" name="Text 69"/>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2" name="Shape 70"/>
          <p:cNvSpPr/>
          <p:nvPr/>
        </p:nvSpPr>
        <p:spPr>
          <a:xfrm>
            <a:off x="8823960" y="3127248"/>
            <a:ext cx="2615184" cy="2331720"/>
          </a:xfrm>
          <a:prstGeom prst="rect">
            <a:avLst/>
          </a:prstGeom>
          <a:solidFill>
            <a:srgbClr val="FBEDEB"/>
          </a:solidFill>
          <a:ln w="9525">
            <a:solidFill>
              <a:srgbClr val="E7EBF0"/>
            </a:solidFill>
            <a:prstDash val="solid"/>
          </a:ln>
        </p:spPr>
      </p:sp>
      <p:sp>
        <p:nvSpPr>
          <p:cNvPr id="73" name="Shape 71"/>
          <p:cNvSpPr/>
          <p:nvPr/>
        </p:nvSpPr>
        <p:spPr>
          <a:xfrm>
            <a:off x="8823960" y="3127248"/>
            <a:ext cx="64008" cy="2331720"/>
          </a:xfrm>
          <a:prstGeom prst="rect">
            <a:avLst/>
          </a:prstGeom>
          <a:solidFill>
            <a:srgbClr val="D95D54"/>
          </a:solidFill>
          <a:ln w="12700">
            <a:solidFill>
              <a:srgbClr val="D95D54"/>
            </a:solidFill>
            <a:prstDash val="solid"/>
          </a:ln>
        </p:spPr>
      </p:sp>
      <p:sp>
        <p:nvSpPr>
          <p:cNvPr id="74" name="Text 72"/>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5" name="Text 73"/>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6" name="Text 74"/>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7" name="Text 75"/>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8" name="Text 7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4480560" cy="182880"/>
          </a:xfrm>
          <a:prstGeom prst="rect">
            <a:avLst/>
          </a:prstGeom>
          <a:noFill/>
          <a:ln/>
        </p:spPr>
        <p:txBody>
          <a:bodyPr wrap="square" lIns="0" tIns="0" rIns="0" bIns="0" rtlCol="0" anchor="ctr">
            <a:normAutofit/>
          </a:bodyP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572768"/>
            <a:ext cx="1726692" cy="3063240"/>
          </a:xfrm>
          <a:prstGeom prst="rect">
            <a:avLst/>
          </a:prstGeom>
          <a:solidFill>
            <a:srgbClr val="EAF6F7"/>
          </a:solidFill>
          <a:ln w="9525">
            <a:solidFill>
              <a:srgbClr val="1F2A44"/>
            </a:solidFill>
            <a:prstDash val="solid"/>
          </a:ln>
        </p:spPr>
      </p:sp>
      <p:sp>
        <p:nvSpPr>
          <p:cNvPr id="8" name="Shape 6"/>
          <p:cNvSpPr/>
          <p:nvPr/>
        </p:nvSpPr>
        <p:spPr>
          <a:xfrm>
            <a:off x="502920" y="1572768"/>
            <a:ext cx="1726692" cy="91440"/>
          </a:xfrm>
          <a:prstGeom prst="rect">
            <a:avLst/>
          </a:prstGeom>
          <a:solidFill>
            <a:srgbClr val="0E7C86"/>
          </a:solidFill>
          <a:ln w="12700">
            <a:solidFill>
              <a:srgbClr val="0E7C86"/>
            </a:solidFill>
            <a:prstDash val="solid"/>
          </a:ln>
        </p:spPr>
      </p:sp>
      <p:sp>
        <p:nvSpPr>
          <p:cNvPr id="9" name="Text 7"/>
          <p:cNvSpPr/>
          <p:nvPr/>
        </p:nvSpPr>
        <p:spPr>
          <a:xfrm>
            <a:off x="612648"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96722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572768"/>
            <a:ext cx="1726692" cy="3063240"/>
          </a:xfrm>
          <a:prstGeom prst="rect">
            <a:avLst/>
          </a:prstGeom>
          <a:solidFill>
            <a:srgbClr val="FFFFFF"/>
          </a:solidFill>
          <a:ln w="9525">
            <a:solidFill>
              <a:srgbClr val="E7EBF0"/>
            </a:solidFill>
            <a:prstDash val="solid"/>
          </a:ln>
        </p:spPr>
      </p:sp>
      <p:sp>
        <p:nvSpPr>
          <p:cNvPr id="13" name="Shape 11"/>
          <p:cNvSpPr/>
          <p:nvPr/>
        </p:nvSpPr>
        <p:spPr>
          <a:xfrm>
            <a:off x="2394204" y="1572768"/>
            <a:ext cx="1726692" cy="91440"/>
          </a:xfrm>
          <a:prstGeom prst="rect">
            <a:avLst/>
          </a:prstGeom>
          <a:solidFill>
            <a:srgbClr val="3E74B8"/>
          </a:solidFill>
          <a:ln w="12700">
            <a:solidFill>
              <a:srgbClr val="3E74B8"/>
            </a:solidFill>
            <a:prstDash val="solid"/>
          </a:ln>
        </p:spPr>
      </p:sp>
      <p:sp>
        <p:nvSpPr>
          <p:cNvPr id="14" name="Text 12"/>
          <p:cNvSpPr/>
          <p:nvPr/>
        </p:nvSpPr>
        <p:spPr>
          <a:xfrm>
            <a:off x="2503932"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96722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572768"/>
            <a:ext cx="1726692" cy="3063240"/>
          </a:xfrm>
          <a:prstGeom prst="rect">
            <a:avLst/>
          </a:prstGeom>
          <a:solidFill>
            <a:srgbClr val="FEF4E3"/>
          </a:solidFill>
          <a:ln w="9525">
            <a:solidFill>
              <a:srgbClr val="E7EBF0"/>
            </a:solidFill>
            <a:prstDash val="solid"/>
          </a:ln>
        </p:spPr>
      </p:sp>
      <p:sp>
        <p:nvSpPr>
          <p:cNvPr id="18" name="Shape 16"/>
          <p:cNvSpPr/>
          <p:nvPr/>
        </p:nvSpPr>
        <p:spPr>
          <a:xfrm>
            <a:off x="4285488" y="1572768"/>
            <a:ext cx="1726692" cy="91440"/>
          </a:xfrm>
          <a:prstGeom prst="rect">
            <a:avLst/>
          </a:prstGeom>
          <a:solidFill>
            <a:srgbClr val="F2A23A"/>
          </a:solidFill>
          <a:ln w="12700">
            <a:solidFill>
              <a:srgbClr val="F2A23A"/>
            </a:solidFill>
            <a:prstDash val="solid"/>
          </a:ln>
        </p:spPr>
      </p:sp>
      <p:sp>
        <p:nvSpPr>
          <p:cNvPr id="19" name="Text 17"/>
          <p:cNvSpPr/>
          <p:nvPr/>
        </p:nvSpPr>
        <p:spPr>
          <a:xfrm>
            <a:off x="4395216"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96722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572768"/>
            <a:ext cx="1726692" cy="3063240"/>
          </a:xfrm>
          <a:prstGeom prst="rect">
            <a:avLst/>
          </a:prstGeom>
          <a:solidFill>
            <a:srgbClr val="EAF7EF"/>
          </a:solidFill>
          <a:ln w="9525">
            <a:solidFill>
              <a:srgbClr val="E7EBF0"/>
            </a:solidFill>
            <a:prstDash val="solid"/>
          </a:ln>
        </p:spPr>
      </p:sp>
      <p:sp>
        <p:nvSpPr>
          <p:cNvPr id="23" name="Shape 21"/>
          <p:cNvSpPr/>
          <p:nvPr/>
        </p:nvSpPr>
        <p:spPr>
          <a:xfrm>
            <a:off x="6176772" y="1572768"/>
            <a:ext cx="1726692" cy="91440"/>
          </a:xfrm>
          <a:prstGeom prst="rect">
            <a:avLst/>
          </a:prstGeom>
          <a:solidFill>
            <a:srgbClr val="46A06F"/>
          </a:solidFill>
          <a:ln w="12700">
            <a:solidFill>
              <a:srgbClr val="46A06F"/>
            </a:solidFill>
            <a:prstDash val="solid"/>
          </a:ln>
        </p:spPr>
      </p:sp>
      <p:sp>
        <p:nvSpPr>
          <p:cNvPr id="24" name="Text 22"/>
          <p:cNvSpPr/>
          <p:nvPr/>
        </p:nvSpPr>
        <p:spPr>
          <a:xfrm>
            <a:off x="6286500"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96722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572768"/>
            <a:ext cx="1726692" cy="3063240"/>
          </a:xfrm>
          <a:prstGeom prst="rect">
            <a:avLst/>
          </a:prstGeom>
          <a:solidFill>
            <a:srgbClr val="FEF4E3"/>
          </a:solidFill>
          <a:ln w="9525">
            <a:solidFill>
              <a:srgbClr val="E7EBF0"/>
            </a:solidFill>
            <a:prstDash val="solid"/>
          </a:ln>
        </p:spPr>
      </p:sp>
      <p:sp>
        <p:nvSpPr>
          <p:cNvPr id="28" name="Shape 26"/>
          <p:cNvSpPr/>
          <p:nvPr/>
        </p:nvSpPr>
        <p:spPr>
          <a:xfrm>
            <a:off x="8068056" y="1572768"/>
            <a:ext cx="1726692" cy="91440"/>
          </a:xfrm>
          <a:prstGeom prst="rect">
            <a:avLst/>
          </a:prstGeom>
          <a:solidFill>
            <a:srgbClr val="F2A23A"/>
          </a:solidFill>
          <a:ln w="12700">
            <a:solidFill>
              <a:srgbClr val="F2A23A"/>
            </a:solidFill>
            <a:prstDash val="solid"/>
          </a:ln>
        </p:spPr>
      </p:sp>
      <p:sp>
        <p:nvSpPr>
          <p:cNvPr id="29" name="Text 27"/>
          <p:cNvSpPr/>
          <p:nvPr/>
        </p:nvSpPr>
        <p:spPr>
          <a:xfrm>
            <a:off x="8177784"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96722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572768"/>
            <a:ext cx="1726692" cy="3063240"/>
          </a:xfrm>
          <a:prstGeom prst="rect">
            <a:avLst/>
          </a:prstGeom>
          <a:solidFill>
            <a:srgbClr val="FBEDEB"/>
          </a:solidFill>
          <a:ln w="9525">
            <a:solidFill>
              <a:srgbClr val="E7EBF0"/>
            </a:solidFill>
            <a:prstDash val="solid"/>
          </a:ln>
        </p:spPr>
      </p:sp>
      <p:sp>
        <p:nvSpPr>
          <p:cNvPr id="33" name="Shape 31"/>
          <p:cNvSpPr/>
          <p:nvPr/>
        </p:nvSpPr>
        <p:spPr>
          <a:xfrm>
            <a:off x="9959340" y="1572768"/>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764792"/>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231136"/>
            <a:ext cx="1507236" cy="228600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Text 34"/>
          <p:cNvSpPr/>
          <p:nvPr/>
        </p:nvSpPr>
        <p:spPr>
          <a:xfrm>
            <a:off x="658368" y="5285232"/>
            <a:ext cx="3657600" cy="146304"/>
          </a:xfrm>
          <a:prstGeom prst="rect">
            <a:avLst/>
          </a:prstGeom>
          <a:noFill/>
          <a:ln/>
        </p:spPr>
        <p:txBody>
          <a:bodyPr wrap="square" lIns="0" tIns="0" rIns="0" bIns="0" rtlCol="0" anchor="ctr"/>
          <a:lstStyle/>
          <a:p>
            <a:pPr indent="0" marL="0">
              <a:buNone/>
            </a:pPr>
            <a:r>
              <a:rPr lang="en-US" sz="1050" b="1" dirty="0">
                <a:solidFill>
                  <a:srgbClr val="5A6472"/>
                </a:solidFill>
              </a:rPr>
              <a:t>Sources (official Ceres documentation)</a:t>
            </a:r>
            <a:endParaRPr lang="en-US" sz="1050" dirty="0"/>
          </a:p>
        </p:txBody>
      </p:sp>
      <p:sp>
        <p:nvSpPr>
          <p:cNvPr id="37" name="Text 35">
            <a:hlinkClick r:id="rId1" tooltip=""/>
          </p:cNvPr>
          <p:cNvSpPr/>
          <p:nvPr/>
        </p:nvSpPr>
        <p:spPr>
          <a:xfrm>
            <a:off x="658368" y="5486400"/>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Ceres installation | ceres-solver.readthedocs.io/latest/installation.html</a:t>
            </a:r>
            <a:endParaRPr lang="en-US" sz="1060" dirty="0"/>
          </a:p>
        </p:txBody>
      </p:sp>
      <p:sp>
        <p:nvSpPr>
          <p:cNvPr id="38" name="Text 36">
            <a:hlinkClick r:id="rId2" tooltip=""/>
          </p:cNvPr>
          <p:cNvSpPr/>
          <p:nvPr/>
        </p:nvSpPr>
        <p:spPr>
          <a:xfrm>
            <a:off x="658368" y="5705856"/>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Ceres nonlinear least-squares | ceres-solver.readthedocs.io/latest/nnls_solving.html</a:t>
            </a:r>
            <a:endParaRPr lang="en-US" sz="1060" dirty="0"/>
          </a:p>
        </p:txBody>
      </p:sp>
      <p:sp>
        <p:nvSpPr>
          <p:cNvPr id="39" name="Text 3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Text 7"/>
          <p:cNvSpPr/>
          <p:nvPr/>
        </p:nvSpPr>
        <p:spPr>
          <a:xfrm>
            <a:off x="658368" y="1170432"/>
            <a:ext cx="3200400" cy="164592"/>
          </a:xfrm>
          <a:prstGeom prst="rect">
            <a:avLst/>
          </a:prstGeom>
          <a:noFill/>
          <a:ln/>
        </p:spPr>
        <p:txBody>
          <a:bodyPr wrap="square" lIns="0" tIns="0" rIns="0" bIns="0" rtlCol="0" anchor="ctr"/>
          <a:lstStyle/>
          <a:p>
            <a:pPr indent="0" marL="0">
              <a:buNone/>
            </a:pPr>
            <a:r>
              <a:rPr lang="en-US" sz="1200" b="1" dirty="0">
                <a:solidFill>
                  <a:srgbClr val="0E7C86"/>
                </a:solidFill>
              </a:rPr>
              <a:t>MEASURED CPU OBSERVATIONS</a:t>
            </a:r>
            <a:endParaRPr lang="en-US" sz="1200" dirty="0"/>
          </a:p>
        </p:txBody>
      </p:sp>
      <p:sp>
        <p:nvSpPr>
          <p:cNvPr id="10" name="Shape 8"/>
          <p:cNvSpPr/>
          <p:nvPr/>
        </p:nvSpPr>
        <p:spPr>
          <a:xfrm>
            <a:off x="658368" y="1389888"/>
            <a:ext cx="3154680" cy="429768"/>
          </a:xfrm>
          <a:prstGeom prst="rect">
            <a:avLst/>
          </a:prstGeom>
          <a:solidFill>
            <a:srgbClr val="0E7C86"/>
          </a:solidFill>
          <a:ln w="5715">
            <a:solidFill>
              <a:srgbClr val="F7F8FA"/>
            </a:solidFill>
            <a:prstDash val="solid"/>
          </a:ln>
        </p:spPr>
      </p:sp>
      <p:sp>
        <p:nvSpPr>
          <p:cNvPr id="11" name="Text 9"/>
          <p:cNvSpPr/>
          <p:nvPr/>
        </p:nvSpPr>
        <p:spPr>
          <a:xfrm>
            <a:off x="722376" y="1476756"/>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CPU operation</a:t>
            </a:r>
            <a:endParaRPr lang="en-US" sz="1300" dirty="0"/>
          </a:p>
        </p:txBody>
      </p:sp>
      <p:sp>
        <p:nvSpPr>
          <p:cNvPr id="12" name="Shape 10"/>
          <p:cNvSpPr/>
          <p:nvPr/>
        </p:nvSpPr>
        <p:spPr>
          <a:xfrm>
            <a:off x="3813048" y="1389888"/>
            <a:ext cx="1554480" cy="429768"/>
          </a:xfrm>
          <a:prstGeom prst="rect">
            <a:avLst/>
          </a:prstGeom>
          <a:solidFill>
            <a:srgbClr val="0E7C86"/>
          </a:solidFill>
          <a:ln w="5715">
            <a:solidFill>
              <a:srgbClr val="F7F8FA"/>
            </a:solidFill>
            <a:prstDash val="solid"/>
          </a:ln>
        </p:spPr>
      </p:sp>
      <p:sp>
        <p:nvSpPr>
          <p:cNvPr id="13" name="Text 11"/>
          <p:cNvSpPr/>
          <p:nvPr/>
        </p:nvSpPr>
        <p:spPr>
          <a:xfrm>
            <a:off x="3877056" y="1476756"/>
            <a:ext cx="1426464" cy="292608"/>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4" name="Shape 12"/>
          <p:cNvSpPr/>
          <p:nvPr/>
        </p:nvSpPr>
        <p:spPr>
          <a:xfrm>
            <a:off x="5367528" y="1389888"/>
            <a:ext cx="2971800" cy="429768"/>
          </a:xfrm>
          <a:prstGeom prst="rect">
            <a:avLst/>
          </a:prstGeom>
          <a:solidFill>
            <a:srgbClr val="0E7C86"/>
          </a:solidFill>
          <a:ln w="5715">
            <a:solidFill>
              <a:srgbClr val="F7F8FA"/>
            </a:solidFill>
            <a:prstDash val="solid"/>
          </a:ln>
        </p:spPr>
      </p:sp>
      <p:sp>
        <p:nvSpPr>
          <p:cNvPr id="15" name="Text 13"/>
          <p:cNvSpPr/>
          <p:nvPr/>
        </p:nvSpPr>
        <p:spPr>
          <a:xfrm>
            <a:off x="5431536" y="1476756"/>
            <a:ext cx="284378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What was timed</a:t>
            </a:r>
            <a:endParaRPr lang="en-US" sz="1300" dirty="0"/>
          </a:p>
        </p:txBody>
      </p:sp>
      <p:sp>
        <p:nvSpPr>
          <p:cNvPr id="16" name="Shape 14"/>
          <p:cNvSpPr/>
          <p:nvPr/>
        </p:nvSpPr>
        <p:spPr>
          <a:xfrm>
            <a:off x="658368" y="1819656"/>
            <a:ext cx="3154680" cy="429768"/>
          </a:xfrm>
          <a:prstGeom prst="rect">
            <a:avLst/>
          </a:prstGeom>
          <a:solidFill>
            <a:srgbClr val="FFFFFF"/>
          </a:solidFill>
          <a:ln w="5715">
            <a:solidFill>
              <a:srgbClr val="F7F8FA"/>
            </a:solidFill>
            <a:prstDash val="solid"/>
          </a:ln>
        </p:spPr>
      </p:sp>
      <p:sp>
        <p:nvSpPr>
          <p:cNvPr id="17" name="Text 15"/>
          <p:cNvSpPr/>
          <p:nvPr/>
        </p:nvSpPr>
        <p:spPr>
          <a:xfrm>
            <a:off x="722376" y="1906524"/>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8" name="Shape 16"/>
          <p:cNvSpPr/>
          <p:nvPr/>
        </p:nvSpPr>
        <p:spPr>
          <a:xfrm>
            <a:off x="3813048" y="1819656"/>
            <a:ext cx="1554480" cy="429768"/>
          </a:xfrm>
          <a:prstGeom prst="rect">
            <a:avLst/>
          </a:prstGeom>
          <a:solidFill>
            <a:srgbClr val="FFFFFF"/>
          </a:solidFill>
          <a:ln w="5715">
            <a:solidFill>
              <a:srgbClr val="F7F8FA"/>
            </a:solidFill>
            <a:prstDash val="solid"/>
          </a:ln>
        </p:spPr>
      </p:sp>
      <p:sp>
        <p:nvSpPr>
          <p:cNvPr id="19" name="Text 17"/>
          <p:cNvSpPr/>
          <p:nvPr/>
        </p:nvSpPr>
        <p:spPr>
          <a:xfrm>
            <a:off x="3877056" y="1906524"/>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20" name="Shape 18"/>
          <p:cNvSpPr/>
          <p:nvPr/>
        </p:nvSpPr>
        <p:spPr>
          <a:xfrm>
            <a:off x="5367528" y="1819656"/>
            <a:ext cx="2971800" cy="429768"/>
          </a:xfrm>
          <a:prstGeom prst="rect">
            <a:avLst/>
          </a:prstGeom>
          <a:solidFill>
            <a:srgbClr val="FFFFFF"/>
          </a:solidFill>
          <a:ln w="5715">
            <a:solidFill>
              <a:srgbClr val="F7F8FA"/>
            </a:solidFill>
            <a:prstDash val="solid"/>
          </a:ln>
        </p:spPr>
      </p:sp>
      <p:sp>
        <p:nvSpPr>
          <p:cNvPr id="21" name="Text 19"/>
          <p:cNvSpPr/>
          <p:nvPr/>
        </p:nvSpPr>
        <p:spPr>
          <a:xfrm>
            <a:off x="5431536" y="1906524"/>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2" name="Shape 20"/>
          <p:cNvSpPr/>
          <p:nvPr/>
        </p:nvSpPr>
        <p:spPr>
          <a:xfrm>
            <a:off x="658368" y="2249424"/>
            <a:ext cx="3154680" cy="429768"/>
          </a:xfrm>
          <a:prstGeom prst="rect">
            <a:avLst/>
          </a:prstGeom>
          <a:solidFill>
            <a:srgbClr val="F0F4F7"/>
          </a:solidFill>
          <a:ln w="5715">
            <a:solidFill>
              <a:srgbClr val="F7F8FA"/>
            </a:solidFill>
            <a:prstDash val="solid"/>
          </a:ln>
        </p:spPr>
      </p:sp>
      <p:sp>
        <p:nvSpPr>
          <p:cNvPr id="23" name="Text 21"/>
          <p:cNvSpPr/>
          <p:nvPr/>
        </p:nvSpPr>
        <p:spPr>
          <a:xfrm>
            <a:off x="722376" y="2336292"/>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4" name="Shape 22"/>
          <p:cNvSpPr/>
          <p:nvPr/>
        </p:nvSpPr>
        <p:spPr>
          <a:xfrm>
            <a:off x="3813048" y="2249424"/>
            <a:ext cx="1554480" cy="429768"/>
          </a:xfrm>
          <a:prstGeom prst="rect">
            <a:avLst/>
          </a:prstGeom>
          <a:solidFill>
            <a:srgbClr val="F0F4F7"/>
          </a:solidFill>
          <a:ln w="5715">
            <a:solidFill>
              <a:srgbClr val="F7F8FA"/>
            </a:solidFill>
            <a:prstDash val="solid"/>
          </a:ln>
        </p:spPr>
      </p:sp>
      <p:sp>
        <p:nvSpPr>
          <p:cNvPr id="25" name="Text 23"/>
          <p:cNvSpPr/>
          <p:nvPr/>
        </p:nvSpPr>
        <p:spPr>
          <a:xfrm>
            <a:off x="3877056" y="2336292"/>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6" name="Shape 24"/>
          <p:cNvSpPr/>
          <p:nvPr/>
        </p:nvSpPr>
        <p:spPr>
          <a:xfrm>
            <a:off x="5367528" y="2249424"/>
            <a:ext cx="2971800" cy="429768"/>
          </a:xfrm>
          <a:prstGeom prst="rect">
            <a:avLst/>
          </a:prstGeom>
          <a:solidFill>
            <a:srgbClr val="F0F4F7"/>
          </a:solidFill>
          <a:ln w="5715">
            <a:solidFill>
              <a:srgbClr val="F7F8FA"/>
            </a:solidFill>
            <a:prstDash val="solid"/>
          </a:ln>
        </p:spPr>
      </p:sp>
      <p:sp>
        <p:nvSpPr>
          <p:cNvPr id="27" name="Text 25"/>
          <p:cNvSpPr/>
          <p:nvPr/>
        </p:nvSpPr>
        <p:spPr>
          <a:xfrm>
            <a:off x="5431536" y="2336292"/>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8" name="Shape 26"/>
          <p:cNvSpPr/>
          <p:nvPr/>
        </p:nvSpPr>
        <p:spPr>
          <a:xfrm>
            <a:off x="658368" y="2679192"/>
            <a:ext cx="3154680" cy="429768"/>
          </a:xfrm>
          <a:prstGeom prst="rect">
            <a:avLst/>
          </a:prstGeom>
          <a:solidFill>
            <a:srgbClr val="FFFFFF"/>
          </a:solidFill>
          <a:ln w="5715">
            <a:solidFill>
              <a:srgbClr val="F7F8FA"/>
            </a:solidFill>
            <a:prstDash val="solid"/>
          </a:ln>
        </p:spPr>
      </p:sp>
      <p:sp>
        <p:nvSpPr>
          <p:cNvPr id="29" name="Text 27"/>
          <p:cNvSpPr/>
          <p:nvPr/>
        </p:nvSpPr>
        <p:spPr>
          <a:xfrm>
            <a:off x="722376" y="2766060"/>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30" name="Shape 28"/>
          <p:cNvSpPr/>
          <p:nvPr/>
        </p:nvSpPr>
        <p:spPr>
          <a:xfrm>
            <a:off x="3813048" y="2679192"/>
            <a:ext cx="1554480" cy="429768"/>
          </a:xfrm>
          <a:prstGeom prst="rect">
            <a:avLst/>
          </a:prstGeom>
          <a:solidFill>
            <a:srgbClr val="FFFFFF"/>
          </a:solidFill>
          <a:ln w="5715">
            <a:solidFill>
              <a:srgbClr val="F7F8FA"/>
            </a:solidFill>
            <a:prstDash val="solid"/>
          </a:ln>
        </p:spPr>
      </p:sp>
      <p:sp>
        <p:nvSpPr>
          <p:cNvPr id="31" name="Text 29"/>
          <p:cNvSpPr/>
          <p:nvPr/>
        </p:nvSpPr>
        <p:spPr>
          <a:xfrm>
            <a:off x="3877056" y="2766060"/>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2" name="Shape 30"/>
          <p:cNvSpPr/>
          <p:nvPr/>
        </p:nvSpPr>
        <p:spPr>
          <a:xfrm>
            <a:off x="5367528" y="2679192"/>
            <a:ext cx="2971800" cy="429768"/>
          </a:xfrm>
          <a:prstGeom prst="rect">
            <a:avLst/>
          </a:prstGeom>
          <a:solidFill>
            <a:srgbClr val="FFFFFF"/>
          </a:solidFill>
          <a:ln w="5715">
            <a:solidFill>
              <a:srgbClr val="F7F8FA"/>
            </a:solidFill>
            <a:prstDash val="solid"/>
          </a:ln>
        </p:spPr>
      </p:sp>
      <p:sp>
        <p:nvSpPr>
          <p:cNvPr id="33" name="Text 31"/>
          <p:cNvSpPr/>
          <p:nvPr/>
        </p:nvSpPr>
        <p:spPr>
          <a:xfrm>
            <a:off x="5431536" y="2766060"/>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4" name="Shape 32"/>
          <p:cNvSpPr/>
          <p:nvPr/>
        </p:nvSpPr>
        <p:spPr>
          <a:xfrm>
            <a:off x="8641080" y="1389888"/>
            <a:ext cx="2770632" cy="1719072"/>
          </a:xfrm>
          <a:prstGeom prst="rect">
            <a:avLst/>
          </a:prstGeom>
          <a:solidFill>
            <a:srgbClr val="FEF4E3"/>
          </a:solidFill>
          <a:ln w="9525">
            <a:solidFill>
              <a:srgbClr val="E7EBF0"/>
            </a:solidFill>
            <a:prstDash val="solid"/>
          </a:ln>
        </p:spPr>
      </p:sp>
      <p:sp>
        <p:nvSpPr>
          <p:cNvPr id="35" name="Shape 33"/>
          <p:cNvSpPr/>
          <p:nvPr/>
        </p:nvSpPr>
        <p:spPr>
          <a:xfrm>
            <a:off x="8641080" y="1389888"/>
            <a:ext cx="64008" cy="1719072"/>
          </a:xfrm>
          <a:prstGeom prst="rect">
            <a:avLst/>
          </a:prstGeom>
          <a:solidFill>
            <a:srgbClr val="F2A23A"/>
          </a:solidFill>
          <a:ln w="12700">
            <a:solidFill>
              <a:srgbClr val="F2A23A"/>
            </a:solidFill>
            <a:prstDash val="solid"/>
          </a:ln>
        </p:spPr>
      </p:sp>
      <p:sp>
        <p:nvSpPr>
          <p:cNvPr id="36" name="Shape 34"/>
          <p:cNvSpPr/>
          <p:nvPr/>
        </p:nvSpPr>
        <p:spPr>
          <a:xfrm>
            <a:off x="8897112" y="1609344"/>
            <a:ext cx="1810512" cy="274320"/>
          </a:xfrm>
          <a:prstGeom prst="rect">
            <a:avLst/>
          </a:prstGeom>
          <a:solidFill>
            <a:srgbClr val="F2A23A"/>
          </a:solidFill>
          <a:ln w="12700">
            <a:solidFill>
              <a:srgbClr val="F2A23A"/>
            </a:solidFill>
            <a:prstDash val="solid"/>
          </a:ln>
        </p:spPr>
      </p:sp>
      <p:sp>
        <p:nvSpPr>
          <p:cNvPr id="37" name="Text 35"/>
          <p:cNvSpPr/>
          <p:nvPr/>
        </p:nvSpPr>
        <p:spPr>
          <a:xfrm>
            <a:off x="8970264" y="1677924"/>
            <a:ext cx="1664208"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DERIVED COMPONENT</a:t>
            </a:r>
            <a:endParaRPr lang="en-US" sz="950" dirty="0"/>
          </a:p>
        </p:txBody>
      </p:sp>
      <p:sp>
        <p:nvSpPr>
          <p:cNvPr id="38" name="Text 36"/>
          <p:cNvSpPr/>
          <p:nvPr/>
        </p:nvSpPr>
        <p:spPr>
          <a:xfrm>
            <a:off x="8897112" y="1993392"/>
            <a:ext cx="2258568" cy="164592"/>
          </a:xfrm>
          <a:prstGeom prst="rect">
            <a:avLst/>
          </a:prstGeom>
          <a:noFill/>
          <a:ln/>
        </p:spPr>
        <p:txBody>
          <a:bodyPr wrap="square" lIns="0" tIns="0" rIns="0" bIns="0" rtlCol="0" anchor="ctr">
            <a:normAutofit/>
          </a:bodyPr>
          <a:lstStyle/>
          <a:p>
            <a:pPr algn="ctr" indent="0" marL="0">
              <a:buNone/>
            </a:pPr>
            <a:r>
              <a:rPr lang="en-US" sz="1350" b="1" dirty="0">
                <a:solidFill>
                  <a:srgbClr val="F2A23A"/>
                </a:solidFill>
              </a:rPr>
              <a:t>Synthetic GPU component</a:t>
            </a:r>
            <a:endParaRPr lang="en-US" sz="1350" dirty="0"/>
          </a:p>
        </p:txBody>
      </p:sp>
      <p:sp>
        <p:nvSpPr>
          <p:cNvPr id="39" name="Text 37"/>
          <p:cNvSpPr/>
          <p:nvPr/>
        </p:nvSpPr>
        <p:spPr>
          <a:xfrm>
            <a:off x="8897112" y="2231136"/>
            <a:ext cx="2258568" cy="283464"/>
          </a:xfrm>
          <a:prstGeom prst="rect">
            <a:avLst/>
          </a:prstGeom>
          <a:noFill/>
          <a:ln/>
        </p:spPr>
        <p:txBody>
          <a:bodyPr wrap="square" lIns="0" tIns="0" rIns="0" bIns="0" rtlCol="0" anchor="ctr">
            <a:normAutofit/>
          </a:bodyPr>
          <a:lstStyle/>
          <a:p>
            <a:pPr algn="ctr" indent="0" marL="0">
              <a:buNone/>
            </a:pPr>
            <a:r>
              <a:rPr lang="en-US" sz="2400" b="1" dirty="0">
                <a:solidFill>
                  <a:srgbClr val="F2A23A"/>
                </a:solidFill>
              </a:rPr>
              <a:t>8.051 ms</a:t>
            </a:r>
            <a:endParaRPr lang="en-US" sz="2400" dirty="0"/>
          </a:p>
        </p:txBody>
      </p:sp>
      <p:sp>
        <p:nvSpPr>
          <p:cNvPr id="40" name="Text 38"/>
          <p:cNvSpPr/>
          <p:nvPr/>
        </p:nvSpPr>
        <p:spPr>
          <a:xfrm>
            <a:off x="8897112" y="2615184"/>
            <a:ext cx="2258568" cy="256032"/>
          </a:xfrm>
          <a:prstGeom prst="rect">
            <a:avLst/>
          </a:prstGeom>
          <a:noFill/>
          <a:ln/>
        </p:spPr>
        <p:txBody>
          <a:bodyPr wrap="square" lIns="0" tIns="0" rIns="0" bIns="0" rtlCol="0" anchor="ctr">
            <a:normAutofit/>
          </a:bodyPr>
          <a:lstStyle/>
          <a:p>
            <a:pPr algn="ctr" indent="0" marL="0">
              <a:buNone/>
            </a:pPr>
            <a:r>
              <a:rPr lang="en-US" sz="1140" dirty="0">
                <a:solidFill>
                  <a:srgbClr val="18212F"/>
                </a:solidFill>
              </a:rPr>
              <a:t>Hessian diagonal + dense Schur combined - projection</a:t>
            </a:r>
            <a:endParaRPr lang="en-US" sz="1140" dirty="0"/>
          </a:p>
        </p:txBody>
      </p:sp>
      <p:sp>
        <p:nvSpPr>
          <p:cNvPr id="41" name="Shape 39"/>
          <p:cNvSpPr/>
          <p:nvPr/>
        </p:nvSpPr>
        <p:spPr>
          <a:xfrm>
            <a:off x="658368" y="3346704"/>
            <a:ext cx="10607040" cy="438912"/>
          </a:xfrm>
          <a:prstGeom prst="rect">
            <a:avLst/>
          </a:prstGeom>
          <a:solidFill>
            <a:srgbClr val="FEF4E3"/>
          </a:solidFill>
          <a:ln w="9525">
            <a:solidFill>
              <a:srgbClr val="E7EBF0"/>
            </a:solidFill>
            <a:prstDash val="solid"/>
          </a:ln>
        </p:spPr>
      </p:sp>
      <p:sp>
        <p:nvSpPr>
          <p:cNvPr id="42" name="Shape 40"/>
          <p:cNvSpPr/>
          <p:nvPr/>
        </p:nvSpPr>
        <p:spPr>
          <a:xfrm>
            <a:off x="658368" y="3346704"/>
            <a:ext cx="64008" cy="438912"/>
          </a:xfrm>
          <a:prstGeom prst="rect">
            <a:avLst/>
          </a:prstGeom>
          <a:solidFill>
            <a:srgbClr val="F2A23A"/>
          </a:solidFill>
          <a:ln w="12700">
            <a:solidFill>
              <a:srgbClr val="F2A23A"/>
            </a:solidFill>
            <a:prstDash val="solid"/>
          </a:ln>
        </p:spPr>
      </p:sp>
      <p:sp>
        <p:nvSpPr>
          <p:cNvPr id="43" name="Text 41"/>
          <p:cNvSpPr/>
          <p:nvPr/>
        </p:nvSpPr>
        <p:spPr>
          <a:xfrm>
            <a:off x="896112" y="3493008"/>
            <a:ext cx="10104120" cy="146304"/>
          </a:xfrm>
          <a:prstGeom prst="rect">
            <a:avLst/>
          </a:prstGeom>
          <a:noFill/>
          <a:ln/>
        </p:spPr>
        <p:txBody>
          <a:bodyPr wrap="square" lIns="0" tIns="0" rIns="0" bIns="0" rtlCol="0" anchor="ctr">
            <a:normAutofit/>
          </a:bodyPr>
          <a:lstStyle/>
          <a:p>
            <a:pPr algn="ctr" indent="0" marL="0">
              <a:buNone/>
            </a:pPr>
            <a:r>
              <a:rPr lang="en-US" sz="1400" b="1" dirty="0">
                <a:solidFill>
                  <a:srgbClr val="F2A23A"/>
                </a:solidFill>
              </a:rPr>
              <a:t>DERIVED, NOT END-TO-END | arithmetic combines separately timed components</a:t>
            </a:r>
            <a:endParaRPr lang="en-US" sz="1400" dirty="0"/>
          </a:p>
        </p:txBody>
      </p:sp>
      <p:sp>
        <p:nvSpPr>
          <p:cNvPr id="44" name="Shape 42"/>
          <p:cNvSpPr/>
          <p:nvPr/>
        </p:nvSpPr>
        <p:spPr>
          <a:xfrm>
            <a:off x="658368" y="4041648"/>
            <a:ext cx="3383280" cy="978408"/>
          </a:xfrm>
          <a:prstGeom prst="rect">
            <a:avLst/>
          </a:prstGeom>
          <a:solidFill>
            <a:srgbClr val="FFFFFF"/>
          </a:solidFill>
          <a:ln w="9525">
            <a:solidFill>
              <a:srgbClr val="E7EBF0"/>
            </a:solidFill>
            <a:prstDash val="solid"/>
          </a:ln>
        </p:spPr>
      </p:sp>
      <p:sp>
        <p:nvSpPr>
          <p:cNvPr id="45" name="Shape 43"/>
          <p:cNvSpPr/>
          <p:nvPr/>
        </p:nvSpPr>
        <p:spPr>
          <a:xfrm>
            <a:off x="658368" y="4041648"/>
            <a:ext cx="64008" cy="978408"/>
          </a:xfrm>
          <a:prstGeom prst="rect">
            <a:avLst/>
          </a:prstGeom>
          <a:solidFill>
            <a:srgbClr val="F2A23A"/>
          </a:solidFill>
          <a:ln w="12700">
            <a:solidFill>
              <a:srgbClr val="F2A23A"/>
            </a:solidFill>
            <a:prstDash val="solid"/>
          </a:ln>
        </p:spPr>
      </p:sp>
      <p:sp>
        <p:nvSpPr>
          <p:cNvPr id="46" name="Text 44"/>
          <p:cNvSpPr/>
          <p:nvPr/>
        </p:nvSpPr>
        <p:spPr>
          <a:xfrm>
            <a:off x="841248"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62.139 ms</a:t>
            </a:r>
            <a:endParaRPr lang="en-US" sz="2500" dirty="0"/>
          </a:p>
        </p:txBody>
      </p:sp>
      <p:sp>
        <p:nvSpPr>
          <p:cNvPr id="47" name="Text 45"/>
          <p:cNvSpPr/>
          <p:nvPr/>
        </p:nvSpPr>
        <p:spPr>
          <a:xfrm>
            <a:off x="841248"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lower bound</a:t>
            </a:r>
            <a:endParaRPr lang="en-US" sz="1350" dirty="0"/>
          </a:p>
        </p:txBody>
      </p:sp>
      <p:sp>
        <p:nvSpPr>
          <p:cNvPr id="48" name="Text 46"/>
          <p:cNvSpPr/>
          <p:nvPr/>
        </p:nvSpPr>
        <p:spPr>
          <a:xfrm>
            <a:off x="841248"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4041648"/>
            <a:ext cx="3246120" cy="978408"/>
          </a:xfrm>
          <a:prstGeom prst="rect">
            <a:avLst/>
          </a:prstGeom>
          <a:solidFill>
            <a:srgbClr val="FFFFFF"/>
          </a:solidFill>
          <a:ln w="9525">
            <a:solidFill>
              <a:srgbClr val="E7EBF0"/>
            </a:solidFill>
            <a:prstDash val="solid"/>
          </a:ln>
        </p:spPr>
      </p:sp>
      <p:sp>
        <p:nvSpPr>
          <p:cNvPr id="50" name="Shape 48"/>
          <p:cNvSpPr/>
          <p:nvPr/>
        </p:nvSpPr>
        <p:spPr>
          <a:xfrm>
            <a:off x="4343400" y="4041648"/>
            <a:ext cx="64008" cy="978408"/>
          </a:xfrm>
          <a:prstGeom prst="rect">
            <a:avLst/>
          </a:prstGeom>
          <a:solidFill>
            <a:srgbClr val="3E74B8"/>
          </a:solidFill>
          <a:ln w="12700">
            <a:solidFill>
              <a:srgbClr val="3E74B8"/>
            </a:solidFill>
            <a:prstDash val="solid"/>
          </a:ln>
        </p:spPr>
      </p:sp>
      <p:sp>
        <p:nvSpPr>
          <p:cNvPr id="51" name="Text 49"/>
          <p:cNvSpPr/>
          <p:nvPr/>
        </p:nvSpPr>
        <p:spPr>
          <a:xfrm>
            <a:off x="4526280" y="4160520"/>
            <a:ext cx="2935224" cy="310896"/>
          </a:xfrm>
          <a:prstGeom prst="rect">
            <a:avLst/>
          </a:prstGeom>
          <a:noFill/>
          <a:ln/>
        </p:spPr>
        <p:txBody>
          <a:bodyPr wrap="square" lIns="0" tIns="0" rIns="0" bIns="0" rtlCol="0" anchor="ctr">
            <a:normAutofit/>
          </a:bodyPr>
          <a:lstStyle/>
          <a:p>
            <a:pPr indent="0" marL="0">
              <a:buNone/>
            </a:pPr>
            <a:r>
              <a:rPr lang="en-US" sz="2500" b="1" dirty="0">
                <a:solidFill>
                  <a:srgbClr val="3E74B8"/>
                </a:solidFill>
              </a:rPr>
              <a:t>+11.283 ms</a:t>
            </a:r>
            <a:endParaRPr lang="en-US" sz="2500" dirty="0"/>
          </a:p>
        </p:txBody>
      </p:sp>
      <p:sp>
        <p:nvSpPr>
          <p:cNvPr id="52" name="Text 50"/>
          <p:cNvSpPr/>
          <p:nvPr/>
        </p:nvSpPr>
        <p:spPr>
          <a:xfrm>
            <a:off x="4526280" y="4562856"/>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782312"/>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4041648"/>
            <a:ext cx="3383280" cy="978408"/>
          </a:xfrm>
          <a:prstGeom prst="rect">
            <a:avLst/>
          </a:prstGeom>
          <a:solidFill>
            <a:srgbClr val="FFFFFF"/>
          </a:solidFill>
          <a:ln w="9525">
            <a:solidFill>
              <a:srgbClr val="E7EBF0"/>
            </a:solidFill>
            <a:prstDash val="solid"/>
          </a:ln>
        </p:spPr>
      </p:sp>
      <p:sp>
        <p:nvSpPr>
          <p:cNvPr id="55" name="Shape 53"/>
          <p:cNvSpPr/>
          <p:nvPr/>
        </p:nvSpPr>
        <p:spPr>
          <a:xfrm>
            <a:off x="7891272" y="4041648"/>
            <a:ext cx="64008" cy="978408"/>
          </a:xfrm>
          <a:prstGeom prst="rect">
            <a:avLst/>
          </a:prstGeom>
          <a:solidFill>
            <a:srgbClr val="D95D54"/>
          </a:solidFill>
          <a:ln w="12700">
            <a:solidFill>
              <a:srgbClr val="D95D54"/>
            </a:solidFill>
            <a:prstDash val="solid"/>
          </a:ln>
        </p:spPr>
      </p:sp>
      <p:sp>
        <p:nvSpPr>
          <p:cNvPr id="56" name="Text 54"/>
          <p:cNvSpPr/>
          <p:nvPr/>
        </p:nvSpPr>
        <p:spPr>
          <a:xfrm>
            <a:off x="8074152"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 estimate</a:t>
            </a:r>
            <a:endParaRPr lang="en-US" sz="1350" dirty="0"/>
          </a:p>
        </p:txBody>
      </p:sp>
      <p:sp>
        <p:nvSpPr>
          <p:cNvPr id="58" name="Text 56"/>
          <p:cNvSpPr/>
          <p:nvPr/>
        </p:nvSpPr>
        <p:spPr>
          <a:xfrm>
            <a:off x="8074152"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376672"/>
            <a:ext cx="10607040" cy="676656"/>
          </a:xfrm>
          <a:prstGeom prst="rect">
            <a:avLst/>
          </a:prstGeom>
          <a:solidFill>
            <a:srgbClr val="FBEDEB"/>
          </a:solidFill>
          <a:ln w="9525">
            <a:solidFill>
              <a:srgbClr val="E7EBF0"/>
            </a:solidFill>
            <a:prstDash val="solid"/>
          </a:ln>
        </p:spPr>
      </p:sp>
      <p:sp>
        <p:nvSpPr>
          <p:cNvPr id="60" name="Shape 58"/>
          <p:cNvSpPr/>
          <p:nvPr/>
        </p:nvSpPr>
        <p:spPr>
          <a:xfrm>
            <a:off x="658368" y="5376672"/>
            <a:ext cx="64008" cy="676656"/>
          </a:xfrm>
          <a:prstGeom prst="rect">
            <a:avLst/>
          </a:prstGeom>
          <a:solidFill>
            <a:srgbClr val="D95D54"/>
          </a:solidFill>
          <a:ln w="12700">
            <a:solidFill>
              <a:srgbClr val="D95D54"/>
            </a:solidFill>
            <a:prstDash val="solid"/>
          </a:ln>
        </p:spPr>
      </p:sp>
      <p:sp>
        <p:nvSpPr>
          <p:cNvPr id="61" name="Text 59"/>
          <p:cNvSpPr/>
          <p:nvPr/>
        </p:nvSpPr>
        <p:spPr>
          <a:xfrm>
            <a:off x="896112" y="5568696"/>
            <a:ext cx="10104120" cy="256032"/>
          </a:xfrm>
          <a:prstGeom prst="rect">
            <a:avLst/>
          </a:prstGeom>
          <a:noFill/>
          <a:ln/>
        </p:spPr>
        <p:txBody>
          <a:bodyPr wrap="square" lIns="0" tIns="0" rIns="0" bIns="0" rtlCol="0" anchor="ctr">
            <a:normAutofit/>
          </a:bodyPr>
          <a:lstStyle/>
          <a:p>
            <a:pPr algn="ctr" indent="0" marL="0">
              <a:buNone/>
            </a:pPr>
            <a:r>
              <a:rPr lang="en-US" sz="138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8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9738360" y="429768"/>
            <a:ext cx="1234440" cy="274320"/>
          </a:xfrm>
          <a:prstGeom prst="rect">
            <a:avLst/>
          </a:prstGeom>
          <a:solidFill>
            <a:srgbClr val="0E7C86"/>
          </a:solidFill>
          <a:ln w="12700">
            <a:solidFill>
              <a:srgbClr val="0E7C86"/>
            </a:solidFill>
            <a:prstDash val="solid"/>
          </a:ln>
        </p:spPr>
      </p:sp>
      <p:sp>
        <p:nvSpPr>
          <p:cNvPr id="3" name="Text 1"/>
          <p:cNvSpPr/>
          <p:nvPr/>
        </p:nvSpPr>
        <p:spPr>
          <a:xfrm>
            <a:off x="981151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082528" y="429768"/>
            <a:ext cx="1069848" cy="274320"/>
          </a:xfrm>
          <a:prstGeom prst="rect">
            <a:avLst/>
          </a:prstGeom>
          <a:solidFill>
            <a:srgbClr val="F2A23A"/>
          </a:solidFill>
          <a:ln w="12700">
            <a:solidFill>
              <a:srgbClr val="F2A23A"/>
            </a:solidFill>
            <a:prstDash val="solid"/>
          </a:ln>
        </p:spPr>
      </p:sp>
      <p:sp>
        <p:nvSpPr>
          <p:cNvPr id="5" name="Text 3"/>
          <p:cNvSpPr/>
          <p:nvPr/>
        </p:nvSpPr>
        <p:spPr>
          <a:xfrm>
            <a:off x="11155680"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Text 12"/>
          <p:cNvSpPr/>
          <p:nvPr/>
        </p:nvSpPr>
        <p:spPr>
          <a:xfrm>
            <a:off x="6720840" y="1901952"/>
            <a:ext cx="4480560" cy="137160"/>
          </a:xfrm>
          <a:prstGeom prst="rect">
            <a:avLst/>
          </a:prstGeom>
          <a:noFill/>
          <a:ln/>
        </p:spPr>
        <p:txBody>
          <a:bodyPr wrap="square" lIns="0" tIns="0" rIns="0" bIns="0" rtlCol="0" anchor="ctr"/>
          <a:lstStyle/>
          <a:p>
            <a:pPr indent="0" marL="0">
              <a:buNone/>
            </a:pPr>
            <a:r>
              <a:rPr lang="en-US" sz="1150" b="1" dirty="0">
                <a:solidFill>
                  <a:srgbClr val="0E7C86"/>
                </a:solidFill>
              </a:rPr>
              <a:t>TEAL: ARCHITECTURE PATH</a:t>
            </a:r>
            <a:endParaRPr lang="en-US" sz="1150" dirty="0"/>
          </a:p>
        </p:txBody>
      </p:sp>
      <p:sp>
        <p:nvSpPr>
          <p:cNvPr id="15" name="Shape 13"/>
          <p:cNvSpPr/>
          <p:nvPr/>
        </p:nvSpPr>
        <p:spPr>
          <a:xfrm>
            <a:off x="6382512" y="2231136"/>
            <a:ext cx="155448" cy="155448"/>
          </a:xfrm>
          <a:prstGeom prst="rect">
            <a:avLst/>
          </a:prstGeom>
          <a:solidFill>
            <a:srgbClr val="0E7C86"/>
          </a:solidFill>
          <a:ln w="12700">
            <a:solidFill>
              <a:srgbClr val="0E7C86"/>
            </a:solidFill>
            <a:prstDash val="solid"/>
          </a:ln>
        </p:spPr>
      </p:sp>
      <p:sp>
        <p:nvSpPr>
          <p:cNvPr id="16" name="Text 14"/>
          <p:cNvSpPr/>
          <p:nvPr/>
        </p:nvSpPr>
        <p:spPr>
          <a:xfrm>
            <a:off x="6720840" y="215798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Cache sparse structure.</a:t>
            </a:r>
            <a:endParaRPr lang="en-US" sz="1550" dirty="0"/>
          </a:p>
        </p:txBody>
      </p:sp>
      <p:sp>
        <p:nvSpPr>
          <p:cNvPr id="17" name="Shape 15"/>
          <p:cNvSpPr/>
          <p:nvPr/>
        </p:nvSpPr>
        <p:spPr>
          <a:xfrm>
            <a:off x="6382512" y="2734056"/>
            <a:ext cx="155448" cy="155448"/>
          </a:xfrm>
          <a:prstGeom prst="rect">
            <a:avLst/>
          </a:prstGeom>
          <a:solidFill>
            <a:srgbClr val="0E7C86"/>
          </a:solidFill>
          <a:ln w="12700">
            <a:solidFill>
              <a:srgbClr val="0E7C86"/>
            </a:solidFill>
            <a:prstDash val="solid"/>
          </a:ln>
        </p:spPr>
      </p:sp>
      <p:sp>
        <p:nvSpPr>
          <p:cNvPr id="18" name="Text 16"/>
          <p:cNvSpPr/>
          <p:nvPr/>
        </p:nvSpPr>
        <p:spPr>
          <a:xfrm>
            <a:off x="6720840" y="266090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Direct TBB numeric fill.</a:t>
            </a:r>
            <a:endParaRPr lang="en-US" sz="1550" dirty="0"/>
          </a:p>
        </p:txBody>
      </p:sp>
      <p:sp>
        <p:nvSpPr>
          <p:cNvPr id="19" name="Shape 17"/>
          <p:cNvSpPr/>
          <p:nvPr/>
        </p:nvSpPr>
        <p:spPr>
          <a:xfrm>
            <a:off x="6382512" y="3236976"/>
            <a:ext cx="155448" cy="155448"/>
          </a:xfrm>
          <a:prstGeom prst="rect">
            <a:avLst/>
          </a:prstGeom>
          <a:solidFill>
            <a:srgbClr val="0E7C86"/>
          </a:solidFill>
          <a:ln w="12700">
            <a:solidFill>
              <a:srgbClr val="0E7C86"/>
            </a:solidFill>
            <a:prstDash val="solid"/>
          </a:ln>
        </p:spPr>
      </p:sp>
      <p:sp>
        <p:nvSpPr>
          <p:cNvPr id="20" name="Text 18"/>
          <p:cNvSpPr/>
          <p:nvPr/>
        </p:nvSpPr>
        <p:spPr>
          <a:xfrm>
            <a:off x="6720840" y="316382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Upload only numeric values.</a:t>
            </a:r>
            <a:endParaRPr lang="en-US" sz="1550" dirty="0"/>
          </a:p>
        </p:txBody>
      </p:sp>
      <p:sp>
        <p:nvSpPr>
          <p:cNvPr id="21" name="Text 19"/>
          <p:cNvSpPr/>
          <p:nvPr/>
        </p:nvSpPr>
        <p:spPr>
          <a:xfrm>
            <a:off x="6720840" y="3602736"/>
            <a:ext cx="4480560" cy="137160"/>
          </a:xfrm>
          <a:prstGeom prst="rect">
            <a:avLst/>
          </a:prstGeom>
          <a:noFill/>
          <a:ln/>
        </p:spPr>
        <p:txBody>
          <a:bodyPr wrap="square" lIns="0" tIns="0" rIns="0" bIns="0" rtlCol="0" anchor="ctr"/>
          <a:lstStyle/>
          <a:p>
            <a:pPr indent="0" marL="0">
              <a:buNone/>
            </a:pPr>
            <a:r>
              <a:rPr lang="en-US" sz="1150" b="1" dirty="0">
                <a:solidFill>
                  <a:srgbClr val="F2A23A"/>
                </a:solidFill>
              </a:rPr>
              <a:t>AMBER: VALIDATION &amp; EVALUATION</a:t>
            </a:r>
            <a:endParaRPr lang="en-US" sz="1150" dirty="0"/>
          </a:p>
        </p:txBody>
      </p:sp>
      <p:sp>
        <p:nvSpPr>
          <p:cNvPr id="22" name="Shape 20"/>
          <p:cNvSpPr/>
          <p:nvPr/>
        </p:nvSpPr>
        <p:spPr>
          <a:xfrm>
            <a:off x="6382512" y="3931920"/>
            <a:ext cx="155448" cy="155448"/>
          </a:xfrm>
          <a:prstGeom prst="rect">
            <a:avLst/>
          </a:prstGeom>
          <a:solidFill>
            <a:srgbClr val="F2A23A"/>
          </a:solidFill>
          <a:ln w="12700">
            <a:solidFill>
              <a:srgbClr val="F2A23A"/>
            </a:solidFill>
            <a:prstDash val="solid"/>
          </a:ln>
        </p:spPr>
      </p:sp>
      <p:sp>
        <p:nvSpPr>
          <p:cNvPr id="23" name="Text 21"/>
          <p:cNvSpPr/>
          <p:nvPr/>
        </p:nvSpPr>
        <p:spPr>
          <a:xfrm>
            <a:off x="6720840" y="385876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GPU normal equations + cuDSS/dense solver.</a:t>
            </a:r>
            <a:endParaRPr lang="en-US" sz="1550" dirty="0"/>
          </a:p>
        </p:txBody>
      </p:sp>
      <p:sp>
        <p:nvSpPr>
          <p:cNvPr id="24" name="Shape 22"/>
          <p:cNvSpPr/>
          <p:nvPr/>
        </p:nvSpPr>
        <p:spPr>
          <a:xfrm>
            <a:off x="6382512" y="4434840"/>
            <a:ext cx="155448" cy="155448"/>
          </a:xfrm>
          <a:prstGeom prst="rect">
            <a:avLst/>
          </a:prstGeom>
          <a:solidFill>
            <a:srgbClr val="F2A23A"/>
          </a:solidFill>
          <a:ln w="12700">
            <a:solidFill>
              <a:srgbClr val="F2A23A"/>
            </a:solidFill>
            <a:prstDash val="solid"/>
          </a:ln>
        </p:spPr>
      </p:sp>
      <p:sp>
        <p:nvSpPr>
          <p:cNvPr id="25" name="Text 23"/>
          <p:cNvSpPr/>
          <p:nvPr/>
        </p:nvSpPr>
        <p:spPr>
          <a:xfrm>
            <a:off x="6720840" y="436168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Download delta, then CPU retract/error.</a:t>
            </a:r>
            <a:endParaRPr lang="en-US" sz="1550" dirty="0"/>
          </a:p>
        </p:txBody>
      </p:sp>
      <p:sp>
        <p:nvSpPr>
          <p:cNvPr id="26" name="Shape 24"/>
          <p:cNvSpPr/>
          <p:nvPr/>
        </p:nvSpPr>
        <p:spPr>
          <a:xfrm>
            <a:off x="6382512" y="4937760"/>
            <a:ext cx="155448" cy="155448"/>
          </a:xfrm>
          <a:prstGeom prst="rect">
            <a:avLst/>
          </a:prstGeom>
          <a:solidFill>
            <a:srgbClr val="F2A23A"/>
          </a:solidFill>
          <a:ln w="12700">
            <a:solidFill>
              <a:srgbClr val="F2A23A"/>
            </a:solidFill>
            <a:prstDash val="solid"/>
          </a:ln>
        </p:spPr>
      </p:sp>
      <p:sp>
        <p:nvSpPr>
          <p:cNvPr id="27" name="Text 25"/>
          <p:cNvSpPr/>
          <p:nvPr/>
        </p:nvSpPr>
        <p:spPr>
          <a:xfrm>
            <a:off x="6720840" y="486460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Measure full LM convergence.</a:t>
            </a:r>
            <a:endParaRPr lang="en-US" sz="1550" dirty="0"/>
          </a:p>
        </p:txBody>
      </p:sp>
      <p:sp>
        <p:nvSpPr>
          <p:cNvPr id="28" name="Text 26"/>
          <p:cNvSpPr/>
          <p:nvPr/>
        </p:nvSpPr>
        <p:spPr>
          <a:xfrm>
            <a:off x="6382512" y="565099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179576"/>
            <a:ext cx="1143000" cy="278892"/>
          </a:xfrm>
          <a:prstGeom prst="rect">
            <a:avLst/>
          </a:prstGeom>
          <a:solidFill>
            <a:srgbClr val="1F2A44"/>
          </a:solidFill>
          <a:ln w="5715">
            <a:solidFill>
              <a:srgbClr val="F7F8FA"/>
            </a:solidFill>
            <a:prstDash val="solid"/>
          </a:ln>
        </p:spPr>
      </p:sp>
      <p:sp>
        <p:nvSpPr>
          <p:cNvPr id="8" name="Text 6"/>
          <p:cNvSpPr/>
          <p:nvPr/>
        </p:nvSpPr>
        <p:spPr>
          <a:xfrm>
            <a:off x="566928" y="126644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Level</a:t>
            </a:r>
            <a:endParaRPr lang="en-US" sz="1100" dirty="0"/>
          </a:p>
        </p:txBody>
      </p:sp>
      <p:sp>
        <p:nvSpPr>
          <p:cNvPr id="9" name="Shape 7"/>
          <p:cNvSpPr/>
          <p:nvPr/>
        </p:nvSpPr>
        <p:spPr>
          <a:xfrm>
            <a:off x="1645920" y="1179576"/>
            <a:ext cx="4251960" cy="278892"/>
          </a:xfrm>
          <a:prstGeom prst="rect">
            <a:avLst/>
          </a:prstGeom>
          <a:solidFill>
            <a:srgbClr val="1F2A44"/>
          </a:solidFill>
          <a:ln w="5715">
            <a:solidFill>
              <a:srgbClr val="F7F8FA"/>
            </a:solidFill>
            <a:prstDash val="solid"/>
          </a:ln>
        </p:spPr>
      </p:sp>
      <p:sp>
        <p:nvSpPr>
          <p:cNvPr id="10" name="Text 8"/>
          <p:cNvSpPr/>
          <p:nvPr/>
        </p:nvSpPr>
        <p:spPr>
          <a:xfrm>
            <a:off x="1709928" y="1266444"/>
            <a:ext cx="412394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Component</a:t>
            </a:r>
            <a:endParaRPr lang="en-US" sz="1100" dirty="0"/>
          </a:p>
        </p:txBody>
      </p:sp>
      <p:sp>
        <p:nvSpPr>
          <p:cNvPr id="11" name="Shape 9"/>
          <p:cNvSpPr/>
          <p:nvPr/>
        </p:nvSpPr>
        <p:spPr>
          <a:xfrm>
            <a:off x="5897880" y="1179576"/>
            <a:ext cx="1234440" cy="278892"/>
          </a:xfrm>
          <a:prstGeom prst="rect">
            <a:avLst/>
          </a:prstGeom>
          <a:solidFill>
            <a:srgbClr val="1F2A44"/>
          </a:solidFill>
          <a:ln w="5715">
            <a:solidFill>
              <a:srgbClr val="F7F8FA"/>
            </a:solidFill>
            <a:prstDash val="solid"/>
          </a:ln>
        </p:spPr>
      </p:sp>
      <p:sp>
        <p:nvSpPr>
          <p:cNvPr id="12" name="Text 10"/>
          <p:cNvSpPr/>
          <p:nvPr/>
        </p:nvSpPr>
        <p:spPr>
          <a:xfrm>
            <a:off x="5961888" y="1266444"/>
            <a:ext cx="110642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 name="Shape 11"/>
          <p:cNvSpPr/>
          <p:nvPr/>
        </p:nvSpPr>
        <p:spPr>
          <a:xfrm>
            <a:off x="7132320" y="1179576"/>
            <a:ext cx="1417320" cy="278892"/>
          </a:xfrm>
          <a:prstGeom prst="rect">
            <a:avLst/>
          </a:prstGeom>
          <a:solidFill>
            <a:srgbClr val="1F2A44"/>
          </a:solidFill>
          <a:ln w="5715">
            <a:solidFill>
              <a:srgbClr val="F7F8FA"/>
            </a:solidFill>
            <a:prstDash val="solid"/>
          </a:ln>
        </p:spPr>
      </p:sp>
      <p:sp>
        <p:nvSpPr>
          <p:cNvPr id="14" name="Text 12"/>
          <p:cNvSpPr/>
          <p:nvPr/>
        </p:nvSpPr>
        <p:spPr>
          <a:xfrm>
            <a:off x="7196328" y="1266444"/>
            <a:ext cx="128930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graph API</a:t>
            </a:r>
            <a:endParaRPr lang="en-US" sz="1100" dirty="0"/>
          </a:p>
        </p:txBody>
      </p:sp>
      <p:sp>
        <p:nvSpPr>
          <p:cNvPr id="15" name="Shape 13"/>
          <p:cNvSpPr/>
          <p:nvPr/>
        </p:nvSpPr>
        <p:spPr>
          <a:xfrm>
            <a:off x="8549640" y="1179576"/>
            <a:ext cx="1325880" cy="278892"/>
          </a:xfrm>
          <a:prstGeom prst="rect">
            <a:avLst/>
          </a:prstGeom>
          <a:solidFill>
            <a:srgbClr val="1F2A44"/>
          </a:solidFill>
          <a:ln w="5715">
            <a:solidFill>
              <a:srgbClr val="F7F8FA"/>
            </a:solidFill>
            <a:prstDash val="solid"/>
          </a:ln>
        </p:spPr>
      </p:sp>
      <p:sp>
        <p:nvSpPr>
          <p:cNvPr id="16" name="Text 14"/>
          <p:cNvSpPr/>
          <p:nvPr/>
        </p:nvSpPr>
        <p:spPr>
          <a:xfrm>
            <a:off x="8613648" y="1266444"/>
            <a:ext cx="119786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parent</a:t>
            </a:r>
            <a:endParaRPr lang="en-US" sz="1100" dirty="0"/>
          </a:p>
        </p:txBody>
      </p:sp>
      <p:sp>
        <p:nvSpPr>
          <p:cNvPr id="17" name="Shape 15"/>
          <p:cNvSpPr/>
          <p:nvPr/>
        </p:nvSpPr>
        <p:spPr>
          <a:xfrm>
            <a:off x="502920" y="1458468"/>
            <a:ext cx="1143000" cy="278892"/>
          </a:xfrm>
          <a:prstGeom prst="rect">
            <a:avLst/>
          </a:prstGeom>
          <a:solidFill>
            <a:srgbClr val="FFFFFF"/>
          </a:solidFill>
          <a:ln w="5715">
            <a:solidFill>
              <a:srgbClr val="F7F8FA"/>
            </a:solidFill>
            <a:prstDash val="solid"/>
          </a:ln>
        </p:spPr>
      </p:sp>
      <p:sp>
        <p:nvSpPr>
          <p:cNvPr id="18" name="Text 16"/>
          <p:cNvSpPr/>
          <p:nvPr/>
        </p:nvSpPr>
        <p:spPr>
          <a:xfrm>
            <a:off x="566928" y="154533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19" name="Shape 17"/>
          <p:cNvSpPr/>
          <p:nvPr/>
        </p:nvSpPr>
        <p:spPr>
          <a:xfrm>
            <a:off x="1645920" y="1458468"/>
            <a:ext cx="4251960" cy="278892"/>
          </a:xfrm>
          <a:prstGeom prst="rect">
            <a:avLst/>
          </a:prstGeom>
          <a:solidFill>
            <a:srgbClr val="FFFFFF"/>
          </a:solidFill>
          <a:ln w="5715">
            <a:solidFill>
              <a:srgbClr val="F7F8FA"/>
            </a:solidFill>
            <a:prstDash val="solid"/>
          </a:ln>
        </p:spPr>
      </p:sp>
      <p:sp>
        <p:nvSpPr>
          <p:cNvPr id="20" name="Text 18"/>
          <p:cNvSpPr/>
          <p:nvPr/>
        </p:nvSpPr>
        <p:spPr>
          <a:xfrm>
            <a:off x="1709928" y="154533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Optimizer construction</a:t>
            </a:r>
            <a:endParaRPr lang="en-US" sz="1100" dirty="0"/>
          </a:p>
        </p:txBody>
      </p:sp>
      <p:sp>
        <p:nvSpPr>
          <p:cNvPr id="21" name="Shape 19"/>
          <p:cNvSpPr/>
          <p:nvPr/>
        </p:nvSpPr>
        <p:spPr>
          <a:xfrm>
            <a:off x="5897880" y="1458468"/>
            <a:ext cx="1234440" cy="278892"/>
          </a:xfrm>
          <a:prstGeom prst="rect">
            <a:avLst/>
          </a:prstGeom>
          <a:solidFill>
            <a:srgbClr val="FFFFFF"/>
          </a:solidFill>
          <a:ln w="5715">
            <a:solidFill>
              <a:srgbClr val="F7F8FA"/>
            </a:solidFill>
            <a:prstDash val="solid"/>
          </a:ln>
        </p:spPr>
      </p:sp>
      <p:sp>
        <p:nvSpPr>
          <p:cNvPr id="22" name="Text 20"/>
          <p:cNvSpPr/>
          <p:nvPr/>
        </p:nvSpPr>
        <p:spPr>
          <a:xfrm>
            <a:off x="5961888" y="154533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36.203</a:t>
            </a:r>
            <a:endParaRPr lang="en-US" sz="1100" dirty="0"/>
          </a:p>
        </p:txBody>
      </p:sp>
      <p:sp>
        <p:nvSpPr>
          <p:cNvPr id="23" name="Shape 21"/>
          <p:cNvSpPr/>
          <p:nvPr/>
        </p:nvSpPr>
        <p:spPr>
          <a:xfrm>
            <a:off x="7132320" y="1458468"/>
            <a:ext cx="1417320" cy="278892"/>
          </a:xfrm>
          <a:prstGeom prst="rect">
            <a:avLst/>
          </a:prstGeom>
          <a:solidFill>
            <a:srgbClr val="FFFFFF"/>
          </a:solidFill>
          <a:ln w="5715">
            <a:solidFill>
              <a:srgbClr val="F7F8FA"/>
            </a:solidFill>
            <a:prstDash val="solid"/>
          </a:ln>
        </p:spPr>
      </p:sp>
      <p:sp>
        <p:nvSpPr>
          <p:cNvPr id="24" name="Text 22"/>
          <p:cNvSpPr/>
          <p:nvPr/>
        </p:nvSpPr>
        <p:spPr>
          <a:xfrm>
            <a:off x="7196328" y="154533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8.49%</a:t>
            </a:r>
            <a:endParaRPr lang="en-US" sz="1100" dirty="0"/>
          </a:p>
        </p:txBody>
      </p:sp>
      <p:sp>
        <p:nvSpPr>
          <p:cNvPr id="25" name="Shape 23"/>
          <p:cNvSpPr/>
          <p:nvPr/>
        </p:nvSpPr>
        <p:spPr>
          <a:xfrm>
            <a:off x="8549640" y="1458468"/>
            <a:ext cx="1325880" cy="278892"/>
          </a:xfrm>
          <a:prstGeom prst="rect">
            <a:avLst/>
          </a:prstGeom>
          <a:solidFill>
            <a:srgbClr val="FFFFFF"/>
          </a:solidFill>
          <a:ln w="5715">
            <a:solidFill>
              <a:srgbClr val="F7F8FA"/>
            </a:solidFill>
            <a:prstDash val="solid"/>
          </a:ln>
        </p:spPr>
      </p:sp>
      <p:sp>
        <p:nvSpPr>
          <p:cNvPr id="26" name="Text 24"/>
          <p:cNvSpPr/>
          <p:nvPr/>
        </p:nvSpPr>
        <p:spPr>
          <a:xfrm>
            <a:off x="8613648" y="154533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27" name="Shape 25"/>
          <p:cNvSpPr/>
          <p:nvPr/>
        </p:nvSpPr>
        <p:spPr>
          <a:xfrm>
            <a:off x="502920" y="1737360"/>
            <a:ext cx="1143000" cy="278892"/>
          </a:xfrm>
          <a:prstGeom prst="rect">
            <a:avLst/>
          </a:prstGeom>
          <a:solidFill>
            <a:srgbClr val="F0F4F7"/>
          </a:solidFill>
          <a:ln w="5715">
            <a:solidFill>
              <a:srgbClr val="F7F8FA"/>
            </a:solidFill>
            <a:prstDash val="solid"/>
          </a:ln>
        </p:spPr>
      </p:sp>
      <p:sp>
        <p:nvSpPr>
          <p:cNvPr id="28" name="Text 26"/>
          <p:cNvSpPr/>
          <p:nvPr/>
        </p:nvSpPr>
        <p:spPr>
          <a:xfrm>
            <a:off x="566928" y="182422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29" name="Shape 27"/>
          <p:cNvSpPr/>
          <p:nvPr/>
        </p:nvSpPr>
        <p:spPr>
          <a:xfrm>
            <a:off x="1645920" y="1737360"/>
            <a:ext cx="4251960" cy="278892"/>
          </a:xfrm>
          <a:prstGeom prst="rect">
            <a:avLst/>
          </a:prstGeom>
          <a:solidFill>
            <a:srgbClr val="F0F4F7"/>
          </a:solidFill>
          <a:ln w="5715">
            <a:solidFill>
              <a:srgbClr val="F7F8FA"/>
            </a:solidFill>
            <a:prstDash val="solid"/>
          </a:ln>
        </p:spPr>
      </p:sp>
      <p:sp>
        <p:nvSpPr>
          <p:cNvPr id="30" name="Text 28"/>
          <p:cNvSpPr/>
          <p:nvPr/>
        </p:nvSpPr>
        <p:spPr>
          <a:xfrm>
            <a:off x="1709928" y="182422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a:t>
            </a:r>
            <a:endParaRPr lang="en-US" sz="1100" dirty="0"/>
          </a:p>
        </p:txBody>
      </p:sp>
      <p:sp>
        <p:nvSpPr>
          <p:cNvPr id="31" name="Shape 29"/>
          <p:cNvSpPr/>
          <p:nvPr/>
        </p:nvSpPr>
        <p:spPr>
          <a:xfrm>
            <a:off x="5897880" y="1737360"/>
            <a:ext cx="1234440" cy="278892"/>
          </a:xfrm>
          <a:prstGeom prst="rect">
            <a:avLst/>
          </a:prstGeom>
          <a:solidFill>
            <a:srgbClr val="F0F4F7"/>
          </a:solidFill>
          <a:ln w="5715">
            <a:solidFill>
              <a:srgbClr val="F7F8FA"/>
            </a:solidFill>
            <a:prstDash val="solid"/>
          </a:ln>
        </p:spPr>
      </p:sp>
      <p:sp>
        <p:nvSpPr>
          <p:cNvPr id="32" name="Text 30"/>
          <p:cNvSpPr/>
          <p:nvPr/>
        </p:nvSpPr>
        <p:spPr>
          <a:xfrm>
            <a:off x="5961888" y="182422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376.192</a:t>
            </a:r>
            <a:endParaRPr lang="en-US" sz="1100" dirty="0"/>
          </a:p>
        </p:txBody>
      </p:sp>
      <p:sp>
        <p:nvSpPr>
          <p:cNvPr id="33" name="Shape 31"/>
          <p:cNvSpPr/>
          <p:nvPr/>
        </p:nvSpPr>
        <p:spPr>
          <a:xfrm>
            <a:off x="7132320" y="1737360"/>
            <a:ext cx="1417320" cy="278892"/>
          </a:xfrm>
          <a:prstGeom prst="rect">
            <a:avLst/>
          </a:prstGeom>
          <a:solidFill>
            <a:srgbClr val="F0F4F7"/>
          </a:solidFill>
          <a:ln w="5715">
            <a:solidFill>
              <a:srgbClr val="F7F8FA"/>
            </a:solidFill>
            <a:prstDash val="solid"/>
          </a:ln>
        </p:spPr>
      </p:sp>
      <p:sp>
        <p:nvSpPr>
          <p:cNvPr id="34" name="Text 32"/>
          <p:cNvSpPr/>
          <p:nvPr/>
        </p:nvSpPr>
        <p:spPr>
          <a:xfrm>
            <a:off x="7196328" y="182422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88.26%</a:t>
            </a:r>
            <a:endParaRPr lang="en-US" sz="1100" dirty="0"/>
          </a:p>
        </p:txBody>
      </p:sp>
      <p:sp>
        <p:nvSpPr>
          <p:cNvPr id="35" name="Shape 33"/>
          <p:cNvSpPr/>
          <p:nvPr/>
        </p:nvSpPr>
        <p:spPr>
          <a:xfrm>
            <a:off x="8549640" y="1737360"/>
            <a:ext cx="1325880" cy="278892"/>
          </a:xfrm>
          <a:prstGeom prst="rect">
            <a:avLst/>
          </a:prstGeom>
          <a:solidFill>
            <a:srgbClr val="F0F4F7"/>
          </a:solidFill>
          <a:ln w="5715">
            <a:solidFill>
              <a:srgbClr val="F7F8FA"/>
            </a:solidFill>
            <a:prstDash val="solid"/>
          </a:ln>
        </p:spPr>
      </p:sp>
      <p:sp>
        <p:nvSpPr>
          <p:cNvPr id="36" name="Text 34"/>
          <p:cNvSpPr/>
          <p:nvPr/>
        </p:nvSpPr>
        <p:spPr>
          <a:xfrm>
            <a:off x="8613648" y="182422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37" name="Shape 35"/>
          <p:cNvSpPr/>
          <p:nvPr/>
        </p:nvSpPr>
        <p:spPr>
          <a:xfrm>
            <a:off x="502920" y="2016252"/>
            <a:ext cx="1143000" cy="278892"/>
          </a:xfrm>
          <a:prstGeom prst="rect">
            <a:avLst/>
          </a:prstGeom>
          <a:solidFill>
            <a:srgbClr val="FFFFFF"/>
          </a:solidFill>
          <a:ln w="5715">
            <a:solidFill>
              <a:srgbClr val="F7F8FA"/>
            </a:solidFill>
            <a:prstDash val="solid"/>
          </a:ln>
        </p:spPr>
      </p:sp>
      <p:sp>
        <p:nvSpPr>
          <p:cNvPr id="38" name="Text 36"/>
          <p:cNvSpPr/>
          <p:nvPr/>
        </p:nvSpPr>
        <p:spPr>
          <a:xfrm>
            <a:off x="566928" y="210312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39" name="Shape 37"/>
          <p:cNvSpPr/>
          <p:nvPr/>
        </p:nvSpPr>
        <p:spPr>
          <a:xfrm>
            <a:off x="1645920" y="2016252"/>
            <a:ext cx="4251960" cy="278892"/>
          </a:xfrm>
          <a:prstGeom prst="rect">
            <a:avLst/>
          </a:prstGeom>
          <a:solidFill>
            <a:srgbClr val="FFFFFF"/>
          </a:solidFill>
          <a:ln w="5715">
            <a:solidFill>
              <a:srgbClr val="F7F8FA"/>
            </a:solidFill>
            <a:prstDash val="solid"/>
          </a:ln>
        </p:spPr>
      </p:sp>
      <p:sp>
        <p:nvSpPr>
          <p:cNvPr id="40" name="Text 38"/>
          <p:cNvSpPr/>
          <p:nvPr/>
        </p:nvSpPr>
        <p:spPr>
          <a:xfrm>
            <a:off x="1709928" y="210312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Result/error queries</a:t>
            </a:r>
            <a:endParaRPr lang="en-US" sz="1100" dirty="0"/>
          </a:p>
        </p:txBody>
      </p:sp>
      <p:sp>
        <p:nvSpPr>
          <p:cNvPr id="41" name="Shape 39"/>
          <p:cNvSpPr/>
          <p:nvPr/>
        </p:nvSpPr>
        <p:spPr>
          <a:xfrm>
            <a:off x="5897880" y="2016252"/>
            <a:ext cx="1234440" cy="278892"/>
          </a:xfrm>
          <a:prstGeom prst="rect">
            <a:avLst/>
          </a:prstGeom>
          <a:solidFill>
            <a:srgbClr val="FFFFFF"/>
          </a:solidFill>
          <a:ln w="5715">
            <a:solidFill>
              <a:srgbClr val="F7F8FA"/>
            </a:solidFill>
            <a:prstDash val="solid"/>
          </a:ln>
        </p:spPr>
      </p:sp>
      <p:sp>
        <p:nvSpPr>
          <p:cNvPr id="42" name="Text 40"/>
          <p:cNvSpPr/>
          <p:nvPr/>
        </p:nvSpPr>
        <p:spPr>
          <a:xfrm>
            <a:off x="5961888" y="210312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13.828</a:t>
            </a:r>
            <a:endParaRPr lang="en-US" sz="1100" dirty="0"/>
          </a:p>
        </p:txBody>
      </p:sp>
      <p:sp>
        <p:nvSpPr>
          <p:cNvPr id="43" name="Shape 41"/>
          <p:cNvSpPr/>
          <p:nvPr/>
        </p:nvSpPr>
        <p:spPr>
          <a:xfrm>
            <a:off x="7132320" y="2016252"/>
            <a:ext cx="1417320" cy="278892"/>
          </a:xfrm>
          <a:prstGeom prst="rect">
            <a:avLst/>
          </a:prstGeom>
          <a:solidFill>
            <a:srgbClr val="FFFFFF"/>
          </a:solidFill>
          <a:ln w="5715">
            <a:solidFill>
              <a:srgbClr val="F7F8FA"/>
            </a:solidFill>
            <a:prstDash val="solid"/>
          </a:ln>
        </p:spPr>
      </p:sp>
      <p:sp>
        <p:nvSpPr>
          <p:cNvPr id="44" name="Text 42"/>
          <p:cNvSpPr/>
          <p:nvPr/>
        </p:nvSpPr>
        <p:spPr>
          <a:xfrm>
            <a:off x="7196328" y="210312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3.24%</a:t>
            </a:r>
            <a:endParaRPr lang="en-US" sz="1100" dirty="0"/>
          </a:p>
        </p:txBody>
      </p:sp>
      <p:sp>
        <p:nvSpPr>
          <p:cNvPr id="45" name="Shape 43"/>
          <p:cNvSpPr/>
          <p:nvPr/>
        </p:nvSpPr>
        <p:spPr>
          <a:xfrm>
            <a:off x="8549640" y="2016252"/>
            <a:ext cx="1325880" cy="278892"/>
          </a:xfrm>
          <a:prstGeom prst="rect">
            <a:avLst/>
          </a:prstGeom>
          <a:solidFill>
            <a:srgbClr val="FFFFFF"/>
          </a:solidFill>
          <a:ln w="5715">
            <a:solidFill>
              <a:srgbClr val="F7F8FA"/>
            </a:solidFill>
            <a:prstDash val="solid"/>
          </a:ln>
        </p:spPr>
      </p:sp>
      <p:sp>
        <p:nvSpPr>
          <p:cNvPr id="46" name="Text 44"/>
          <p:cNvSpPr/>
          <p:nvPr/>
        </p:nvSpPr>
        <p:spPr>
          <a:xfrm>
            <a:off x="8613648" y="210312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47" name="Shape 45"/>
          <p:cNvSpPr/>
          <p:nvPr/>
        </p:nvSpPr>
        <p:spPr>
          <a:xfrm>
            <a:off x="502920" y="2295144"/>
            <a:ext cx="1143000" cy="278892"/>
          </a:xfrm>
          <a:prstGeom prst="rect">
            <a:avLst/>
          </a:prstGeom>
          <a:solidFill>
            <a:srgbClr val="F0F4F7"/>
          </a:solidFill>
          <a:ln w="5715">
            <a:solidFill>
              <a:srgbClr val="F7F8FA"/>
            </a:solidFill>
            <a:prstDash val="solid"/>
          </a:ln>
        </p:spPr>
      </p:sp>
      <p:sp>
        <p:nvSpPr>
          <p:cNvPr id="48" name="Text 46"/>
          <p:cNvSpPr/>
          <p:nvPr/>
        </p:nvSpPr>
        <p:spPr>
          <a:xfrm>
            <a:off x="566928" y="238201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49" name="Shape 47"/>
          <p:cNvSpPr/>
          <p:nvPr/>
        </p:nvSpPr>
        <p:spPr>
          <a:xfrm>
            <a:off x="1645920" y="2295144"/>
            <a:ext cx="4251960" cy="278892"/>
          </a:xfrm>
          <a:prstGeom prst="rect">
            <a:avLst/>
          </a:prstGeom>
          <a:solidFill>
            <a:srgbClr val="F0F4F7"/>
          </a:solidFill>
          <a:ln w="5715">
            <a:solidFill>
              <a:srgbClr val="F7F8FA"/>
            </a:solidFill>
            <a:prstDash val="solid"/>
          </a:ln>
        </p:spPr>
      </p:sp>
      <p:sp>
        <p:nvSpPr>
          <p:cNvPr id="50" name="Text 48"/>
          <p:cNvSpPr/>
          <p:nvPr/>
        </p:nvSpPr>
        <p:spPr>
          <a:xfrm>
            <a:off x="1709928" y="238201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Graph conversion</a:t>
            </a:r>
            <a:endParaRPr lang="en-US" sz="1100" dirty="0"/>
          </a:p>
        </p:txBody>
      </p:sp>
      <p:sp>
        <p:nvSpPr>
          <p:cNvPr id="51" name="Shape 49"/>
          <p:cNvSpPr/>
          <p:nvPr/>
        </p:nvSpPr>
        <p:spPr>
          <a:xfrm>
            <a:off x="5897880" y="2295144"/>
            <a:ext cx="1234440" cy="278892"/>
          </a:xfrm>
          <a:prstGeom prst="rect">
            <a:avLst/>
          </a:prstGeom>
          <a:solidFill>
            <a:srgbClr val="F0F4F7"/>
          </a:solidFill>
          <a:ln w="5715">
            <a:solidFill>
              <a:srgbClr val="F7F8FA"/>
            </a:solidFill>
            <a:prstDash val="solid"/>
          </a:ln>
        </p:spPr>
      </p:sp>
      <p:sp>
        <p:nvSpPr>
          <p:cNvPr id="52" name="Text 50"/>
          <p:cNvSpPr/>
          <p:nvPr/>
        </p:nvSpPr>
        <p:spPr>
          <a:xfrm>
            <a:off x="5961888" y="238201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114.246</a:t>
            </a:r>
            <a:endParaRPr lang="en-US" sz="1100" dirty="0"/>
          </a:p>
        </p:txBody>
      </p:sp>
      <p:sp>
        <p:nvSpPr>
          <p:cNvPr id="53" name="Shape 51"/>
          <p:cNvSpPr/>
          <p:nvPr/>
        </p:nvSpPr>
        <p:spPr>
          <a:xfrm>
            <a:off x="7132320" y="2295144"/>
            <a:ext cx="1417320" cy="278892"/>
          </a:xfrm>
          <a:prstGeom prst="rect">
            <a:avLst/>
          </a:prstGeom>
          <a:solidFill>
            <a:srgbClr val="F0F4F7"/>
          </a:solidFill>
          <a:ln w="5715">
            <a:solidFill>
              <a:srgbClr val="F7F8FA"/>
            </a:solidFill>
            <a:prstDash val="solid"/>
          </a:ln>
        </p:spPr>
      </p:sp>
      <p:sp>
        <p:nvSpPr>
          <p:cNvPr id="54" name="Text 52"/>
          <p:cNvSpPr/>
          <p:nvPr/>
        </p:nvSpPr>
        <p:spPr>
          <a:xfrm>
            <a:off x="7196328" y="238201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26.80%</a:t>
            </a:r>
            <a:endParaRPr lang="en-US" sz="1100" dirty="0"/>
          </a:p>
        </p:txBody>
      </p:sp>
      <p:sp>
        <p:nvSpPr>
          <p:cNvPr id="55" name="Shape 53"/>
          <p:cNvSpPr/>
          <p:nvPr/>
        </p:nvSpPr>
        <p:spPr>
          <a:xfrm>
            <a:off x="8549640" y="2295144"/>
            <a:ext cx="1325880" cy="278892"/>
          </a:xfrm>
          <a:prstGeom prst="rect">
            <a:avLst/>
          </a:prstGeom>
          <a:solidFill>
            <a:srgbClr val="F0F4F7"/>
          </a:solidFill>
          <a:ln w="5715">
            <a:solidFill>
              <a:srgbClr val="F7F8FA"/>
            </a:solidFill>
            <a:prstDash val="solid"/>
          </a:ln>
        </p:spPr>
      </p:sp>
      <p:sp>
        <p:nvSpPr>
          <p:cNvPr id="56" name="Text 54"/>
          <p:cNvSpPr/>
          <p:nvPr/>
        </p:nvSpPr>
        <p:spPr>
          <a:xfrm>
            <a:off x="8613648" y="238201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30.37%</a:t>
            </a:r>
            <a:endParaRPr lang="en-US" sz="1100" dirty="0"/>
          </a:p>
        </p:txBody>
      </p:sp>
      <p:sp>
        <p:nvSpPr>
          <p:cNvPr id="57" name="Shape 55"/>
          <p:cNvSpPr/>
          <p:nvPr/>
        </p:nvSpPr>
        <p:spPr>
          <a:xfrm>
            <a:off x="502920" y="2574036"/>
            <a:ext cx="1143000" cy="278892"/>
          </a:xfrm>
          <a:prstGeom prst="rect">
            <a:avLst/>
          </a:prstGeom>
          <a:solidFill>
            <a:srgbClr val="FFFFFF"/>
          </a:solidFill>
          <a:ln w="5715">
            <a:solidFill>
              <a:srgbClr val="F7F8FA"/>
            </a:solidFill>
            <a:prstDash val="solid"/>
          </a:ln>
        </p:spPr>
      </p:sp>
      <p:sp>
        <p:nvSpPr>
          <p:cNvPr id="58" name="Text 56"/>
          <p:cNvSpPr/>
          <p:nvPr/>
        </p:nvSpPr>
        <p:spPr>
          <a:xfrm>
            <a:off x="566928" y="266090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59" name="Shape 57"/>
          <p:cNvSpPr/>
          <p:nvPr/>
        </p:nvSpPr>
        <p:spPr>
          <a:xfrm>
            <a:off x="1645920" y="2574036"/>
            <a:ext cx="4251960" cy="278892"/>
          </a:xfrm>
          <a:prstGeom prst="rect">
            <a:avLst/>
          </a:prstGeom>
          <a:solidFill>
            <a:srgbClr val="FFFFFF"/>
          </a:solidFill>
          <a:ln w="5715">
            <a:solidFill>
              <a:srgbClr val="F7F8FA"/>
            </a:solidFill>
            <a:prstDash val="solid"/>
          </a:ln>
        </p:spPr>
      </p:sp>
      <p:sp>
        <p:nvSpPr>
          <p:cNvPr id="60" name="Text 58"/>
          <p:cNvSpPr/>
          <p:nvPr/>
        </p:nvSpPr>
        <p:spPr>
          <a:xfrm>
            <a:off x="1709928" y="266090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CUDA backend</a:t>
            </a:r>
            <a:endParaRPr lang="en-US" sz="1100" dirty="0"/>
          </a:p>
        </p:txBody>
      </p:sp>
      <p:sp>
        <p:nvSpPr>
          <p:cNvPr id="61" name="Shape 59"/>
          <p:cNvSpPr/>
          <p:nvPr/>
        </p:nvSpPr>
        <p:spPr>
          <a:xfrm>
            <a:off x="5897880" y="2574036"/>
            <a:ext cx="1234440" cy="278892"/>
          </a:xfrm>
          <a:prstGeom prst="rect">
            <a:avLst/>
          </a:prstGeom>
          <a:solidFill>
            <a:srgbClr val="FFFFFF"/>
          </a:solidFill>
          <a:ln w="5715">
            <a:solidFill>
              <a:srgbClr val="F7F8FA"/>
            </a:solidFill>
            <a:prstDash val="solid"/>
          </a:ln>
        </p:spPr>
      </p:sp>
      <p:sp>
        <p:nvSpPr>
          <p:cNvPr id="62" name="Text 60"/>
          <p:cNvSpPr/>
          <p:nvPr/>
        </p:nvSpPr>
        <p:spPr>
          <a:xfrm>
            <a:off x="5961888" y="266090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137.542</a:t>
            </a:r>
            <a:endParaRPr lang="en-US" sz="1100" dirty="0"/>
          </a:p>
        </p:txBody>
      </p:sp>
      <p:sp>
        <p:nvSpPr>
          <p:cNvPr id="63" name="Shape 61"/>
          <p:cNvSpPr/>
          <p:nvPr/>
        </p:nvSpPr>
        <p:spPr>
          <a:xfrm>
            <a:off x="7132320" y="2574036"/>
            <a:ext cx="1417320" cy="278892"/>
          </a:xfrm>
          <a:prstGeom prst="rect">
            <a:avLst/>
          </a:prstGeom>
          <a:solidFill>
            <a:srgbClr val="FFFFFF"/>
          </a:solidFill>
          <a:ln w="5715">
            <a:solidFill>
              <a:srgbClr val="F7F8FA"/>
            </a:solidFill>
            <a:prstDash val="solid"/>
          </a:ln>
        </p:spPr>
      </p:sp>
      <p:sp>
        <p:nvSpPr>
          <p:cNvPr id="64" name="Text 62"/>
          <p:cNvSpPr/>
          <p:nvPr/>
        </p:nvSpPr>
        <p:spPr>
          <a:xfrm>
            <a:off x="7196328" y="266090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32.27%</a:t>
            </a:r>
            <a:endParaRPr lang="en-US" sz="1100" dirty="0"/>
          </a:p>
        </p:txBody>
      </p:sp>
      <p:sp>
        <p:nvSpPr>
          <p:cNvPr id="65" name="Shape 63"/>
          <p:cNvSpPr/>
          <p:nvPr/>
        </p:nvSpPr>
        <p:spPr>
          <a:xfrm>
            <a:off x="8549640" y="2574036"/>
            <a:ext cx="1325880" cy="278892"/>
          </a:xfrm>
          <a:prstGeom prst="rect">
            <a:avLst/>
          </a:prstGeom>
          <a:solidFill>
            <a:srgbClr val="FFFFFF"/>
          </a:solidFill>
          <a:ln w="5715">
            <a:solidFill>
              <a:srgbClr val="F7F8FA"/>
            </a:solidFill>
            <a:prstDash val="solid"/>
          </a:ln>
        </p:spPr>
      </p:sp>
      <p:sp>
        <p:nvSpPr>
          <p:cNvPr id="66" name="Text 64"/>
          <p:cNvSpPr/>
          <p:nvPr/>
        </p:nvSpPr>
        <p:spPr>
          <a:xfrm>
            <a:off x="8613648" y="266090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36.56%</a:t>
            </a:r>
            <a:endParaRPr lang="en-US" sz="1100" dirty="0"/>
          </a:p>
        </p:txBody>
      </p:sp>
      <p:sp>
        <p:nvSpPr>
          <p:cNvPr id="67" name="Shape 65"/>
          <p:cNvSpPr/>
          <p:nvPr/>
        </p:nvSpPr>
        <p:spPr>
          <a:xfrm>
            <a:off x="502920" y="2852928"/>
            <a:ext cx="1143000" cy="278892"/>
          </a:xfrm>
          <a:prstGeom prst="rect">
            <a:avLst/>
          </a:prstGeom>
          <a:solidFill>
            <a:srgbClr val="F0F4F7"/>
          </a:solidFill>
          <a:ln w="5715">
            <a:solidFill>
              <a:srgbClr val="F7F8FA"/>
            </a:solidFill>
            <a:prstDash val="solid"/>
          </a:ln>
        </p:spPr>
      </p:sp>
      <p:sp>
        <p:nvSpPr>
          <p:cNvPr id="68" name="Text 66"/>
          <p:cNvSpPr/>
          <p:nvPr/>
        </p:nvSpPr>
        <p:spPr>
          <a:xfrm>
            <a:off x="566928" y="293979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69" name="Shape 67"/>
          <p:cNvSpPr/>
          <p:nvPr/>
        </p:nvSpPr>
        <p:spPr>
          <a:xfrm>
            <a:off x="1645920" y="2852928"/>
            <a:ext cx="4251960" cy="278892"/>
          </a:xfrm>
          <a:prstGeom prst="rect">
            <a:avLst/>
          </a:prstGeom>
          <a:solidFill>
            <a:srgbClr val="F0F4F7"/>
          </a:solidFill>
          <a:ln w="5715">
            <a:solidFill>
              <a:srgbClr val="F7F8FA"/>
            </a:solidFill>
            <a:prstDash val="solid"/>
          </a:ln>
        </p:spPr>
      </p:sp>
      <p:sp>
        <p:nvSpPr>
          <p:cNvPr id="70" name="Text 68"/>
          <p:cNvSpPr/>
          <p:nvPr/>
        </p:nvSpPr>
        <p:spPr>
          <a:xfrm>
            <a:off x="1709928" y="293979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Backend return / assignment</a:t>
            </a:r>
            <a:endParaRPr lang="en-US" sz="1100" dirty="0"/>
          </a:p>
        </p:txBody>
      </p:sp>
      <p:sp>
        <p:nvSpPr>
          <p:cNvPr id="71" name="Shape 69"/>
          <p:cNvSpPr/>
          <p:nvPr/>
        </p:nvSpPr>
        <p:spPr>
          <a:xfrm>
            <a:off x="5897880" y="2852928"/>
            <a:ext cx="1234440" cy="278892"/>
          </a:xfrm>
          <a:prstGeom prst="rect">
            <a:avLst/>
          </a:prstGeom>
          <a:solidFill>
            <a:srgbClr val="F0F4F7"/>
          </a:solidFill>
          <a:ln w="5715">
            <a:solidFill>
              <a:srgbClr val="F7F8FA"/>
            </a:solidFill>
            <a:prstDash val="solid"/>
          </a:ln>
        </p:spPr>
      </p:sp>
      <p:sp>
        <p:nvSpPr>
          <p:cNvPr id="72" name="Text 70"/>
          <p:cNvSpPr/>
          <p:nvPr/>
        </p:nvSpPr>
        <p:spPr>
          <a:xfrm>
            <a:off x="5961888" y="293979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26.685</a:t>
            </a:r>
            <a:endParaRPr lang="en-US" sz="1100" dirty="0"/>
          </a:p>
        </p:txBody>
      </p:sp>
      <p:sp>
        <p:nvSpPr>
          <p:cNvPr id="73" name="Shape 71"/>
          <p:cNvSpPr/>
          <p:nvPr/>
        </p:nvSpPr>
        <p:spPr>
          <a:xfrm>
            <a:off x="7132320" y="2852928"/>
            <a:ext cx="1417320" cy="278892"/>
          </a:xfrm>
          <a:prstGeom prst="rect">
            <a:avLst/>
          </a:prstGeom>
          <a:solidFill>
            <a:srgbClr val="F0F4F7"/>
          </a:solidFill>
          <a:ln w="5715">
            <a:solidFill>
              <a:srgbClr val="F7F8FA"/>
            </a:solidFill>
            <a:prstDash val="solid"/>
          </a:ln>
        </p:spPr>
      </p:sp>
      <p:sp>
        <p:nvSpPr>
          <p:cNvPr id="74" name="Text 72"/>
          <p:cNvSpPr/>
          <p:nvPr/>
        </p:nvSpPr>
        <p:spPr>
          <a:xfrm>
            <a:off x="7196328" y="293979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6.26%</a:t>
            </a:r>
            <a:endParaRPr lang="en-US" sz="1100" dirty="0"/>
          </a:p>
        </p:txBody>
      </p:sp>
      <p:sp>
        <p:nvSpPr>
          <p:cNvPr id="75" name="Shape 73"/>
          <p:cNvSpPr/>
          <p:nvPr/>
        </p:nvSpPr>
        <p:spPr>
          <a:xfrm>
            <a:off x="8549640" y="2852928"/>
            <a:ext cx="1325880" cy="278892"/>
          </a:xfrm>
          <a:prstGeom prst="rect">
            <a:avLst/>
          </a:prstGeom>
          <a:solidFill>
            <a:srgbClr val="F0F4F7"/>
          </a:solidFill>
          <a:ln w="5715">
            <a:solidFill>
              <a:srgbClr val="F7F8FA"/>
            </a:solidFill>
            <a:prstDash val="solid"/>
          </a:ln>
        </p:spPr>
      </p:sp>
      <p:sp>
        <p:nvSpPr>
          <p:cNvPr id="76" name="Text 74"/>
          <p:cNvSpPr/>
          <p:nvPr/>
        </p:nvSpPr>
        <p:spPr>
          <a:xfrm>
            <a:off x="8613648" y="293979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7.09%</a:t>
            </a:r>
            <a:endParaRPr lang="en-US" sz="1100" dirty="0"/>
          </a:p>
        </p:txBody>
      </p:sp>
      <p:sp>
        <p:nvSpPr>
          <p:cNvPr id="77" name="Shape 75"/>
          <p:cNvSpPr/>
          <p:nvPr/>
        </p:nvSpPr>
        <p:spPr>
          <a:xfrm>
            <a:off x="502920" y="3131820"/>
            <a:ext cx="1143000" cy="278892"/>
          </a:xfrm>
          <a:prstGeom prst="rect">
            <a:avLst/>
          </a:prstGeom>
          <a:solidFill>
            <a:srgbClr val="FFFFFF"/>
          </a:solidFill>
          <a:ln w="5715">
            <a:solidFill>
              <a:srgbClr val="F7F8FA"/>
            </a:solidFill>
            <a:prstDash val="solid"/>
          </a:ln>
        </p:spPr>
      </p:sp>
      <p:sp>
        <p:nvSpPr>
          <p:cNvPr id="78" name="Text 76"/>
          <p:cNvSpPr/>
          <p:nvPr/>
        </p:nvSpPr>
        <p:spPr>
          <a:xfrm>
            <a:off x="566928" y="321868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79" name="Shape 77"/>
          <p:cNvSpPr/>
          <p:nvPr/>
        </p:nvSpPr>
        <p:spPr>
          <a:xfrm>
            <a:off x="1645920" y="3131820"/>
            <a:ext cx="4251960" cy="278892"/>
          </a:xfrm>
          <a:prstGeom prst="rect">
            <a:avLst/>
          </a:prstGeom>
          <a:solidFill>
            <a:srgbClr val="FFFFFF"/>
          </a:solidFill>
          <a:ln w="5715">
            <a:solidFill>
              <a:srgbClr val="F7F8FA"/>
            </a:solidFill>
            <a:prstDash val="solid"/>
          </a:ln>
        </p:spPr>
      </p:sp>
      <p:sp>
        <p:nvSpPr>
          <p:cNvPr id="80" name="Text 78"/>
          <p:cNvSpPr/>
          <p:nvPr/>
        </p:nvSpPr>
        <p:spPr>
          <a:xfrm>
            <a:off x="1709928" y="321868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Values merge / state update</a:t>
            </a:r>
            <a:endParaRPr lang="en-US" sz="1100" dirty="0"/>
          </a:p>
        </p:txBody>
      </p:sp>
      <p:sp>
        <p:nvSpPr>
          <p:cNvPr id="81" name="Shape 79"/>
          <p:cNvSpPr/>
          <p:nvPr/>
        </p:nvSpPr>
        <p:spPr>
          <a:xfrm>
            <a:off x="5897880" y="3131820"/>
            <a:ext cx="1234440" cy="278892"/>
          </a:xfrm>
          <a:prstGeom prst="rect">
            <a:avLst/>
          </a:prstGeom>
          <a:solidFill>
            <a:srgbClr val="FFFFFF"/>
          </a:solidFill>
          <a:ln w="5715">
            <a:solidFill>
              <a:srgbClr val="F7F8FA"/>
            </a:solidFill>
            <a:prstDash val="solid"/>
          </a:ln>
        </p:spPr>
      </p:sp>
      <p:sp>
        <p:nvSpPr>
          <p:cNvPr id="82" name="Text 80"/>
          <p:cNvSpPr/>
          <p:nvPr/>
        </p:nvSpPr>
        <p:spPr>
          <a:xfrm>
            <a:off x="5961888" y="321868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67.464</a:t>
            </a:r>
            <a:endParaRPr lang="en-US" sz="1100" dirty="0"/>
          </a:p>
        </p:txBody>
      </p:sp>
      <p:sp>
        <p:nvSpPr>
          <p:cNvPr id="83" name="Shape 81"/>
          <p:cNvSpPr/>
          <p:nvPr/>
        </p:nvSpPr>
        <p:spPr>
          <a:xfrm>
            <a:off x="7132320" y="3131820"/>
            <a:ext cx="1417320" cy="278892"/>
          </a:xfrm>
          <a:prstGeom prst="rect">
            <a:avLst/>
          </a:prstGeom>
          <a:solidFill>
            <a:srgbClr val="FFFFFF"/>
          </a:solidFill>
          <a:ln w="5715">
            <a:solidFill>
              <a:srgbClr val="F7F8FA"/>
            </a:solidFill>
            <a:prstDash val="solid"/>
          </a:ln>
        </p:spPr>
      </p:sp>
      <p:sp>
        <p:nvSpPr>
          <p:cNvPr id="84" name="Text 82"/>
          <p:cNvSpPr/>
          <p:nvPr/>
        </p:nvSpPr>
        <p:spPr>
          <a:xfrm>
            <a:off x="7196328" y="321868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15.83%</a:t>
            </a:r>
            <a:endParaRPr lang="en-US" sz="1100" dirty="0"/>
          </a:p>
        </p:txBody>
      </p:sp>
      <p:sp>
        <p:nvSpPr>
          <p:cNvPr id="85" name="Shape 83"/>
          <p:cNvSpPr/>
          <p:nvPr/>
        </p:nvSpPr>
        <p:spPr>
          <a:xfrm>
            <a:off x="8549640" y="3131820"/>
            <a:ext cx="1325880" cy="278892"/>
          </a:xfrm>
          <a:prstGeom prst="rect">
            <a:avLst/>
          </a:prstGeom>
          <a:solidFill>
            <a:srgbClr val="FFFFFF"/>
          </a:solidFill>
          <a:ln w="5715">
            <a:solidFill>
              <a:srgbClr val="F7F8FA"/>
            </a:solidFill>
            <a:prstDash val="solid"/>
          </a:ln>
        </p:spPr>
      </p:sp>
      <p:sp>
        <p:nvSpPr>
          <p:cNvPr id="86" name="Text 84"/>
          <p:cNvSpPr/>
          <p:nvPr/>
        </p:nvSpPr>
        <p:spPr>
          <a:xfrm>
            <a:off x="8613648" y="321868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17.93%</a:t>
            </a:r>
            <a:endParaRPr lang="en-US" sz="1100" dirty="0"/>
          </a:p>
        </p:txBody>
      </p:sp>
      <p:sp>
        <p:nvSpPr>
          <p:cNvPr id="87" name="Shape 85"/>
          <p:cNvSpPr/>
          <p:nvPr/>
        </p:nvSpPr>
        <p:spPr>
          <a:xfrm>
            <a:off x="502920" y="3410712"/>
            <a:ext cx="1143000" cy="278892"/>
          </a:xfrm>
          <a:prstGeom prst="rect">
            <a:avLst/>
          </a:prstGeom>
          <a:solidFill>
            <a:srgbClr val="F0F4F7"/>
          </a:solidFill>
          <a:ln w="5715">
            <a:solidFill>
              <a:srgbClr val="F7F8FA"/>
            </a:solidFill>
            <a:prstDash val="solid"/>
          </a:ln>
        </p:spPr>
      </p:sp>
      <p:sp>
        <p:nvSpPr>
          <p:cNvPr id="88" name="Text 86"/>
          <p:cNvSpPr/>
          <p:nvPr/>
        </p:nvSpPr>
        <p:spPr>
          <a:xfrm>
            <a:off x="566928" y="349758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89" name="Shape 87"/>
          <p:cNvSpPr/>
          <p:nvPr/>
        </p:nvSpPr>
        <p:spPr>
          <a:xfrm>
            <a:off x="1645920" y="3410712"/>
            <a:ext cx="4251960" cy="278892"/>
          </a:xfrm>
          <a:prstGeom prst="rect">
            <a:avLst/>
          </a:prstGeom>
          <a:solidFill>
            <a:srgbClr val="F0F4F7"/>
          </a:solidFill>
          <a:ln w="5715">
            <a:solidFill>
              <a:srgbClr val="F7F8FA"/>
            </a:solidFill>
            <a:prstDash val="solid"/>
          </a:ln>
        </p:spPr>
      </p:sp>
      <p:sp>
        <p:nvSpPr>
          <p:cNvPr id="90" name="Text 88"/>
          <p:cNvSpPr/>
          <p:nvPr/>
        </p:nvSpPr>
        <p:spPr>
          <a:xfrm>
            <a:off x="1709928" y="349758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Converted-data destruction</a:t>
            </a:r>
            <a:endParaRPr lang="en-US" sz="1100" dirty="0"/>
          </a:p>
        </p:txBody>
      </p:sp>
      <p:sp>
        <p:nvSpPr>
          <p:cNvPr id="91" name="Shape 89"/>
          <p:cNvSpPr/>
          <p:nvPr/>
        </p:nvSpPr>
        <p:spPr>
          <a:xfrm>
            <a:off x="5897880" y="3410712"/>
            <a:ext cx="1234440" cy="278892"/>
          </a:xfrm>
          <a:prstGeom prst="rect">
            <a:avLst/>
          </a:prstGeom>
          <a:solidFill>
            <a:srgbClr val="F0F4F7"/>
          </a:solidFill>
          <a:ln w="5715">
            <a:solidFill>
              <a:srgbClr val="F7F8FA"/>
            </a:solidFill>
            <a:prstDash val="solid"/>
          </a:ln>
        </p:spPr>
      </p:sp>
      <p:sp>
        <p:nvSpPr>
          <p:cNvPr id="92" name="Text 90"/>
          <p:cNvSpPr/>
          <p:nvPr/>
        </p:nvSpPr>
        <p:spPr>
          <a:xfrm>
            <a:off x="5961888" y="349758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30.247</a:t>
            </a:r>
            <a:endParaRPr lang="en-US" sz="1100" dirty="0"/>
          </a:p>
        </p:txBody>
      </p:sp>
      <p:sp>
        <p:nvSpPr>
          <p:cNvPr id="93" name="Shape 91"/>
          <p:cNvSpPr/>
          <p:nvPr/>
        </p:nvSpPr>
        <p:spPr>
          <a:xfrm>
            <a:off x="7132320" y="3410712"/>
            <a:ext cx="1417320" cy="278892"/>
          </a:xfrm>
          <a:prstGeom prst="rect">
            <a:avLst/>
          </a:prstGeom>
          <a:solidFill>
            <a:srgbClr val="F0F4F7"/>
          </a:solidFill>
          <a:ln w="5715">
            <a:solidFill>
              <a:srgbClr val="F7F8FA"/>
            </a:solidFill>
            <a:prstDash val="solid"/>
          </a:ln>
        </p:spPr>
      </p:sp>
      <p:sp>
        <p:nvSpPr>
          <p:cNvPr id="94" name="Text 92"/>
          <p:cNvSpPr/>
          <p:nvPr/>
        </p:nvSpPr>
        <p:spPr>
          <a:xfrm>
            <a:off x="7196328" y="349758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7.10%</a:t>
            </a:r>
            <a:endParaRPr lang="en-US" sz="1100" dirty="0"/>
          </a:p>
        </p:txBody>
      </p:sp>
      <p:sp>
        <p:nvSpPr>
          <p:cNvPr id="95" name="Shape 93"/>
          <p:cNvSpPr/>
          <p:nvPr/>
        </p:nvSpPr>
        <p:spPr>
          <a:xfrm>
            <a:off x="8549640" y="3410712"/>
            <a:ext cx="1325880" cy="278892"/>
          </a:xfrm>
          <a:prstGeom prst="rect">
            <a:avLst/>
          </a:prstGeom>
          <a:solidFill>
            <a:srgbClr val="F0F4F7"/>
          </a:solidFill>
          <a:ln w="5715">
            <a:solidFill>
              <a:srgbClr val="F7F8FA"/>
            </a:solidFill>
            <a:prstDash val="solid"/>
          </a:ln>
        </p:spPr>
      </p:sp>
      <p:sp>
        <p:nvSpPr>
          <p:cNvPr id="96" name="Text 94"/>
          <p:cNvSpPr/>
          <p:nvPr/>
        </p:nvSpPr>
        <p:spPr>
          <a:xfrm>
            <a:off x="8613648" y="349758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8.04%</a:t>
            </a:r>
            <a:endParaRPr lang="en-US" sz="1100" dirty="0"/>
          </a:p>
        </p:txBody>
      </p:sp>
      <p:sp>
        <p:nvSpPr>
          <p:cNvPr id="97" name="Shape 95"/>
          <p:cNvSpPr/>
          <p:nvPr/>
        </p:nvSpPr>
        <p:spPr>
          <a:xfrm>
            <a:off x="502920" y="3689604"/>
            <a:ext cx="1143000" cy="278892"/>
          </a:xfrm>
          <a:prstGeom prst="rect">
            <a:avLst/>
          </a:prstGeom>
          <a:solidFill>
            <a:srgbClr val="FFFFFF"/>
          </a:solidFill>
          <a:ln w="5715">
            <a:solidFill>
              <a:srgbClr val="F7F8FA"/>
            </a:solidFill>
            <a:prstDash val="solid"/>
          </a:ln>
        </p:spPr>
      </p:sp>
      <p:sp>
        <p:nvSpPr>
          <p:cNvPr id="98" name="Text 96"/>
          <p:cNvSpPr/>
          <p:nvPr/>
        </p:nvSpPr>
        <p:spPr>
          <a:xfrm>
            <a:off x="566928" y="377647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99" name="Shape 97"/>
          <p:cNvSpPr/>
          <p:nvPr/>
        </p:nvSpPr>
        <p:spPr>
          <a:xfrm>
            <a:off x="1645920" y="3689604"/>
            <a:ext cx="4251960" cy="278892"/>
          </a:xfrm>
          <a:prstGeom prst="rect">
            <a:avLst/>
          </a:prstGeom>
          <a:solidFill>
            <a:srgbClr val="FFFFFF"/>
          </a:solidFill>
          <a:ln w="5715">
            <a:solidFill>
              <a:srgbClr val="F7F8FA"/>
            </a:solidFill>
            <a:prstDash val="solid"/>
          </a:ln>
        </p:spPr>
      </p:sp>
      <p:sp>
        <p:nvSpPr>
          <p:cNvPr id="100" name="Text 98"/>
          <p:cNvSpPr/>
          <p:nvPr/>
        </p:nvSpPr>
        <p:spPr>
          <a:xfrm>
            <a:off x="1709928" y="377647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Setup</a:t>
            </a:r>
            <a:endParaRPr lang="en-US" sz="1100" dirty="0"/>
          </a:p>
        </p:txBody>
      </p:sp>
      <p:sp>
        <p:nvSpPr>
          <p:cNvPr id="101" name="Shape 99"/>
          <p:cNvSpPr/>
          <p:nvPr/>
        </p:nvSpPr>
        <p:spPr>
          <a:xfrm>
            <a:off x="5897880" y="3689604"/>
            <a:ext cx="1234440" cy="278892"/>
          </a:xfrm>
          <a:prstGeom prst="rect">
            <a:avLst/>
          </a:prstGeom>
          <a:solidFill>
            <a:srgbClr val="FFFFFF"/>
          </a:solidFill>
          <a:ln w="5715">
            <a:solidFill>
              <a:srgbClr val="F7F8FA"/>
            </a:solidFill>
            <a:prstDash val="solid"/>
          </a:ln>
        </p:spPr>
      </p:sp>
      <p:sp>
        <p:nvSpPr>
          <p:cNvPr id="102" name="Text 100"/>
          <p:cNvSpPr/>
          <p:nvPr/>
        </p:nvSpPr>
        <p:spPr>
          <a:xfrm>
            <a:off x="5961888" y="377647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67.544</a:t>
            </a:r>
            <a:endParaRPr lang="en-US" sz="1100" dirty="0"/>
          </a:p>
        </p:txBody>
      </p:sp>
      <p:sp>
        <p:nvSpPr>
          <p:cNvPr id="103" name="Shape 101"/>
          <p:cNvSpPr/>
          <p:nvPr/>
        </p:nvSpPr>
        <p:spPr>
          <a:xfrm>
            <a:off x="7132320" y="3689604"/>
            <a:ext cx="1417320" cy="278892"/>
          </a:xfrm>
          <a:prstGeom prst="rect">
            <a:avLst/>
          </a:prstGeom>
          <a:solidFill>
            <a:srgbClr val="FFFFFF"/>
          </a:solidFill>
          <a:ln w="5715">
            <a:solidFill>
              <a:srgbClr val="F7F8FA"/>
            </a:solidFill>
            <a:prstDash val="solid"/>
          </a:ln>
        </p:spPr>
      </p:sp>
      <p:sp>
        <p:nvSpPr>
          <p:cNvPr id="104" name="Text 102"/>
          <p:cNvSpPr/>
          <p:nvPr/>
        </p:nvSpPr>
        <p:spPr>
          <a:xfrm>
            <a:off x="7196328" y="377647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15.85%</a:t>
            </a:r>
            <a:endParaRPr lang="en-US" sz="1100" dirty="0"/>
          </a:p>
        </p:txBody>
      </p:sp>
      <p:sp>
        <p:nvSpPr>
          <p:cNvPr id="105" name="Shape 103"/>
          <p:cNvSpPr/>
          <p:nvPr/>
        </p:nvSpPr>
        <p:spPr>
          <a:xfrm>
            <a:off x="8549640" y="3689604"/>
            <a:ext cx="1325880" cy="278892"/>
          </a:xfrm>
          <a:prstGeom prst="rect">
            <a:avLst/>
          </a:prstGeom>
          <a:solidFill>
            <a:srgbClr val="FFFFFF"/>
          </a:solidFill>
          <a:ln w="5715">
            <a:solidFill>
              <a:srgbClr val="F7F8FA"/>
            </a:solidFill>
            <a:prstDash val="solid"/>
          </a:ln>
        </p:spPr>
      </p:sp>
      <p:sp>
        <p:nvSpPr>
          <p:cNvPr id="106" name="Text 104"/>
          <p:cNvSpPr/>
          <p:nvPr/>
        </p:nvSpPr>
        <p:spPr>
          <a:xfrm>
            <a:off x="8613648" y="377647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49.11%</a:t>
            </a:r>
            <a:endParaRPr lang="en-US" sz="1100" dirty="0"/>
          </a:p>
        </p:txBody>
      </p:sp>
      <p:sp>
        <p:nvSpPr>
          <p:cNvPr id="107" name="Shape 105"/>
          <p:cNvSpPr/>
          <p:nvPr/>
        </p:nvSpPr>
        <p:spPr>
          <a:xfrm>
            <a:off x="502920" y="3968496"/>
            <a:ext cx="1143000" cy="278892"/>
          </a:xfrm>
          <a:prstGeom prst="rect">
            <a:avLst/>
          </a:prstGeom>
          <a:solidFill>
            <a:srgbClr val="F0F4F7"/>
          </a:solidFill>
          <a:ln w="5715">
            <a:solidFill>
              <a:srgbClr val="F7F8FA"/>
            </a:solidFill>
            <a:prstDash val="solid"/>
          </a:ln>
        </p:spPr>
      </p:sp>
      <p:sp>
        <p:nvSpPr>
          <p:cNvPr id="108" name="Text 106"/>
          <p:cNvSpPr/>
          <p:nvPr/>
        </p:nvSpPr>
        <p:spPr>
          <a:xfrm>
            <a:off x="566928" y="405536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09" name="Shape 107"/>
          <p:cNvSpPr/>
          <p:nvPr/>
        </p:nvSpPr>
        <p:spPr>
          <a:xfrm>
            <a:off x="1645920" y="3968496"/>
            <a:ext cx="4251960" cy="278892"/>
          </a:xfrm>
          <a:prstGeom prst="rect">
            <a:avLst/>
          </a:prstGeom>
          <a:solidFill>
            <a:srgbClr val="F0F4F7"/>
          </a:solidFill>
          <a:ln w="5715">
            <a:solidFill>
              <a:srgbClr val="F7F8FA"/>
            </a:solidFill>
            <a:prstDash val="solid"/>
          </a:ln>
        </p:spPr>
      </p:sp>
      <p:sp>
        <p:nvSpPr>
          <p:cNvPr id="110" name="Text 108"/>
          <p:cNvSpPr/>
          <p:nvPr/>
        </p:nvSpPr>
        <p:spPr>
          <a:xfrm>
            <a:off x="1709928" y="405536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loop</a:t>
            </a:r>
            <a:endParaRPr lang="en-US" sz="1100" dirty="0"/>
          </a:p>
        </p:txBody>
      </p:sp>
      <p:sp>
        <p:nvSpPr>
          <p:cNvPr id="111" name="Shape 109"/>
          <p:cNvSpPr/>
          <p:nvPr/>
        </p:nvSpPr>
        <p:spPr>
          <a:xfrm>
            <a:off x="5897880" y="3968496"/>
            <a:ext cx="1234440" cy="278892"/>
          </a:xfrm>
          <a:prstGeom prst="rect">
            <a:avLst/>
          </a:prstGeom>
          <a:solidFill>
            <a:srgbClr val="F0F4F7"/>
          </a:solidFill>
          <a:ln w="5715">
            <a:solidFill>
              <a:srgbClr val="F7F8FA"/>
            </a:solidFill>
            <a:prstDash val="solid"/>
          </a:ln>
        </p:spPr>
      </p:sp>
      <p:sp>
        <p:nvSpPr>
          <p:cNvPr id="112" name="Text 110"/>
          <p:cNvSpPr/>
          <p:nvPr/>
        </p:nvSpPr>
        <p:spPr>
          <a:xfrm>
            <a:off x="5961888" y="405536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29.968</a:t>
            </a:r>
            <a:endParaRPr lang="en-US" sz="1100" dirty="0"/>
          </a:p>
        </p:txBody>
      </p:sp>
      <p:sp>
        <p:nvSpPr>
          <p:cNvPr id="113" name="Shape 111"/>
          <p:cNvSpPr/>
          <p:nvPr/>
        </p:nvSpPr>
        <p:spPr>
          <a:xfrm>
            <a:off x="7132320" y="3968496"/>
            <a:ext cx="1417320" cy="278892"/>
          </a:xfrm>
          <a:prstGeom prst="rect">
            <a:avLst/>
          </a:prstGeom>
          <a:solidFill>
            <a:srgbClr val="F0F4F7"/>
          </a:solidFill>
          <a:ln w="5715">
            <a:solidFill>
              <a:srgbClr val="F7F8FA"/>
            </a:solidFill>
            <a:prstDash val="solid"/>
          </a:ln>
        </p:spPr>
      </p:sp>
      <p:sp>
        <p:nvSpPr>
          <p:cNvPr id="114" name="Text 112"/>
          <p:cNvSpPr/>
          <p:nvPr/>
        </p:nvSpPr>
        <p:spPr>
          <a:xfrm>
            <a:off x="7196328" y="405536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7.03%</a:t>
            </a:r>
            <a:endParaRPr lang="en-US" sz="1100" dirty="0"/>
          </a:p>
        </p:txBody>
      </p:sp>
      <p:sp>
        <p:nvSpPr>
          <p:cNvPr id="115" name="Shape 113"/>
          <p:cNvSpPr/>
          <p:nvPr/>
        </p:nvSpPr>
        <p:spPr>
          <a:xfrm>
            <a:off x="8549640" y="3968496"/>
            <a:ext cx="1325880" cy="278892"/>
          </a:xfrm>
          <a:prstGeom prst="rect">
            <a:avLst/>
          </a:prstGeom>
          <a:solidFill>
            <a:srgbClr val="F0F4F7"/>
          </a:solidFill>
          <a:ln w="5715">
            <a:solidFill>
              <a:srgbClr val="F7F8FA"/>
            </a:solidFill>
            <a:prstDash val="solid"/>
          </a:ln>
        </p:spPr>
      </p:sp>
      <p:sp>
        <p:nvSpPr>
          <p:cNvPr id="116" name="Text 114"/>
          <p:cNvSpPr/>
          <p:nvPr/>
        </p:nvSpPr>
        <p:spPr>
          <a:xfrm>
            <a:off x="8613648" y="405536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21.79%</a:t>
            </a:r>
            <a:endParaRPr lang="en-US" sz="1100" dirty="0"/>
          </a:p>
        </p:txBody>
      </p:sp>
      <p:sp>
        <p:nvSpPr>
          <p:cNvPr id="117" name="Shape 115"/>
          <p:cNvSpPr/>
          <p:nvPr/>
        </p:nvSpPr>
        <p:spPr>
          <a:xfrm>
            <a:off x="502920" y="4247388"/>
            <a:ext cx="1143000" cy="278892"/>
          </a:xfrm>
          <a:prstGeom prst="rect">
            <a:avLst/>
          </a:prstGeom>
          <a:solidFill>
            <a:srgbClr val="FFFFFF"/>
          </a:solidFill>
          <a:ln w="5715">
            <a:solidFill>
              <a:srgbClr val="F7F8FA"/>
            </a:solidFill>
            <a:prstDash val="solid"/>
          </a:ln>
        </p:spPr>
      </p:sp>
      <p:sp>
        <p:nvSpPr>
          <p:cNvPr id="118" name="Text 116"/>
          <p:cNvSpPr/>
          <p:nvPr/>
        </p:nvSpPr>
        <p:spPr>
          <a:xfrm>
            <a:off x="566928" y="433425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19" name="Shape 117"/>
          <p:cNvSpPr/>
          <p:nvPr/>
        </p:nvSpPr>
        <p:spPr>
          <a:xfrm>
            <a:off x="1645920" y="4247388"/>
            <a:ext cx="4251960" cy="278892"/>
          </a:xfrm>
          <a:prstGeom prst="rect">
            <a:avLst/>
          </a:prstGeom>
          <a:solidFill>
            <a:srgbClr val="FFFFFF"/>
          </a:solidFill>
          <a:ln w="5715">
            <a:solidFill>
              <a:srgbClr val="F7F8FA"/>
            </a:solidFill>
            <a:prstDash val="solid"/>
          </a:ln>
        </p:spPr>
      </p:sp>
      <p:sp>
        <p:nvSpPr>
          <p:cNvPr id="120" name="Text 118"/>
          <p:cNvSpPr/>
          <p:nvPr/>
        </p:nvSpPr>
        <p:spPr>
          <a:xfrm>
            <a:off x="1709928" y="433425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Download Values</a:t>
            </a:r>
            <a:endParaRPr lang="en-US" sz="1100" dirty="0"/>
          </a:p>
        </p:txBody>
      </p:sp>
      <p:sp>
        <p:nvSpPr>
          <p:cNvPr id="121" name="Shape 119"/>
          <p:cNvSpPr/>
          <p:nvPr/>
        </p:nvSpPr>
        <p:spPr>
          <a:xfrm>
            <a:off x="5897880" y="4247388"/>
            <a:ext cx="1234440" cy="278892"/>
          </a:xfrm>
          <a:prstGeom prst="rect">
            <a:avLst/>
          </a:prstGeom>
          <a:solidFill>
            <a:srgbClr val="FFFFFF"/>
          </a:solidFill>
          <a:ln w="5715">
            <a:solidFill>
              <a:srgbClr val="F7F8FA"/>
            </a:solidFill>
            <a:prstDash val="solid"/>
          </a:ln>
        </p:spPr>
      </p:sp>
      <p:sp>
        <p:nvSpPr>
          <p:cNvPr id="122" name="Text 120"/>
          <p:cNvSpPr/>
          <p:nvPr/>
        </p:nvSpPr>
        <p:spPr>
          <a:xfrm>
            <a:off x="5961888" y="433425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40.030</a:t>
            </a:r>
            <a:endParaRPr lang="en-US" sz="1100" dirty="0"/>
          </a:p>
        </p:txBody>
      </p:sp>
      <p:sp>
        <p:nvSpPr>
          <p:cNvPr id="123" name="Shape 121"/>
          <p:cNvSpPr/>
          <p:nvPr/>
        </p:nvSpPr>
        <p:spPr>
          <a:xfrm>
            <a:off x="7132320" y="4247388"/>
            <a:ext cx="1417320" cy="278892"/>
          </a:xfrm>
          <a:prstGeom prst="rect">
            <a:avLst/>
          </a:prstGeom>
          <a:solidFill>
            <a:srgbClr val="FFFFFF"/>
          </a:solidFill>
          <a:ln w="5715">
            <a:solidFill>
              <a:srgbClr val="F7F8FA"/>
            </a:solidFill>
            <a:prstDash val="solid"/>
          </a:ln>
        </p:spPr>
      </p:sp>
      <p:sp>
        <p:nvSpPr>
          <p:cNvPr id="124" name="Text 122"/>
          <p:cNvSpPr/>
          <p:nvPr/>
        </p:nvSpPr>
        <p:spPr>
          <a:xfrm>
            <a:off x="7196328" y="433425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9.39%</a:t>
            </a:r>
            <a:endParaRPr lang="en-US" sz="1100" dirty="0"/>
          </a:p>
        </p:txBody>
      </p:sp>
      <p:sp>
        <p:nvSpPr>
          <p:cNvPr id="125" name="Shape 123"/>
          <p:cNvSpPr/>
          <p:nvPr/>
        </p:nvSpPr>
        <p:spPr>
          <a:xfrm>
            <a:off x="8549640" y="4247388"/>
            <a:ext cx="1325880" cy="278892"/>
          </a:xfrm>
          <a:prstGeom prst="rect">
            <a:avLst/>
          </a:prstGeom>
          <a:solidFill>
            <a:srgbClr val="FFFFFF"/>
          </a:solidFill>
          <a:ln w="5715">
            <a:solidFill>
              <a:srgbClr val="F7F8FA"/>
            </a:solidFill>
            <a:prstDash val="solid"/>
          </a:ln>
        </p:spPr>
      </p:sp>
      <p:sp>
        <p:nvSpPr>
          <p:cNvPr id="126" name="Text 124"/>
          <p:cNvSpPr/>
          <p:nvPr/>
        </p:nvSpPr>
        <p:spPr>
          <a:xfrm>
            <a:off x="8613648" y="433425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29.10%</a:t>
            </a:r>
            <a:endParaRPr lang="en-US" sz="1100" dirty="0"/>
          </a:p>
        </p:txBody>
      </p:sp>
      <p:sp>
        <p:nvSpPr>
          <p:cNvPr id="127" name="Shape 125"/>
          <p:cNvSpPr/>
          <p:nvPr/>
        </p:nvSpPr>
        <p:spPr>
          <a:xfrm>
            <a:off x="502920" y="4645152"/>
            <a:ext cx="3520440" cy="274320"/>
          </a:xfrm>
          <a:prstGeom prst="rect">
            <a:avLst/>
          </a:prstGeom>
          <a:solidFill>
            <a:srgbClr val="0E7C86"/>
          </a:solidFill>
          <a:ln w="5715">
            <a:solidFill>
              <a:srgbClr val="F7F8FA"/>
            </a:solidFill>
            <a:prstDash val="solid"/>
          </a:ln>
        </p:spPr>
      </p:sp>
      <p:sp>
        <p:nvSpPr>
          <p:cNvPr id="128" name="Text 126"/>
          <p:cNvSpPr/>
          <p:nvPr/>
        </p:nvSpPr>
        <p:spPr>
          <a:xfrm>
            <a:off x="566928" y="47320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Detail</a:t>
            </a:r>
            <a:endParaRPr lang="en-US" sz="1100" dirty="0"/>
          </a:p>
        </p:txBody>
      </p:sp>
      <p:sp>
        <p:nvSpPr>
          <p:cNvPr id="129" name="Shape 127"/>
          <p:cNvSpPr/>
          <p:nvPr/>
        </p:nvSpPr>
        <p:spPr>
          <a:xfrm>
            <a:off x="4023360" y="4645152"/>
            <a:ext cx="1417320" cy="274320"/>
          </a:xfrm>
          <a:prstGeom prst="rect">
            <a:avLst/>
          </a:prstGeom>
          <a:solidFill>
            <a:srgbClr val="0E7C86"/>
          </a:solidFill>
          <a:ln w="5715">
            <a:solidFill>
              <a:srgbClr val="F7F8FA"/>
            </a:solidFill>
            <a:prstDash val="solid"/>
          </a:ln>
        </p:spPr>
      </p:sp>
      <p:sp>
        <p:nvSpPr>
          <p:cNvPr id="130" name="Text 128"/>
          <p:cNvSpPr/>
          <p:nvPr/>
        </p:nvSpPr>
        <p:spPr>
          <a:xfrm>
            <a:off x="408736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1" name="Shape 129"/>
          <p:cNvSpPr/>
          <p:nvPr/>
        </p:nvSpPr>
        <p:spPr>
          <a:xfrm>
            <a:off x="5440680" y="4645152"/>
            <a:ext cx="3520440" cy="274320"/>
          </a:xfrm>
          <a:prstGeom prst="rect">
            <a:avLst/>
          </a:prstGeom>
          <a:solidFill>
            <a:srgbClr val="0E7C86"/>
          </a:solidFill>
          <a:ln w="5715">
            <a:solidFill>
              <a:srgbClr val="F7F8FA"/>
            </a:solidFill>
            <a:prstDash val="solid"/>
          </a:ln>
        </p:spPr>
      </p:sp>
      <p:sp>
        <p:nvSpPr>
          <p:cNvPr id="132" name="Text 130"/>
          <p:cNvSpPr/>
          <p:nvPr/>
        </p:nvSpPr>
        <p:spPr>
          <a:xfrm>
            <a:off x="5504688" y="4732020"/>
            <a:ext cx="339242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Detail</a:t>
            </a:r>
            <a:endParaRPr lang="en-US" sz="1100" dirty="0"/>
          </a:p>
        </p:txBody>
      </p:sp>
      <p:sp>
        <p:nvSpPr>
          <p:cNvPr id="133" name="Shape 131"/>
          <p:cNvSpPr/>
          <p:nvPr/>
        </p:nvSpPr>
        <p:spPr>
          <a:xfrm>
            <a:off x="8961120" y="4645152"/>
            <a:ext cx="1417320" cy="274320"/>
          </a:xfrm>
          <a:prstGeom prst="rect">
            <a:avLst/>
          </a:prstGeom>
          <a:solidFill>
            <a:srgbClr val="0E7C86"/>
          </a:solidFill>
          <a:ln w="5715">
            <a:solidFill>
              <a:srgbClr val="F7F8FA"/>
            </a:solidFill>
            <a:prstDash val="solid"/>
          </a:ln>
        </p:spPr>
      </p:sp>
      <p:sp>
        <p:nvSpPr>
          <p:cNvPr id="134" name="Text 132"/>
          <p:cNvSpPr/>
          <p:nvPr/>
        </p:nvSpPr>
        <p:spPr>
          <a:xfrm>
            <a:off x="902512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5" name="Shape 133"/>
          <p:cNvSpPr/>
          <p:nvPr/>
        </p:nvSpPr>
        <p:spPr>
          <a:xfrm>
            <a:off x="502920" y="4919472"/>
            <a:ext cx="3520440" cy="274320"/>
          </a:xfrm>
          <a:prstGeom prst="rect">
            <a:avLst/>
          </a:prstGeom>
          <a:solidFill>
            <a:srgbClr val="FFFFFF"/>
          </a:solidFill>
          <a:ln w="5715">
            <a:solidFill>
              <a:srgbClr val="F7F8FA"/>
            </a:solidFill>
            <a:prstDash val="solid"/>
          </a:ln>
        </p:spPr>
      </p:sp>
      <p:sp>
        <p:nvSpPr>
          <p:cNvPr id="136" name="Text 134"/>
          <p:cNvSpPr/>
          <p:nvPr/>
        </p:nvSpPr>
        <p:spPr>
          <a:xfrm>
            <a:off x="566928" y="500634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projection host build</a:t>
            </a:r>
            <a:endParaRPr lang="en-US" sz="1100" dirty="0"/>
          </a:p>
        </p:txBody>
      </p:sp>
      <p:sp>
        <p:nvSpPr>
          <p:cNvPr id="137" name="Shape 135"/>
          <p:cNvSpPr/>
          <p:nvPr/>
        </p:nvSpPr>
        <p:spPr>
          <a:xfrm>
            <a:off x="4023360" y="4919472"/>
            <a:ext cx="1417320" cy="274320"/>
          </a:xfrm>
          <a:prstGeom prst="rect">
            <a:avLst/>
          </a:prstGeom>
          <a:solidFill>
            <a:srgbClr val="FFFFFF"/>
          </a:solidFill>
          <a:ln w="5715">
            <a:solidFill>
              <a:srgbClr val="F7F8FA"/>
            </a:solidFill>
            <a:prstDash val="solid"/>
          </a:ln>
        </p:spPr>
      </p:sp>
      <p:sp>
        <p:nvSpPr>
          <p:cNvPr id="138" name="Text 136"/>
          <p:cNvSpPr/>
          <p:nvPr/>
        </p:nvSpPr>
        <p:spPr>
          <a:xfrm>
            <a:off x="408736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38.686 ms</a:t>
            </a:r>
            <a:endParaRPr lang="en-US" sz="1100" dirty="0"/>
          </a:p>
        </p:txBody>
      </p:sp>
      <p:sp>
        <p:nvSpPr>
          <p:cNvPr id="139" name="Shape 137"/>
          <p:cNvSpPr/>
          <p:nvPr/>
        </p:nvSpPr>
        <p:spPr>
          <a:xfrm>
            <a:off x="5440680" y="4919472"/>
            <a:ext cx="3520440" cy="274320"/>
          </a:xfrm>
          <a:prstGeom prst="rect">
            <a:avLst/>
          </a:prstGeom>
          <a:solidFill>
            <a:srgbClr val="FFFFFF"/>
          </a:solidFill>
          <a:ln w="5715">
            <a:solidFill>
              <a:srgbClr val="F7F8FA"/>
            </a:solidFill>
            <a:prstDash val="solid"/>
          </a:ln>
        </p:spPr>
      </p:sp>
      <p:sp>
        <p:nvSpPr>
          <p:cNvPr id="140" name="Text 138"/>
          <p:cNvSpPr/>
          <p:nvPr/>
        </p:nvSpPr>
        <p:spPr>
          <a:xfrm>
            <a:off x="5504688" y="500634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dense Schur</a:t>
            </a:r>
            <a:endParaRPr lang="en-US" sz="1100" dirty="0"/>
          </a:p>
        </p:txBody>
      </p:sp>
      <p:sp>
        <p:nvSpPr>
          <p:cNvPr id="141" name="Shape 139"/>
          <p:cNvSpPr/>
          <p:nvPr/>
        </p:nvSpPr>
        <p:spPr>
          <a:xfrm>
            <a:off x="8961120" y="4919472"/>
            <a:ext cx="1417320" cy="274320"/>
          </a:xfrm>
          <a:prstGeom prst="rect">
            <a:avLst/>
          </a:prstGeom>
          <a:solidFill>
            <a:srgbClr val="FFFFFF"/>
          </a:solidFill>
          <a:ln w="5715">
            <a:solidFill>
              <a:srgbClr val="F7F8FA"/>
            </a:solidFill>
            <a:prstDash val="solid"/>
          </a:ln>
        </p:spPr>
      </p:sp>
      <p:sp>
        <p:nvSpPr>
          <p:cNvPr id="142" name="Text 140"/>
          <p:cNvSpPr/>
          <p:nvPr/>
        </p:nvSpPr>
        <p:spPr>
          <a:xfrm>
            <a:off x="902512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23.009 ms</a:t>
            </a:r>
            <a:endParaRPr lang="en-US" sz="1100" dirty="0"/>
          </a:p>
        </p:txBody>
      </p:sp>
      <p:sp>
        <p:nvSpPr>
          <p:cNvPr id="143" name="Shape 141"/>
          <p:cNvSpPr/>
          <p:nvPr/>
        </p:nvSpPr>
        <p:spPr>
          <a:xfrm>
            <a:off x="502920" y="5193792"/>
            <a:ext cx="3520440" cy="274320"/>
          </a:xfrm>
          <a:prstGeom prst="rect">
            <a:avLst/>
          </a:prstGeom>
          <a:solidFill>
            <a:srgbClr val="F0F4F7"/>
          </a:solidFill>
          <a:ln w="5715">
            <a:solidFill>
              <a:srgbClr val="F7F8FA"/>
            </a:solidFill>
            <a:prstDash val="solid"/>
          </a:ln>
        </p:spPr>
      </p:sp>
      <p:sp>
        <p:nvSpPr>
          <p:cNvPr id="144" name="Text 142"/>
          <p:cNvSpPr/>
          <p:nvPr/>
        </p:nvSpPr>
        <p:spPr>
          <a:xfrm>
            <a:off x="566928" y="528066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pack values</a:t>
            </a:r>
            <a:endParaRPr lang="en-US" sz="1100" dirty="0"/>
          </a:p>
        </p:txBody>
      </p:sp>
      <p:sp>
        <p:nvSpPr>
          <p:cNvPr id="145" name="Shape 143"/>
          <p:cNvSpPr/>
          <p:nvPr/>
        </p:nvSpPr>
        <p:spPr>
          <a:xfrm>
            <a:off x="4023360" y="5193792"/>
            <a:ext cx="1417320" cy="274320"/>
          </a:xfrm>
          <a:prstGeom prst="rect">
            <a:avLst/>
          </a:prstGeom>
          <a:solidFill>
            <a:srgbClr val="F0F4F7"/>
          </a:solidFill>
          <a:ln w="5715">
            <a:solidFill>
              <a:srgbClr val="F7F8FA"/>
            </a:solidFill>
            <a:prstDash val="solid"/>
          </a:ln>
        </p:spPr>
      </p:sp>
      <p:sp>
        <p:nvSpPr>
          <p:cNvPr id="146" name="Text 144"/>
          <p:cNvSpPr/>
          <p:nvPr/>
        </p:nvSpPr>
        <p:spPr>
          <a:xfrm>
            <a:off x="408736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13.688 ms</a:t>
            </a:r>
            <a:endParaRPr lang="en-US" sz="1100" dirty="0"/>
          </a:p>
        </p:txBody>
      </p:sp>
      <p:sp>
        <p:nvSpPr>
          <p:cNvPr id="147" name="Shape 145"/>
          <p:cNvSpPr/>
          <p:nvPr/>
        </p:nvSpPr>
        <p:spPr>
          <a:xfrm>
            <a:off x="5440680" y="5193792"/>
            <a:ext cx="3520440" cy="274320"/>
          </a:xfrm>
          <a:prstGeom prst="rect">
            <a:avLst/>
          </a:prstGeom>
          <a:solidFill>
            <a:srgbClr val="F0F4F7"/>
          </a:solidFill>
          <a:ln w="5715">
            <a:solidFill>
              <a:srgbClr val="F7F8FA"/>
            </a:solidFill>
            <a:prstDash val="solid"/>
          </a:ln>
        </p:spPr>
      </p:sp>
      <p:sp>
        <p:nvSpPr>
          <p:cNvPr id="148" name="Text 146"/>
          <p:cNvSpPr/>
          <p:nvPr/>
        </p:nvSpPr>
        <p:spPr>
          <a:xfrm>
            <a:off x="5504688" y="528066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damping diagonal</a:t>
            </a:r>
            <a:endParaRPr lang="en-US" sz="1100" dirty="0"/>
          </a:p>
        </p:txBody>
      </p:sp>
      <p:sp>
        <p:nvSpPr>
          <p:cNvPr id="149" name="Shape 147"/>
          <p:cNvSpPr/>
          <p:nvPr/>
        </p:nvSpPr>
        <p:spPr>
          <a:xfrm>
            <a:off x="8961120" y="5193792"/>
            <a:ext cx="1417320" cy="274320"/>
          </a:xfrm>
          <a:prstGeom prst="rect">
            <a:avLst/>
          </a:prstGeom>
          <a:solidFill>
            <a:srgbClr val="F0F4F7"/>
          </a:solidFill>
          <a:ln w="5715">
            <a:solidFill>
              <a:srgbClr val="F7F8FA"/>
            </a:solidFill>
            <a:prstDash val="solid"/>
          </a:ln>
        </p:spPr>
      </p:sp>
      <p:sp>
        <p:nvSpPr>
          <p:cNvPr id="150" name="Text 148"/>
          <p:cNvSpPr/>
          <p:nvPr/>
        </p:nvSpPr>
        <p:spPr>
          <a:xfrm>
            <a:off x="902512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2.979 ms</a:t>
            </a:r>
            <a:endParaRPr lang="en-US" sz="1100" dirty="0"/>
          </a:p>
        </p:txBody>
      </p:sp>
      <p:sp>
        <p:nvSpPr>
          <p:cNvPr id="151" name="Shape 149"/>
          <p:cNvSpPr/>
          <p:nvPr/>
        </p:nvSpPr>
        <p:spPr>
          <a:xfrm>
            <a:off x="502920" y="5468112"/>
            <a:ext cx="3520440" cy="274320"/>
          </a:xfrm>
          <a:prstGeom prst="rect">
            <a:avLst/>
          </a:prstGeom>
          <a:solidFill>
            <a:srgbClr val="FFFFFF"/>
          </a:solidFill>
          <a:ln w="5715">
            <a:solidFill>
              <a:srgbClr val="F7F8FA"/>
            </a:solidFill>
            <a:prstDash val="solid"/>
          </a:ln>
        </p:spPr>
      </p:sp>
      <p:sp>
        <p:nvSpPr>
          <p:cNvPr id="152" name="Text 150"/>
          <p:cNvSpPr/>
          <p:nvPr/>
        </p:nvSpPr>
        <p:spPr>
          <a:xfrm>
            <a:off x="566928" y="555498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allocate trial values</a:t>
            </a:r>
            <a:endParaRPr lang="en-US" sz="1100" dirty="0"/>
          </a:p>
        </p:txBody>
      </p:sp>
      <p:sp>
        <p:nvSpPr>
          <p:cNvPr id="153" name="Shape 151"/>
          <p:cNvSpPr/>
          <p:nvPr/>
        </p:nvSpPr>
        <p:spPr>
          <a:xfrm>
            <a:off x="4023360" y="5468112"/>
            <a:ext cx="1417320" cy="274320"/>
          </a:xfrm>
          <a:prstGeom prst="rect">
            <a:avLst/>
          </a:prstGeom>
          <a:solidFill>
            <a:srgbClr val="FFFFFF"/>
          </a:solidFill>
          <a:ln w="5715">
            <a:solidFill>
              <a:srgbClr val="F7F8FA"/>
            </a:solidFill>
            <a:prstDash val="solid"/>
          </a:ln>
        </p:spPr>
      </p:sp>
      <p:sp>
        <p:nvSpPr>
          <p:cNvPr id="154" name="Text 152"/>
          <p:cNvSpPr/>
          <p:nvPr/>
        </p:nvSpPr>
        <p:spPr>
          <a:xfrm>
            <a:off x="408736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11.769 ms</a:t>
            </a:r>
            <a:endParaRPr lang="en-US" sz="1100" dirty="0"/>
          </a:p>
        </p:txBody>
      </p:sp>
      <p:sp>
        <p:nvSpPr>
          <p:cNvPr id="155" name="Shape 153"/>
          <p:cNvSpPr/>
          <p:nvPr/>
        </p:nvSpPr>
        <p:spPr>
          <a:xfrm>
            <a:off x="5440680" y="5468112"/>
            <a:ext cx="3520440" cy="274320"/>
          </a:xfrm>
          <a:prstGeom prst="rect">
            <a:avLst/>
          </a:prstGeom>
          <a:solidFill>
            <a:srgbClr val="FFFFFF"/>
          </a:solidFill>
          <a:ln w="5715">
            <a:solidFill>
              <a:srgbClr val="F7F8FA"/>
            </a:solidFill>
            <a:prstDash val="solid"/>
          </a:ln>
        </p:spPr>
      </p:sp>
      <p:sp>
        <p:nvSpPr>
          <p:cNvPr id="156" name="Text 154"/>
          <p:cNvSpPr/>
          <p:nvPr/>
        </p:nvSpPr>
        <p:spPr>
          <a:xfrm>
            <a:off x="5504688" y="555498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linearized error change</a:t>
            </a:r>
            <a:endParaRPr lang="en-US" sz="1100" dirty="0"/>
          </a:p>
        </p:txBody>
      </p:sp>
      <p:sp>
        <p:nvSpPr>
          <p:cNvPr id="157" name="Shape 155"/>
          <p:cNvSpPr/>
          <p:nvPr/>
        </p:nvSpPr>
        <p:spPr>
          <a:xfrm>
            <a:off x="8961120" y="5468112"/>
            <a:ext cx="1417320" cy="274320"/>
          </a:xfrm>
          <a:prstGeom prst="rect">
            <a:avLst/>
          </a:prstGeom>
          <a:solidFill>
            <a:srgbClr val="FFFFFF"/>
          </a:solidFill>
          <a:ln w="5715">
            <a:solidFill>
              <a:srgbClr val="F7F8FA"/>
            </a:solidFill>
            <a:prstDash val="solid"/>
          </a:ln>
        </p:spPr>
      </p:sp>
      <p:sp>
        <p:nvSpPr>
          <p:cNvPr id="158" name="Text 156"/>
          <p:cNvSpPr/>
          <p:nvPr/>
        </p:nvSpPr>
        <p:spPr>
          <a:xfrm>
            <a:off x="902512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3.655 ms</a:t>
            </a:r>
            <a:endParaRPr lang="en-US" sz="1100" dirty="0"/>
          </a:p>
        </p:txBody>
      </p:sp>
      <p:sp>
        <p:nvSpPr>
          <p:cNvPr id="159" name="Shape 157"/>
          <p:cNvSpPr/>
          <p:nvPr/>
        </p:nvSpPr>
        <p:spPr>
          <a:xfrm>
            <a:off x="502920" y="5742432"/>
            <a:ext cx="3520440" cy="274320"/>
          </a:xfrm>
          <a:prstGeom prst="rect">
            <a:avLst/>
          </a:prstGeom>
          <a:solidFill>
            <a:srgbClr val="F0F4F7"/>
          </a:solidFill>
          <a:ln w="5715">
            <a:solidFill>
              <a:srgbClr val="F7F8FA"/>
            </a:solidFill>
            <a:prstDash val="solid"/>
          </a:ln>
        </p:spPr>
      </p:sp>
      <p:sp>
        <p:nvSpPr>
          <p:cNvPr id="160" name="Text 158"/>
          <p:cNvSpPr/>
          <p:nvPr/>
        </p:nvSpPr>
        <p:spPr>
          <a:xfrm>
            <a:off x="566928" y="582930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Transfer: total H2D memcpy</a:t>
            </a:r>
            <a:endParaRPr lang="en-US" sz="1100" dirty="0"/>
          </a:p>
        </p:txBody>
      </p:sp>
      <p:sp>
        <p:nvSpPr>
          <p:cNvPr id="161" name="Shape 159"/>
          <p:cNvSpPr/>
          <p:nvPr/>
        </p:nvSpPr>
        <p:spPr>
          <a:xfrm>
            <a:off x="4023360" y="5742432"/>
            <a:ext cx="1417320" cy="274320"/>
          </a:xfrm>
          <a:prstGeom prst="rect">
            <a:avLst/>
          </a:prstGeom>
          <a:solidFill>
            <a:srgbClr val="F0F4F7"/>
          </a:solidFill>
          <a:ln w="5715">
            <a:solidFill>
              <a:srgbClr val="F7F8FA"/>
            </a:solidFill>
            <a:prstDash val="solid"/>
          </a:ln>
        </p:spPr>
      </p:sp>
      <p:sp>
        <p:nvSpPr>
          <p:cNvPr id="162" name="Text 160"/>
          <p:cNvSpPr/>
          <p:nvPr/>
        </p:nvSpPr>
        <p:spPr>
          <a:xfrm>
            <a:off x="408736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1.526 ms</a:t>
            </a:r>
            <a:endParaRPr lang="en-US" sz="1100" dirty="0"/>
          </a:p>
        </p:txBody>
      </p:sp>
      <p:sp>
        <p:nvSpPr>
          <p:cNvPr id="163" name="Shape 161"/>
          <p:cNvSpPr/>
          <p:nvPr/>
        </p:nvSpPr>
        <p:spPr>
          <a:xfrm>
            <a:off x="5440680" y="5742432"/>
            <a:ext cx="3520440" cy="274320"/>
          </a:xfrm>
          <a:prstGeom prst="rect">
            <a:avLst/>
          </a:prstGeom>
          <a:solidFill>
            <a:srgbClr val="F0F4F7"/>
          </a:solidFill>
          <a:ln w="5715">
            <a:solidFill>
              <a:srgbClr val="F7F8FA"/>
            </a:solidFill>
            <a:prstDash val="solid"/>
          </a:ln>
        </p:spPr>
      </p:sp>
      <p:sp>
        <p:nvSpPr>
          <p:cNvPr id="164" name="Text 162"/>
          <p:cNvSpPr/>
          <p:nvPr/>
        </p:nvSpPr>
        <p:spPr>
          <a:xfrm>
            <a:off x="5504688" y="582930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Transfer: total D2H memcpy</a:t>
            </a:r>
            <a:endParaRPr lang="en-US" sz="1100" dirty="0"/>
          </a:p>
        </p:txBody>
      </p:sp>
      <p:sp>
        <p:nvSpPr>
          <p:cNvPr id="165" name="Shape 163"/>
          <p:cNvSpPr/>
          <p:nvPr/>
        </p:nvSpPr>
        <p:spPr>
          <a:xfrm>
            <a:off x="8961120" y="5742432"/>
            <a:ext cx="1417320" cy="274320"/>
          </a:xfrm>
          <a:prstGeom prst="rect">
            <a:avLst/>
          </a:prstGeom>
          <a:solidFill>
            <a:srgbClr val="F0F4F7"/>
          </a:solidFill>
          <a:ln w="5715">
            <a:solidFill>
              <a:srgbClr val="F7F8FA"/>
            </a:solidFill>
            <a:prstDash val="solid"/>
          </a:ln>
        </p:spPr>
      </p:sp>
      <p:sp>
        <p:nvSpPr>
          <p:cNvPr id="166" name="Text 164"/>
          <p:cNvSpPr/>
          <p:nvPr/>
        </p:nvSpPr>
        <p:spPr>
          <a:xfrm>
            <a:off x="902512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0.615 ms</a:t>
            </a:r>
            <a:endParaRPr lang="en-US" sz="1100" dirty="0"/>
          </a:p>
        </p:txBody>
      </p:sp>
      <p:sp>
        <p:nvSpPr>
          <p:cNvPr id="167" name="Shape 165"/>
          <p:cNvSpPr/>
          <p:nvPr/>
        </p:nvSpPr>
        <p:spPr>
          <a:xfrm>
            <a:off x="502920" y="6016752"/>
            <a:ext cx="3520440" cy="274320"/>
          </a:xfrm>
          <a:prstGeom prst="rect">
            <a:avLst/>
          </a:prstGeom>
          <a:solidFill>
            <a:srgbClr val="FFFFFF"/>
          </a:solidFill>
          <a:ln w="5715">
            <a:solidFill>
              <a:srgbClr val="F7F8FA"/>
            </a:solidFill>
            <a:prstDash val="solid"/>
          </a:ln>
        </p:spPr>
      </p:sp>
      <p:sp>
        <p:nvSpPr>
          <p:cNvPr id="168" name="Text 166"/>
          <p:cNvSpPr/>
          <p:nvPr/>
        </p:nvSpPr>
        <p:spPr>
          <a:xfrm>
            <a:off x="566928" y="61036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Download: Values rebuild</a:t>
            </a:r>
            <a:endParaRPr lang="en-US" sz="1100" dirty="0"/>
          </a:p>
        </p:txBody>
      </p:sp>
      <p:sp>
        <p:nvSpPr>
          <p:cNvPr id="169" name="Shape 167"/>
          <p:cNvSpPr/>
          <p:nvPr/>
        </p:nvSpPr>
        <p:spPr>
          <a:xfrm>
            <a:off x="4023360" y="6016752"/>
            <a:ext cx="1417320" cy="274320"/>
          </a:xfrm>
          <a:prstGeom prst="rect">
            <a:avLst/>
          </a:prstGeom>
          <a:solidFill>
            <a:srgbClr val="FFFFFF"/>
          </a:solidFill>
          <a:ln w="5715">
            <a:solidFill>
              <a:srgbClr val="F7F8FA"/>
            </a:solidFill>
            <a:prstDash val="solid"/>
          </a:ln>
        </p:spPr>
      </p:sp>
      <p:sp>
        <p:nvSpPr>
          <p:cNvPr id="170" name="Text 168"/>
          <p:cNvSpPr/>
          <p:nvPr/>
        </p:nvSpPr>
        <p:spPr>
          <a:xfrm>
            <a:off x="408736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15.537 ms</a:t>
            </a:r>
            <a:endParaRPr lang="en-US" sz="1100" dirty="0"/>
          </a:p>
        </p:txBody>
      </p:sp>
      <p:sp>
        <p:nvSpPr>
          <p:cNvPr id="171" name="Shape 169"/>
          <p:cNvSpPr/>
          <p:nvPr/>
        </p:nvSpPr>
        <p:spPr>
          <a:xfrm>
            <a:off x="5440680" y="6016752"/>
            <a:ext cx="3520440" cy="274320"/>
          </a:xfrm>
          <a:prstGeom prst="rect">
            <a:avLst/>
          </a:prstGeom>
          <a:solidFill>
            <a:srgbClr val="FFFFFF"/>
          </a:solidFill>
          <a:ln w="5715">
            <a:solidFill>
              <a:srgbClr val="F7F8FA"/>
            </a:solidFill>
            <a:prstDash val="solid"/>
          </a:ln>
        </p:spPr>
      </p:sp>
      <p:sp>
        <p:nvSpPr>
          <p:cNvPr id="172" name="Text 170"/>
          <p:cNvSpPr/>
          <p:nvPr/>
        </p:nvSpPr>
        <p:spPr>
          <a:xfrm>
            <a:off x="5504688" y="610362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Pure H2D + D2H</a:t>
            </a:r>
            <a:endParaRPr lang="en-US" sz="1100" dirty="0"/>
          </a:p>
        </p:txBody>
      </p:sp>
      <p:sp>
        <p:nvSpPr>
          <p:cNvPr id="173" name="Shape 171"/>
          <p:cNvSpPr/>
          <p:nvPr/>
        </p:nvSpPr>
        <p:spPr>
          <a:xfrm>
            <a:off x="8961120" y="6016752"/>
            <a:ext cx="1417320" cy="274320"/>
          </a:xfrm>
          <a:prstGeom prst="rect">
            <a:avLst/>
          </a:prstGeom>
          <a:solidFill>
            <a:srgbClr val="FFFFFF"/>
          </a:solidFill>
          <a:ln w="5715">
            <a:solidFill>
              <a:srgbClr val="F7F8FA"/>
            </a:solidFill>
            <a:prstDash val="solid"/>
          </a:ln>
        </p:spPr>
      </p:sp>
      <p:sp>
        <p:nvSpPr>
          <p:cNvPr id="174" name="Text 172"/>
          <p:cNvSpPr/>
          <p:nvPr/>
        </p:nvSpPr>
        <p:spPr>
          <a:xfrm>
            <a:off x="902512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2.141 ms</a:t>
            </a:r>
            <a:endParaRPr lang="en-US" sz="1100" dirty="0"/>
          </a:p>
        </p:txBody>
      </p:sp>
      <p:sp>
        <p:nvSpPr>
          <p:cNvPr id="175" name="Text 173"/>
          <p:cNvSpPr/>
          <p:nvPr/>
        </p:nvSpPr>
        <p:spPr>
          <a:xfrm>
            <a:off x="502920" y="6345936"/>
            <a:ext cx="10789920" cy="109728"/>
          </a:xfrm>
          <a:prstGeom prst="rect">
            <a:avLst/>
          </a:prstGeom>
          <a:noFill/>
          <a:ln/>
        </p:spPr>
        <p:txBody>
          <a:bodyPr wrap="square" lIns="0" tIns="0" rIns="0" bIns="0" rtlCol="0" anchor="ctr">
            <a:normAutofit/>
          </a:bodyPr>
          <a:lstStyle/>
          <a:p>
            <a:pPr indent="0" marL="0">
              <a:buNone/>
            </a:pPr>
            <a:r>
              <a:rPr lang="en-US" sz="1050" dirty="0">
                <a:solidFill>
                  <a:srgbClr val="5A6472"/>
                </a:solidFill>
              </a:rPr>
              <a:t>Note: the 1.936 ms specialized pure-copy timing is from a separate transfer run; this appendix shows the dense-Schur transfer rows.</a:t>
            </a:r>
            <a:endParaRPr lang="en-US" sz="10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65760"/>
          </a:xfrm>
          <a:prstGeom prst="rect">
            <a:avLst/>
          </a:prstGeom>
          <a:solidFill>
            <a:srgbClr val="1F2A44"/>
          </a:solidFill>
          <a:ln w="5715">
            <a:solidFill>
              <a:srgbClr val="F7F8FA"/>
            </a:solidFill>
            <a:prstDash val="solid"/>
          </a:ln>
        </p:spPr>
      </p:sp>
      <p:sp>
        <p:nvSpPr>
          <p:cNvPr id="10" name="Text 8"/>
          <p:cNvSpPr/>
          <p:nvPr/>
        </p:nvSpPr>
        <p:spPr>
          <a:xfrm>
            <a:off x="521208" y="12938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FFFFFF"/>
                </a:solidFill>
              </a:rPr>
              <a:t>Operation</a:t>
            </a:r>
            <a:endParaRPr lang="en-US" sz="1120" dirty="0"/>
          </a:p>
        </p:txBody>
      </p:sp>
      <p:sp>
        <p:nvSpPr>
          <p:cNvPr id="11" name="Shape 9"/>
          <p:cNvSpPr/>
          <p:nvPr/>
        </p:nvSpPr>
        <p:spPr>
          <a:xfrm>
            <a:off x="2971800" y="1207008"/>
            <a:ext cx="4251960" cy="365760"/>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All 30 mean [min, max] / CV</a:t>
            </a:r>
            <a:endParaRPr lang="en-US" sz="1120" dirty="0"/>
          </a:p>
        </p:txBody>
      </p:sp>
      <p:sp>
        <p:nvSpPr>
          <p:cNvPr id="13" name="Shape 11"/>
          <p:cNvSpPr/>
          <p:nvPr/>
        </p:nvSpPr>
        <p:spPr>
          <a:xfrm>
            <a:off x="7223760" y="1207008"/>
            <a:ext cx="4434840" cy="365760"/>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Repeat-0-excluded 27 mean [min, max] / CV</a:t>
            </a:r>
            <a:endParaRPr lang="en-US" sz="1120" dirty="0"/>
          </a:p>
        </p:txBody>
      </p:sp>
      <p:sp>
        <p:nvSpPr>
          <p:cNvPr id="15" name="Shape 13"/>
          <p:cNvSpPr/>
          <p:nvPr/>
        </p:nvSpPr>
        <p:spPr>
          <a:xfrm>
            <a:off x="457200" y="1572768"/>
            <a:ext cx="2514600" cy="365760"/>
          </a:xfrm>
          <a:prstGeom prst="rect">
            <a:avLst/>
          </a:prstGeom>
          <a:solidFill>
            <a:srgbClr val="FFFFFF"/>
          </a:solidFill>
          <a:ln w="5715">
            <a:solidFill>
              <a:srgbClr val="F7F8FA"/>
            </a:solidFill>
            <a:prstDash val="solid"/>
          </a:ln>
        </p:spPr>
      </p:sp>
      <p:sp>
        <p:nvSpPr>
          <p:cNvPr id="16" name="Text 14"/>
          <p:cNvSpPr/>
          <p:nvPr/>
        </p:nvSpPr>
        <p:spPr>
          <a:xfrm>
            <a:off x="521208" y="16596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CPU / TBB linearize</a:t>
            </a:r>
            <a:endParaRPr lang="en-US" sz="1120" dirty="0"/>
          </a:p>
        </p:txBody>
      </p:sp>
      <p:sp>
        <p:nvSpPr>
          <p:cNvPr id="17" name="Shape 15"/>
          <p:cNvSpPr/>
          <p:nvPr/>
        </p:nvSpPr>
        <p:spPr>
          <a:xfrm>
            <a:off x="2971800" y="1572768"/>
            <a:ext cx="4251960" cy="365760"/>
          </a:xfrm>
          <a:prstGeom prst="rect">
            <a:avLst/>
          </a:prstGeom>
          <a:solidFill>
            <a:srgbClr val="FFFFFF"/>
          </a:solidFill>
          <a:ln w="5715">
            <a:solidFill>
              <a:srgbClr val="F7F8FA"/>
            </a:solidFill>
            <a:prstDash val="solid"/>
          </a:ln>
        </p:spPr>
      </p:sp>
      <p:sp>
        <p:nvSpPr>
          <p:cNvPr id="18" name="Text 16"/>
          <p:cNvSpPr/>
          <p:nvPr/>
        </p:nvSpPr>
        <p:spPr>
          <a:xfrm>
            <a:off x="3035808" y="16596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30.851 [25.119, 57.299] / 26.39%</a:t>
            </a:r>
            <a:endParaRPr lang="en-US" sz="1120" dirty="0"/>
          </a:p>
        </p:txBody>
      </p:sp>
      <p:sp>
        <p:nvSpPr>
          <p:cNvPr id="19" name="Shape 17"/>
          <p:cNvSpPr/>
          <p:nvPr/>
        </p:nvSpPr>
        <p:spPr>
          <a:xfrm>
            <a:off x="7223760" y="1572768"/>
            <a:ext cx="4434840" cy="365760"/>
          </a:xfrm>
          <a:prstGeom prst="rect">
            <a:avLst/>
          </a:prstGeom>
          <a:solidFill>
            <a:srgbClr val="FFFFFF"/>
          </a:solidFill>
          <a:ln w="5715">
            <a:solidFill>
              <a:srgbClr val="F7F8FA"/>
            </a:solidFill>
            <a:prstDash val="solid"/>
          </a:ln>
        </p:spPr>
      </p:sp>
      <p:sp>
        <p:nvSpPr>
          <p:cNvPr id="20" name="Text 18"/>
          <p:cNvSpPr/>
          <p:nvPr/>
        </p:nvSpPr>
        <p:spPr>
          <a:xfrm>
            <a:off x="7287768" y="16596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28.316 [25.119, 38.918] / 9.73%</a:t>
            </a:r>
            <a:endParaRPr lang="en-US" sz="1120" dirty="0"/>
          </a:p>
        </p:txBody>
      </p:sp>
      <p:sp>
        <p:nvSpPr>
          <p:cNvPr id="21" name="Shape 19"/>
          <p:cNvSpPr/>
          <p:nvPr/>
        </p:nvSpPr>
        <p:spPr>
          <a:xfrm>
            <a:off x="457200" y="1938528"/>
            <a:ext cx="2514600" cy="365760"/>
          </a:xfrm>
          <a:prstGeom prst="rect">
            <a:avLst/>
          </a:prstGeom>
          <a:solidFill>
            <a:srgbClr val="F0F4F7"/>
          </a:solidFill>
          <a:ln w="5715">
            <a:solidFill>
              <a:srgbClr val="F7F8FA"/>
            </a:solidFill>
            <a:prstDash val="solid"/>
          </a:ln>
        </p:spPr>
      </p:sp>
      <p:sp>
        <p:nvSpPr>
          <p:cNvPr id="22" name="Text 20"/>
          <p:cNvSpPr/>
          <p:nvPr/>
        </p:nvSpPr>
        <p:spPr>
          <a:xfrm>
            <a:off x="521208" y="202539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Values retract</a:t>
            </a:r>
            <a:endParaRPr lang="en-US" sz="1120" dirty="0"/>
          </a:p>
        </p:txBody>
      </p:sp>
      <p:sp>
        <p:nvSpPr>
          <p:cNvPr id="23" name="Shape 21"/>
          <p:cNvSpPr/>
          <p:nvPr/>
        </p:nvSpPr>
        <p:spPr>
          <a:xfrm>
            <a:off x="2971800" y="1938528"/>
            <a:ext cx="4251960" cy="365760"/>
          </a:xfrm>
          <a:prstGeom prst="rect">
            <a:avLst/>
          </a:prstGeom>
          <a:solidFill>
            <a:srgbClr val="F0F4F7"/>
          </a:solidFill>
          <a:ln w="5715">
            <a:solidFill>
              <a:srgbClr val="F7F8FA"/>
            </a:solidFill>
            <a:prstDash val="solid"/>
          </a:ln>
        </p:spPr>
      </p:sp>
      <p:sp>
        <p:nvSpPr>
          <p:cNvPr id="24" name="Text 22"/>
          <p:cNvSpPr/>
          <p:nvPr/>
        </p:nvSpPr>
        <p:spPr>
          <a:xfrm>
            <a:off x="3035808" y="202539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14.260 [12.320, 18.152] / 8.79%</a:t>
            </a:r>
            <a:endParaRPr lang="en-US" sz="1120" dirty="0"/>
          </a:p>
        </p:txBody>
      </p:sp>
      <p:sp>
        <p:nvSpPr>
          <p:cNvPr id="25" name="Shape 23"/>
          <p:cNvSpPr/>
          <p:nvPr/>
        </p:nvSpPr>
        <p:spPr>
          <a:xfrm>
            <a:off x="7223760" y="1938528"/>
            <a:ext cx="4434840" cy="365760"/>
          </a:xfrm>
          <a:prstGeom prst="rect">
            <a:avLst/>
          </a:prstGeom>
          <a:solidFill>
            <a:srgbClr val="F0F4F7"/>
          </a:solidFill>
          <a:ln w="5715">
            <a:solidFill>
              <a:srgbClr val="F7F8FA"/>
            </a:solidFill>
            <a:prstDash val="solid"/>
          </a:ln>
        </p:spPr>
      </p:sp>
      <p:sp>
        <p:nvSpPr>
          <p:cNvPr id="26" name="Text 24"/>
          <p:cNvSpPr/>
          <p:nvPr/>
        </p:nvSpPr>
        <p:spPr>
          <a:xfrm>
            <a:off x="7287768" y="202539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14.332 [12.591, 18.152] / 8.71%</a:t>
            </a:r>
            <a:endParaRPr lang="en-US" sz="1120" dirty="0"/>
          </a:p>
        </p:txBody>
      </p:sp>
      <p:sp>
        <p:nvSpPr>
          <p:cNvPr id="27" name="Shape 25"/>
          <p:cNvSpPr/>
          <p:nvPr/>
        </p:nvSpPr>
        <p:spPr>
          <a:xfrm>
            <a:off x="457200" y="2304288"/>
            <a:ext cx="2514600" cy="365760"/>
          </a:xfrm>
          <a:prstGeom prst="rect">
            <a:avLst/>
          </a:prstGeom>
          <a:solidFill>
            <a:srgbClr val="FFFFFF"/>
          </a:solidFill>
          <a:ln w="5715">
            <a:solidFill>
              <a:srgbClr val="F7F8FA"/>
            </a:solidFill>
            <a:prstDash val="solid"/>
          </a:ln>
        </p:spPr>
      </p:sp>
      <p:sp>
        <p:nvSpPr>
          <p:cNvPr id="28" name="Text 26"/>
          <p:cNvSpPr/>
          <p:nvPr/>
        </p:nvSpPr>
        <p:spPr>
          <a:xfrm>
            <a:off x="521208" y="239115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Trial graph.error</a:t>
            </a:r>
            <a:endParaRPr lang="en-US" sz="1120" dirty="0"/>
          </a:p>
        </p:txBody>
      </p:sp>
      <p:sp>
        <p:nvSpPr>
          <p:cNvPr id="29" name="Shape 27"/>
          <p:cNvSpPr/>
          <p:nvPr/>
        </p:nvSpPr>
        <p:spPr>
          <a:xfrm>
            <a:off x="2971800" y="2304288"/>
            <a:ext cx="4251960" cy="365760"/>
          </a:xfrm>
          <a:prstGeom prst="rect">
            <a:avLst/>
          </a:prstGeom>
          <a:solidFill>
            <a:srgbClr val="FFFFFF"/>
          </a:solidFill>
          <a:ln w="5715">
            <a:solidFill>
              <a:srgbClr val="F7F8FA"/>
            </a:solidFill>
            <a:prstDash val="solid"/>
          </a:ln>
        </p:spPr>
      </p:sp>
      <p:sp>
        <p:nvSpPr>
          <p:cNvPr id="30" name="Text 28"/>
          <p:cNvSpPr/>
          <p:nvPr/>
        </p:nvSpPr>
        <p:spPr>
          <a:xfrm>
            <a:off x="3035808" y="239115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11.644 [8.518, 16.235] / 20.00%</a:t>
            </a:r>
            <a:endParaRPr lang="en-US" sz="1120" dirty="0"/>
          </a:p>
        </p:txBody>
      </p:sp>
      <p:sp>
        <p:nvSpPr>
          <p:cNvPr id="31" name="Shape 29"/>
          <p:cNvSpPr/>
          <p:nvPr/>
        </p:nvSpPr>
        <p:spPr>
          <a:xfrm>
            <a:off x="7223760" y="2304288"/>
            <a:ext cx="4434840" cy="365760"/>
          </a:xfrm>
          <a:prstGeom prst="rect">
            <a:avLst/>
          </a:prstGeom>
          <a:solidFill>
            <a:srgbClr val="FFFFFF"/>
          </a:solidFill>
          <a:ln w="5715">
            <a:solidFill>
              <a:srgbClr val="F7F8FA"/>
            </a:solidFill>
            <a:prstDash val="solid"/>
          </a:ln>
        </p:spPr>
      </p:sp>
      <p:sp>
        <p:nvSpPr>
          <p:cNvPr id="32" name="Text 30"/>
          <p:cNvSpPr/>
          <p:nvPr/>
        </p:nvSpPr>
        <p:spPr>
          <a:xfrm>
            <a:off x="7287768" y="239115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11.440 [8.518, 14.845] / 19.26%</a:t>
            </a:r>
            <a:endParaRPr lang="en-US" sz="1120" dirty="0"/>
          </a:p>
        </p:txBody>
      </p:sp>
      <p:sp>
        <p:nvSpPr>
          <p:cNvPr id="33" name="Shape 31"/>
          <p:cNvSpPr/>
          <p:nvPr/>
        </p:nvSpPr>
        <p:spPr>
          <a:xfrm>
            <a:off x="457200" y="2670048"/>
            <a:ext cx="2514600" cy="365760"/>
          </a:xfrm>
          <a:prstGeom prst="rect">
            <a:avLst/>
          </a:prstGeom>
          <a:solidFill>
            <a:srgbClr val="F0F4F7"/>
          </a:solidFill>
          <a:ln w="5715">
            <a:solidFill>
              <a:srgbClr val="F7F8FA"/>
            </a:solidFill>
            <a:prstDash val="solid"/>
          </a:ln>
        </p:spPr>
      </p:sp>
      <p:sp>
        <p:nvSpPr>
          <p:cNvPr id="34" name="Text 32"/>
          <p:cNvSpPr/>
          <p:nvPr/>
        </p:nvSpPr>
        <p:spPr>
          <a:xfrm>
            <a:off x="521208" y="275691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projection</a:t>
            </a:r>
            <a:endParaRPr lang="en-US" sz="1120" dirty="0"/>
          </a:p>
        </p:txBody>
      </p:sp>
      <p:sp>
        <p:nvSpPr>
          <p:cNvPr id="35" name="Shape 33"/>
          <p:cNvSpPr/>
          <p:nvPr/>
        </p:nvSpPr>
        <p:spPr>
          <a:xfrm>
            <a:off x="2971800" y="2670048"/>
            <a:ext cx="4251960" cy="365760"/>
          </a:xfrm>
          <a:prstGeom prst="rect">
            <a:avLst/>
          </a:prstGeom>
          <a:solidFill>
            <a:srgbClr val="F0F4F7"/>
          </a:solidFill>
          <a:ln w="5715">
            <a:solidFill>
              <a:srgbClr val="F7F8FA"/>
            </a:solidFill>
            <a:prstDash val="solid"/>
          </a:ln>
        </p:spPr>
      </p:sp>
      <p:sp>
        <p:nvSpPr>
          <p:cNvPr id="36" name="Text 34"/>
          <p:cNvSpPr/>
          <p:nvPr/>
        </p:nvSpPr>
        <p:spPr>
          <a:xfrm>
            <a:off x="3035808" y="275691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0.79%</a:t>
            </a:r>
            <a:endParaRPr lang="en-US" sz="1120" dirty="0"/>
          </a:p>
        </p:txBody>
      </p:sp>
      <p:sp>
        <p:nvSpPr>
          <p:cNvPr id="37" name="Shape 35"/>
          <p:cNvSpPr/>
          <p:nvPr/>
        </p:nvSpPr>
        <p:spPr>
          <a:xfrm>
            <a:off x="7223760" y="2670048"/>
            <a:ext cx="4434840" cy="365760"/>
          </a:xfrm>
          <a:prstGeom prst="rect">
            <a:avLst/>
          </a:prstGeom>
          <a:solidFill>
            <a:srgbClr val="F0F4F7"/>
          </a:solidFill>
          <a:ln w="5715">
            <a:solidFill>
              <a:srgbClr val="F7F8FA"/>
            </a:solidFill>
            <a:prstDash val="solid"/>
          </a:ln>
        </p:spPr>
      </p:sp>
      <p:sp>
        <p:nvSpPr>
          <p:cNvPr id="38" name="Text 36"/>
          <p:cNvSpPr/>
          <p:nvPr/>
        </p:nvSpPr>
        <p:spPr>
          <a:xfrm>
            <a:off x="7287768" y="275691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0.82%</a:t>
            </a:r>
            <a:endParaRPr lang="en-US" sz="1120" dirty="0"/>
          </a:p>
        </p:txBody>
      </p:sp>
      <p:sp>
        <p:nvSpPr>
          <p:cNvPr id="39" name="Shape 37"/>
          <p:cNvSpPr/>
          <p:nvPr/>
        </p:nvSpPr>
        <p:spPr>
          <a:xfrm>
            <a:off x="457200" y="3035808"/>
            <a:ext cx="2514600" cy="365760"/>
          </a:xfrm>
          <a:prstGeom prst="rect">
            <a:avLst/>
          </a:prstGeom>
          <a:solidFill>
            <a:srgbClr val="FFFFFF"/>
          </a:solidFill>
          <a:ln w="5715">
            <a:solidFill>
              <a:srgbClr val="F7F8FA"/>
            </a:solidFill>
            <a:prstDash val="solid"/>
          </a:ln>
        </p:spPr>
      </p:sp>
      <p:sp>
        <p:nvSpPr>
          <p:cNvPr id="40" name="Text 38"/>
          <p:cNvSpPr/>
          <p:nvPr/>
        </p:nvSpPr>
        <p:spPr>
          <a:xfrm>
            <a:off x="521208" y="31226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Hessian diagonal</a:t>
            </a:r>
            <a:endParaRPr lang="en-US" sz="1120" dirty="0"/>
          </a:p>
        </p:txBody>
      </p:sp>
      <p:sp>
        <p:nvSpPr>
          <p:cNvPr id="41" name="Shape 39"/>
          <p:cNvSpPr/>
          <p:nvPr/>
        </p:nvSpPr>
        <p:spPr>
          <a:xfrm>
            <a:off x="2971800" y="3035808"/>
            <a:ext cx="4251960" cy="365760"/>
          </a:xfrm>
          <a:prstGeom prst="rect">
            <a:avLst/>
          </a:prstGeom>
          <a:solidFill>
            <a:srgbClr val="FFFFFF"/>
          </a:solidFill>
          <a:ln w="5715">
            <a:solidFill>
              <a:srgbClr val="F7F8FA"/>
            </a:solidFill>
            <a:prstDash val="solid"/>
          </a:ln>
        </p:spPr>
      </p:sp>
      <p:sp>
        <p:nvSpPr>
          <p:cNvPr id="42" name="Text 40"/>
          <p:cNvSpPr/>
          <p:nvPr/>
        </p:nvSpPr>
        <p:spPr>
          <a:xfrm>
            <a:off x="3035808" y="312267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0.39%</a:t>
            </a:r>
            <a:endParaRPr lang="en-US" sz="1120" dirty="0"/>
          </a:p>
        </p:txBody>
      </p:sp>
      <p:sp>
        <p:nvSpPr>
          <p:cNvPr id="43" name="Shape 41"/>
          <p:cNvSpPr/>
          <p:nvPr/>
        </p:nvSpPr>
        <p:spPr>
          <a:xfrm>
            <a:off x="7223760" y="3035808"/>
            <a:ext cx="4434840" cy="365760"/>
          </a:xfrm>
          <a:prstGeom prst="rect">
            <a:avLst/>
          </a:prstGeom>
          <a:solidFill>
            <a:srgbClr val="FFFFFF"/>
          </a:solidFill>
          <a:ln w="5715">
            <a:solidFill>
              <a:srgbClr val="F7F8FA"/>
            </a:solidFill>
            <a:prstDash val="solid"/>
          </a:ln>
        </p:spPr>
      </p:sp>
      <p:sp>
        <p:nvSpPr>
          <p:cNvPr id="44" name="Text 42"/>
          <p:cNvSpPr/>
          <p:nvPr/>
        </p:nvSpPr>
        <p:spPr>
          <a:xfrm>
            <a:off x="7287768" y="312267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0.41%</a:t>
            </a:r>
            <a:endParaRPr lang="en-US" sz="1120" dirty="0"/>
          </a:p>
        </p:txBody>
      </p:sp>
      <p:sp>
        <p:nvSpPr>
          <p:cNvPr id="45" name="Shape 43"/>
          <p:cNvSpPr/>
          <p:nvPr/>
        </p:nvSpPr>
        <p:spPr>
          <a:xfrm>
            <a:off x="457200" y="3401568"/>
            <a:ext cx="2514600" cy="365760"/>
          </a:xfrm>
          <a:prstGeom prst="rect">
            <a:avLst/>
          </a:prstGeom>
          <a:solidFill>
            <a:srgbClr val="F0F4F7"/>
          </a:solidFill>
          <a:ln w="5715">
            <a:solidFill>
              <a:srgbClr val="F7F8FA"/>
            </a:solidFill>
            <a:prstDash val="solid"/>
          </a:ln>
        </p:spPr>
      </p:sp>
      <p:sp>
        <p:nvSpPr>
          <p:cNvPr id="46" name="Text 44"/>
          <p:cNvSpPr/>
          <p:nvPr/>
        </p:nvSpPr>
        <p:spPr>
          <a:xfrm>
            <a:off x="521208" y="34884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dense Schur combined</a:t>
            </a:r>
            <a:endParaRPr lang="en-US" sz="1120" dirty="0"/>
          </a:p>
        </p:txBody>
      </p:sp>
      <p:sp>
        <p:nvSpPr>
          <p:cNvPr id="47" name="Shape 45"/>
          <p:cNvSpPr/>
          <p:nvPr/>
        </p:nvSpPr>
        <p:spPr>
          <a:xfrm>
            <a:off x="2971800" y="3401568"/>
            <a:ext cx="4251960" cy="365760"/>
          </a:xfrm>
          <a:prstGeom prst="rect">
            <a:avLst/>
          </a:prstGeom>
          <a:solidFill>
            <a:srgbClr val="F0F4F7"/>
          </a:solidFill>
          <a:ln w="5715">
            <a:solidFill>
              <a:srgbClr val="F7F8FA"/>
            </a:solidFill>
            <a:prstDash val="solid"/>
          </a:ln>
        </p:spPr>
      </p:sp>
      <p:sp>
        <p:nvSpPr>
          <p:cNvPr id="48" name="Text 46"/>
          <p:cNvSpPr/>
          <p:nvPr/>
        </p:nvSpPr>
        <p:spPr>
          <a:xfrm>
            <a:off x="3035808" y="34884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7.513 [7.468, 7.576] / 0.42%</a:t>
            </a:r>
            <a:endParaRPr lang="en-US" sz="1120" dirty="0"/>
          </a:p>
        </p:txBody>
      </p:sp>
      <p:sp>
        <p:nvSpPr>
          <p:cNvPr id="49" name="Shape 47"/>
          <p:cNvSpPr/>
          <p:nvPr/>
        </p:nvSpPr>
        <p:spPr>
          <a:xfrm>
            <a:off x="7223760" y="3401568"/>
            <a:ext cx="4434840" cy="365760"/>
          </a:xfrm>
          <a:prstGeom prst="rect">
            <a:avLst/>
          </a:prstGeom>
          <a:solidFill>
            <a:srgbClr val="F0F4F7"/>
          </a:solidFill>
          <a:ln w="5715">
            <a:solidFill>
              <a:srgbClr val="F7F8FA"/>
            </a:solidFill>
            <a:prstDash val="solid"/>
          </a:ln>
        </p:spPr>
      </p:sp>
      <p:sp>
        <p:nvSpPr>
          <p:cNvPr id="50" name="Text 48"/>
          <p:cNvSpPr/>
          <p:nvPr/>
        </p:nvSpPr>
        <p:spPr>
          <a:xfrm>
            <a:off x="7287768" y="34884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7.516 [7.468, 7.576] / 0.43%</a:t>
            </a:r>
            <a:endParaRPr lang="en-US" sz="1120" dirty="0"/>
          </a:p>
        </p:txBody>
      </p:sp>
      <p:sp>
        <p:nvSpPr>
          <p:cNvPr id="51" name="Shape 49"/>
          <p:cNvSpPr/>
          <p:nvPr/>
        </p:nvSpPr>
        <p:spPr>
          <a:xfrm>
            <a:off x="457200" y="4078224"/>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078224"/>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690872"/>
            <a:ext cx="4800600" cy="384048"/>
          </a:xfrm>
          <a:prstGeom prst="rect">
            <a:avLst/>
          </a:prstGeom>
          <a:noFill/>
          <a:ln/>
        </p:spPr>
        <p:txBody>
          <a:bodyPr wrap="square" lIns="0" tIns="0" rIns="0" bIns="0" rtlCol="0" anchor="ctr">
            <a:normAutofit/>
          </a:bodyPr>
          <a:lstStyle/>
          <a:p>
            <a:pPr algn="ctr" indent="0" marL="0">
              <a:buNone/>
            </a:pPr>
            <a:r>
              <a:rPr lang="en-US" sz="1250" dirty="0">
                <a:solidFill>
                  <a:srgbClr val="18212F"/>
                </a:solidFill>
              </a:rPr>
              <a:t>Index-aligned CPU subtotal: repeat 0 mean 80.752 ms, repeat 1 mean 56.881 ms, repeat 2 mean 57.024 ms. Repeat 0 is materially slower.</a:t>
            </a:r>
            <a:endParaRPr lang="en-US" sz="1250" dirty="0"/>
          </a:p>
        </p:txBody>
      </p:sp>
      <p:sp>
        <p:nvSpPr>
          <p:cNvPr id="55" name="Shape 53"/>
          <p:cNvSpPr/>
          <p:nvPr/>
        </p:nvSpPr>
        <p:spPr>
          <a:xfrm>
            <a:off x="6080760" y="4078224"/>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078224"/>
            <a:ext cx="64008" cy="1417320"/>
          </a:xfrm>
          <a:prstGeom prst="rect">
            <a:avLst/>
          </a:prstGeom>
          <a:solidFill>
            <a:srgbClr val="0E7C86"/>
          </a:solidFill>
          <a:ln w="12700">
            <a:solidFill>
              <a:srgbClr val="0E7C86"/>
            </a:solidFill>
            <a:prstDash val="solid"/>
          </a:ln>
        </p:spPr>
      </p:sp>
      <p:sp>
        <p:nvSpPr>
          <p:cNvPr id="57" name="Text 55"/>
          <p:cNvSpPr/>
          <p:nvPr/>
        </p:nvSpPr>
        <p:spPr>
          <a:xfrm>
            <a:off x="6355080" y="4334256"/>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Transfer formula + provenance</a:t>
            </a:r>
            <a:endParaRPr lang="en-US" sz="1500" dirty="0"/>
          </a:p>
        </p:txBody>
      </p:sp>
      <p:sp>
        <p:nvSpPr>
          <p:cNvPr id="58" name="Text 56"/>
          <p:cNvSpPr/>
          <p:nvPr/>
        </p:nvSpPr>
        <p:spPr>
          <a:xfrm>
            <a:off x="6355080" y="4617720"/>
            <a:ext cx="5102352" cy="621792"/>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a:t>
            </a:r>
            <a:endParaRPr lang="en-US" sz="1120" dirty="0"/>
          </a:p>
          <a:p>
            <a:pPr algn="ctr" indent="0" marL="0">
              <a:buNone/>
            </a:pPr>
            <a:r>
              <a:rPr lang="en-US" sz="1120" dirty="0">
                <a:solidFill>
                  <a:srgbClr val="18212F"/>
                </a:solidFill>
              </a:rPr>
              <a:t>Dataset: dubrovnik-135-90642-pre.txt; AMD EPYC Milan; NVIDIA A100 80 GB PCIe. CUDA, driver, and TBB thread configuration not recorded.</a:t>
            </a:r>
            <a:endParaRPr lang="en-US" sz="1120" dirty="0"/>
          </a:p>
        </p:txBody>
      </p:sp>
      <p:sp>
        <p:nvSpPr>
          <p:cNvPr id="59" name="Shape 57"/>
          <p:cNvSpPr/>
          <p:nvPr/>
        </p:nvSpPr>
        <p:spPr>
          <a:xfrm>
            <a:off x="457200" y="5696712"/>
            <a:ext cx="11155680" cy="621792"/>
          </a:xfrm>
          <a:prstGeom prst="rect">
            <a:avLst/>
          </a:prstGeom>
          <a:solidFill>
            <a:srgbClr val="FBEDEB"/>
          </a:solidFill>
          <a:ln w="9525">
            <a:solidFill>
              <a:srgbClr val="E7EBF0"/>
            </a:solidFill>
            <a:prstDash val="solid"/>
          </a:ln>
        </p:spPr>
      </p:sp>
      <p:sp>
        <p:nvSpPr>
          <p:cNvPr id="60" name="Shape 58"/>
          <p:cNvSpPr/>
          <p:nvPr/>
        </p:nvSpPr>
        <p:spPr>
          <a:xfrm>
            <a:off x="457200" y="5696712"/>
            <a:ext cx="64008" cy="621792"/>
          </a:xfrm>
          <a:prstGeom prst="rect">
            <a:avLst/>
          </a:prstGeom>
          <a:solidFill>
            <a:srgbClr val="D95D54"/>
          </a:solidFill>
          <a:ln w="12700">
            <a:solidFill>
              <a:srgbClr val="D95D54"/>
            </a:solidFill>
            <a:prstDash val="solid"/>
          </a:ln>
        </p:spPr>
      </p:sp>
      <p:sp>
        <p:nvSpPr>
          <p:cNvPr id="61" name="Text 59"/>
          <p:cNvSpPr/>
          <p:nvPr/>
        </p:nvSpPr>
        <p:spPr>
          <a:xfrm>
            <a:off x="694944" y="5888736"/>
            <a:ext cx="10680192" cy="256032"/>
          </a:xfrm>
          <a:prstGeom prst="rect">
            <a:avLst/>
          </a:prstGeom>
          <a:noFill/>
          <a:ln/>
        </p:spPr>
        <p:txBody>
          <a:bodyPr wrap="square" lIns="0" tIns="0" rIns="0" bIns="0" rtlCol="0" anchor="ctr">
            <a:normAutofit/>
          </a:bodyPr>
          <a:lstStyle/>
          <a:p>
            <a:pPr algn="ctr" indent="0" marL="0">
              <a:buNone/>
            </a:pPr>
            <a:r>
              <a:rPr lang="en-US" sz="1220" b="1" dirty="0">
                <a:solidFill>
                  <a:srgbClr val="D95D54"/>
                </a:solidFill>
              </a:rPr>
              <a:t>Scope caveat: independent CPU/GPU loops; synthetic arithmetic excludes sparse packing/layout, repeated upload, delta download/mapping, and LM convergence. Lower bounds: all samples 64.803 ms; repeat-0-excluded 62.139 ms; with estimated transfer 73.422 ms.</a:t>
            </a:r>
            <a:endParaRPr lang="en-US" sz="12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2026-07-10T12:59:21Z</dcterms:created>
  <dcterms:modified xsi:type="dcterms:W3CDTF">2026-07-10T12:59:21Z</dcterms:modified>
</cp:coreProperties>
</file>